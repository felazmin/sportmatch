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12192000" cy="6858000"/>
  <p:notesSz cx="6858000" cy="9144000"/>
  <p:defaultTextStyle>
    <a:lvl1pPr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Đề tài: Phát triển siêu ứng dụng đặt sân. Nhóm 7. Giảng viên Đỗ Gia Bảo.</a:t>
            </a:r>
          </a:p>
          <a:p>
            <a:r>
              <a:t>Nguồn nội bộ: D:/PTUDDD/test_do_an/SportMatch_BaoCaoLan1/report_lan_1.</a:t>
            </a:r>
          </a:p>
          <a:p>
            <a:r>
              <a:t>Tham chiếu UC00, UC01. Sơ đồ rút gọn để trình bày. Bản chi tiết giữ trong Word và draw.io.</a:t>
            </a:r>
          </a:p>
          <a:p>
            <a:r>
              <a:t>Hiện trạng: nguyên mẫu Flutter lưu cục bộ, chưa kết nối backend hoặc ngân hàng thật.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Đề tài: Phát triển siêu ứng dụng đặt sân. Nhóm 7. Giảng viên Đỗ Gia Bảo.</a:t>
            </a:r>
          </a:p>
          <a:p>
            <a:r>
              <a:t>Nguồn nội bộ: D:/PTUDDD/test_do_an/SportMatch_BaoCaoLan1/report_lan_1.</a:t>
            </a:r>
          </a:p>
          <a:p>
            <a:r>
              <a:t>Tham chiếu UC02, UC03, UC04. Sơ đồ rút gọn để trình bày. Bản chi tiết giữ trong Word và draw.io.</a:t>
            </a:r>
          </a:p>
          <a:p>
            <a:r>
              <a:t>Hiện trạng: nguyên mẫu Flutter lưu cục bộ, chưa kết nối backend hoặc ngân hàng thật.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Đề tài: Phát triển siêu ứng dụng đặt sân. Nhóm 7. Giảng viên Đỗ Gia Bảo.</a:t>
            </a:r>
          </a:p>
          <a:p>
            <a:r>
              <a:t>Nguồn nội bộ: D:/PTUDDD/test_do_an/SportMatch_BaoCaoLan1/report_lan_1.</a:t>
            </a:r>
          </a:p>
          <a:p>
            <a:r>
              <a:t>Tham chiếu SQ01. Sơ đồ rút gọn để trình bày. Bản chi tiết giữ trong Word và draw.io.</a:t>
            </a:r>
          </a:p>
          <a:p>
            <a:r>
              <a:t>Hiện trạng: nguyên mẫu Flutter lưu cục bộ, chưa kết nối backend hoặc ngân hàng thật.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Đề tài: Phát triển siêu ứng dụng đặt sân. Nhóm 7. Giảng viên Đỗ Gia Bảo.</a:t>
            </a:r>
          </a:p>
          <a:p>
            <a:r>
              <a:t>Nguồn nội bộ: D:/PTUDDD/test_do_an/SportMatch_BaoCaoLan1/report_lan_1.</a:t>
            </a:r>
          </a:p>
          <a:p>
            <a:r>
              <a:t>Tham chiếu SQ03. Sơ đồ rút gọn để trình bày. Bản chi tiết giữ trong Word và draw.io.</a:t>
            </a:r>
          </a:p>
          <a:p>
            <a:r>
              <a:t>Hiện trạng: nguyên mẫu Flutter lưu cục bộ, chưa kết nối backend hoặc ngân hàng thật.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Đề tài: Phát triển siêu ứng dụng đặt sân. Nhóm 7. Giảng viên Đỗ Gia Bảo.</a:t>
            </a:r>
          </a:p>
          <a:p>
            <a:r>
              <a:t>Nguồn nội bộ: D:/PTUDDD/test_do_an/SportMatch_BaoCaoLan1/report_lan_1.</a:t>
            </a:r>
          </a:p>
          <a:p>
            <a:r>
              <a:t>Tham chiếu SQ04. Sơ đồ rút gọn để trình bày. Bản chi tiết giữ trong Word và draw.io.</a:t>
            </a:r>
          </a:p>
          <a:p>
            <a:r>
              <a:t>Hiện trạng: nguyên mẫu Flutter lưu cục bộ, chưa kết nối backend hoặc ngân hàng thật.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Đề tài: Phát triển siêu ứng dụng đặt sân. Nhóm 7. Giảng viên Đỗ Gia Bảo.</a:t>
            </a:r>
          </a:p>
          <a:p>
            <a:r>
              <a:t>Nguồn nội bộ: D:/PTUDDD/test_do_an/SportMatch_BaoCaoLan1/report_lan_1.</a:t>
            </a:r>
          </a:p>
          <a:p>
            <a:r>
              <a:t>Tham chiếu ER03, schema.sql. Sơ đồ rút gọn để trình bày. Bản chi tiết giữ trong Word và draw.io.</a:t>
            </a:r>
          </a:p>
          <a:p>
            <a:r>
              <a:t>Hiện trạng: nguyên mẫu Flutter lưu cục bộ, chưa kết nối backend hoặc ngân hàng thật.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Đề tài: Phát triển siêu ứng dụng đặt sân. Nhóm 7. Giảng viên Đỗ Gia Bảo.</a:t>
            </a:r>
          </a:p>
          <a:p>
            <a:r>
              <a:t>Nguồn nội bộ: D:/PTUDDD/test_do_an/SportMatch_BaoCaoLan1/report_lan_1.</a:t>
            </a:r>
          </a:p>
          <a:p>
            <a:r>
              <a:t>Tham chiếu ER04, schema.sql. Sơ đồ rút gọn để trình bày. Bản chi tiết giữ trong Word và draw.io.</a:t>
            </a:r>
          </a:p>
          <a:p>
            <a:r>
              <a:t>Hiện trạng: nguyên mẫu Flutter lưu cục bộ, chưa kết nối backend hoặc ngân hàng thật.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Đề tài: Phát triển siêu ứng dụng đặt sân. Nhóm 7. Giảng viên Đỗ Gia Bảo.</a:t>
            </a:r>
          </a:p>
          <a:p>
            <a:r>
              <a:t>Nguồn nội bộ: D:/PTUDDD/test_do_an/SportMatch_BaoCaoLan1/report_lan_1.</a:t>
            </a:r>
          </a:p>
          <a:p>
            <a:r>
              <a:t>Tham chiếu CL01, CL02. Sơ đồ rút gọn để trình bày. Bản chi tiết giữ trong Word và draw.io.</a:t>
            </a:r>
          </a:p>
          <a:p>
            <a:r>
              <a:t>Hiện trạng: nguyên mẫu Flutter lưu cục bộ, chưa kết nối backend hoặc ngân hàng thật.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Đề tài: Phát triển siêu ứng dụng đặt sân. Nhóm 7. Giảng viên Đỗ Gia Bảo.</a:t>
            </a:r>
          </a:p>
          <a:p>
            <a:r>
              <a:t>Nguồn nội bộ: D:/PTUDDD/test_do_an/SportMatch_BaoCaoLan1/report_lan_1.</a:t>
            </a:r>
          </a:p>
          <a:p>
            <a:r>
              <a:t>Tham chiếu DP01. Sơ đồ rút gọn để trình bày. Bản chi tiết giữ trong Word và draw.io.</a:t>
            </a:r>
          </a:p>
          <a:p>
            <a:r>
              <a:t>Hiện trạng: nguyên mẫu Flutter lưu cục bộ, chưa kết nối backend hoặc ngân hàng thật.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Đề tài: Phát triển siêu ứng dụng đặt sân. Nhóm 7. Giảng viên Đỗ Gia Bảo.</a:t>
            </a:r>
          </a:p>
          <a:p>
            <a:r>
              <a:t>Nguồn nội bộ: D:/PTUDDD/test_do_an/SportMatch_BaoCaoLan1/report_lan_1.</a:t>
            </a:r>
          </a:p>
          <a:p>
            <a:r>
              <a:t>Tham chiếu DP02. Sơ đồ rút gọn để trình bày. Bản chi tiết giữ trong Word và draw.io.</a:t>
            </a:r>
          </a:p>
          <a:p>
            <a:r>
              <a:t>Hiện trạng: nguyên mẫu Flutter lưu cục bộ, chưa kết nối backend hoặc ngân hàng thật.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Đề tài: Phát triển siêu ứng dụng đặt sân. Nhóm 7. Giảng viên Đỗ Gia Bảo.</a:t>
            </a:r>
          </a:p>
          <a:p>
            <a:r>
              <a:t>Nguồn nội bộ: D:/PTUDDD/test_do_an/SportMatch_BaoCaoLan1/report_lan_1.</a:t>
            </a:r>
          </a:p>
          <a:p>
            <a:r>
              <a:t>Tham chiếu UX01, FR31, FR32, customer_social_screen.dart. Sơ đồ rút gọn để trình bày. Bản chi tiết giữ trong Word và draw.io.</a:t>
            </a:r>
          </a:p>
          <a:p>
            <a:r>
              <a:t>Hiện trạng: nguyên mẫu Flutter lưu cục bộ, chưa kết nối backend hoặc ngân hàng thật.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2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B1F8B6D-EA28-41CB-8C7D-E2B8982A7FC7}"/>
              </a:ext>
            </a:extLst>
          </p:cNvPr>
          <p:cNvSpPr>
            <a:spLocks noGrp="1"/>
          </p:cNvSpPr>
          <p:nvPr/>
        </p:nvSpPr>
        <p:spPr>
          <a:xfrm>
            <a:off x="731520" y="73152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600" i="1">
                <a:solidFill>
                  <a:srgbClr val="F2B632"/>
                </a:solidFill>
                <a:latin typeface="Arial"/>
                <a:ea typeface="Arial"/>
                <a:cs typeface="Arial"/>
              </a:rPr>
              <a:t>NHÓM 7</a:t>
            </a:r>
            <a:endParaRPr sz="16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7C93DAD-D5F8-4D83-95A3-DB311504277B}"/>
              </a:ext>
            </a:extLst>
          </p:cNvPr>
          <p:cNvSpPr>
            <a:spLocks noGrp="1"/>
          </p:cNvSpPr>
          <p:nvPr/>
        </p:nvSpPr>
        <p:spPr>
          <a:xfrm>
            <a:off x="731520" y="1371600"/>
            <a:ext cx="6400800" cy="3017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5400" b="1" dirty="0">
                <a:solidFill>
                  <a:srgbClr val="F2B632"/>
                </a:solidFill>
                <a:latin typeface="Arial"/>
                <a:ea typeface="Arial"/>
                <a:cs typeface="Arial"/>
              </a:rPr>
              <a:t>PHÁT TRIỂN</a:t>
            </a:r>
            <a:endParaRPr lang="en-US" sz="5400" dirty="0"/>
          </a:p>
          <a:p>
            <a:pPr marL="0" indent="0">
              <a:buNone/>
            </a:pPr>
            <a:r>
              <a:rPr lang="en-US" sz="5400" b="1">
                <a:solidFill>
                  <a:srgbClr val="F2B632"/>
                </a:solidFill>
                <a:latin typeface="Arial"/>
                <a:ea typeface="Arial"/>
                <a:cs typeface="Arial"/>
              </a:rPr>
              <a:t>ỨNG </a:t>
            </a:r>
            <a:r>
              <a:rPr lang="en-US" sz="5400" b="1" dirty="0">
                <a:solidFill>
                  <a:srgbClr val="F2B632"/>
                </a:solidFill>
                <a:latin typeface="Arial"/>
                <a:ea typeface="Arial"/>
                <a:cs typeface="Arial"/>
              </a:rPr>
              <a:t>DỤNG</a:t>
            </a:r>
          </a:p>
          <a:p>
            <a:pPr marL="0" indent="0">
              <a:buNone/>
            </a:pPr>
            <a:r>
              <a:rPr sz="5400" b="1" dirty="0">
                <a:solidFill>
                  <a:srgbClr val="F2B632"/>
                </a:solidFill>
                <a:latin typeface="Arial"/>
                <a:ea typeface="Arial"/>
                <a:cs typeface="Arial"/>
              </a:rPr>
              <a:t>ĐẶT SÂN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FFA5C9D-48F3-480B-B778-AB55435D276F}"/>
              </a:ext>
            </a:extLst>
          </p:cNvPr>
          <p:cNvSpPr>
            <a:spLocks noGrp="1"/>
          </p:cNvSpPr>
          <p:nvPr/>
        </p:nvSpPr>
        <p:spPr>
          <a:xfrm>
            <a:off x="731520" y="4846320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800">
                <a:solidFill>
                  <a:srgbClr val="FFFFFF"/>
                </a:solidFill>
                <a:latin typeface="Arial"/>
                <a:ea typeface="Arial"/>
                <a:cs typeface="Arial"/>
              </a:rPr>
              <a:t>Học phần: Phát triển ứng dụng di động</a:t>
            </a:r>
            <a:endParaRPr sz="18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E6CDEB7-A2D9-409E-A88A-4653BFE27CF2}"/>
              </a:ext>
            </a:extLst>
          </p:cNvPr>
          <p:cNvSpPr>
            <a:spLocks noGrp="1"/>
          </p:cNvSpPr>
          <p:nvPr/>
        </p:nvSpPr>
        <p:spPr>
          <a:xfrm>
            <a:off x="731520" y="5257800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600" i="1">
                <a:solidFill>
                  <a:srgbClr val="D9D9D9"/>
                </a:solidFill>
                <a:latin typeface="Arial"/>
                <a:ea typeface="Arial"/>
                <a:cs typeface="Arial"/>
              </a:rPr>
              <a:t>Giảng viên: Đỗ Gia Bảo</a:t>
            </a:r>
            <a:endParaRPr sz="1600"/>
          </a:p>
          <a:p>
            <a:pPr marL="0" indent="0">
              <a:buNone/>
            </a:pPr>
            <a:r>
              <a:rPr sz="1600" i="1">
                <a:solidFill>
                  <a:srgbClr val="D9D9D9"/>
                </a:solidFill>
                <a:latin typeface="Arial"/>
                <a:ea typeface="Arial"/>
                <a:cs typeface="Arial"/>
              </a:rPr>
              <a:t>Flutter/Dart, nguyên mẫu lưu cục bộ</a:t>
            </a:r>
          </a:p>
        </p:txBody>
      </p:sp>
      <p:sp>
        <p:nvSpPr>
          <p:cNvPr id="6" name="members">
            <a:extLst>
              <a:ext uri="{FF2B5EF4-FFF2-40B4-BE49-F238E27FC236}">
                <a16:creationId xmlns:a16="http://schemas.microsoft.com/office/drawing/2014/main" id="{7F7814EC-DB1A-4CE0-90B4-F1BAF1BD8844}"/>
              </a:ext>
            </a:extLst>
          </p:cNvPr>
          <p:cNvSpPr>
            <a:spLocks noGrp="1"/>
          </p:cNvSpPr>
          <p:nvPr/>
        </p:nvSpPr>
        <p:spPr>
          <a:xfrm>
            <a:off x="7863840" y="1371600"/>
            <a:ext cx="3657600" cy="4206240"/>
          </a:xfrm>
          <a:prstGeom prst="roundRect">
            <a:avLst>
              <a:gd name="adj" fmla="val 3000"/>
            </a:avLst>
          </a:prstGeom>
          <a:solidFill>
            <a:srgbClr val="F2B632"/>
          </a:solidFill>
          <a:ln w="12700">
            <a:solidFill>
              <a:srgbClr val="F2B632"/>
            </a:solidFill>
            <a:prstDash val="solid"/>
          </a:ln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E49A5F7B-F0C2-40D3-AD73-441F5080597B}"/>
              </a:ext>
            </a:extLst>
          </p:cNvPr>
          <p:cNvSpPr>
            <a:spLocks noGrp="1"/>
          </p:cNvSpPr>
          <p:nvPr/>
        </p:nvSpPr>
        <p:spPr>
          <a:xfrm>
            <a:off x="8183880" y="1600200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2000" b="1">
                <a:solidFill>
                  <a:srgbClr val="2B2B2B"/>
                </a:solidFill>
                <a:latin typeface="Arial"/>
                <a:ea typeface="Arial"/>
                <a:cs typeface="Arial"/>
              </a:rPr>
              <a:t>THÀNH VIÊN</a:t>
            </a:r>
            <a:endParaRPr sz="200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A5B4C8C2-E9EF-4DD0-8454-121F61A57D26}"/>
              </a:ext>
            </a:extLst>
          </p:cNvPr>
          <p:cNvSpPr>
            <a:spLocks noGrp="1"/>
          </p:cNvSpPr>
          <p:nvPr/>
        </p:nvSpPr>
        <p:spPr>
          <a:xfrm>
            <a:off x="8183880" y="2286000"/>
            <a:ext cx="3108960" cy="1828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spcAft>
                <a:spcPts val="1400"/>
              </a:spcAft>
              <a:buNone/>
            </a:pPr>
            <a:r>
              <a:rPr sz="2000">
                <a:solidFill>
                  <a:srgbClr val="2B2B2B"/>
                </a:solidFill>
                <a:latin typeface="Arial"/>
                <a:ea typeface="Arial"/>
                <a:cs typeface="Arial"/>
              </a:rPr>
              <a:t>1. Lê Minh Phát</a:t>
            </a:r>
            <a:endParaRPr sz="2000"/>
          </a:p>
          <a:p>
            <a:pPr marL="0" indent="0">
              <a:spcAft>
                <a:spcPts val="1400"/>
              </a:spcAft>
              <a:buNone/>
            </a:pPr>
            <a:r>
              <a:rPr sz="2000">
                <a:solidFill>
                  <a:srgbClr val="2B2B2B"/>
                </a:solidFill>
                <a:latin typeface="Arial"/>
                <a:ea typeface="Arial"/>
                <a:cs typeface="Arial"/>
              </a:rPr>
              <a:t>2. Nguyễn Văn Hùng</a:t>
            </a:r>
            <a:endParaRPr sz="2000"/>
          </a:p>
          <a:p>
            <a:pPr marL="0" indent="0">
              <a:spcAft>
                <a:spcPts val="1400"/>
              </a:spcAft>
              <a:buNone/>
            </a:pPr>
            <a:r>
              <a:rPr sz="2000">
                <a:solidFill>
                  <a:srgbClr val="2B2B2B"/>
                </a:solidFill>
                <a:latin typeface="Arial"/>
                <a:ea typeface="Arial"/>
                <a:cs typeface="Arial"/>
              </a:rPr>
              <a:t>3. Đặng Tấn Đạt</a:t>
            </a:r>
            <a:endParaRPr sz="2000"/>
          </a:p>
        </p:txBody>
      </p:sp>
    </p:spTree>
    <p:extLst>
      <p:ext uri="{BB962C8B-B14F-4D97-AF65-F5344CB8AC3E}">
        <p14:creationId xmlns:p14="http://schemas.microsoft.com/office/powerpoint/2010/main" val="12818387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B6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56B6EFB-3499-487D-86B2-B6944EBF2E9E}"/>
              </a:ext>
            </a:extLst>
          </p:cNvPr>
          <p:cNvSpPr>
            <a:spLocks noGrp="1"/>
          </p:cNvSpPr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400" b="1">
                <a:solidFill>
                  <a:srgbClr val="2B2B2B"/>
                </a:solidFill>
                <a:latin typeface="Arial"/>
                <a:ea typeface="Arial"/>
                <a:cs typeface="Arial"/>
              </a:rPr>
              <a:t>NỘI DUNG TRÌNH BÀY</a:t>
            </a:r>
            <a:endParaRPr sz="3400"/>
          </a:p>
        </p:txBody>
      </p:sp>
      <p:sp>
        <p:nvSpPr>
          <p:cNvPr id="3" name="toc0">
            <a:extLst>
              <a:ext uri="{FF2B5EF4-FFF2-40B4-BE49-F238E27FC236}">
                <a16:creationId xmlns:a16="http://schemas.microsoft.com/office/drawing/2014/main" id="{B83DF185-189A-4E89-9F51-A0B5312382B5}"/>
              </a:ext>
            </a:extLst>
          </p:cNvPr>
          <p:cNvSpPr>
            <a:spLocks noGrp="1"/>
          </p:cNvSpPr>
          <p:nvPr/>
        </p:nvSpPr>
        <p:spPr>
          <a:xfrm>
            <a:off x="548640" y="1371600"/>
            <a:ext cx="11064240" cy="822960"/>
          </a:xfrm>
          <a:prstGeom prst="roundRect">
            <a:avLst>
              <a:gd name="adj" fmla="val 13333"/>
            </a:avLst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4" name="n0">
            <a:extLst>
              <a:ext uri="{FF2B5EF4-FFF2-40B4-BE49-F238E27FC236}">
                <a16:creationId xmlns:a16="http://schemas.microsoft.com/office/drawing/2014/main" id="{B6628AAD-A61B-4515-9A07-7837729D7BE8}"/>
              </a:ext>
            </a:extLst>
          </p:cNvPr>
          <p:cNvSpPr>
            <a:spLocks noGrp="1"/>
          </p:cNvSpPr>
          <p:nvPr/>
        </p:nvSpPr>
        <p:spPr>
          <a:xfrm>
            <a:off x="777240" y="1527048"/>
            <a:ext cx="512064" cy="512064"/>
          </a:xfrm>
          <a:prstGeom prst="ellipse">
            <a:avLst/>
          </a:prstGeom>
          <a:solidFill>
            <a:srgbClr val="F2B632"/>
          </a:solidFill>
          <a:ln w="12700">
            <a:solidFill>
              <a:srgbClr val="F2B632"/>
            </a:solidFill>
            <a:prstDash val="solid"/>
          </a:ln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91092E37-8474-406B-873E-9E4C9B4B93BA}"/>
              </a:ext>
            </a:extLst>
          </p:cNvPr>
          <p:cNvSpPr>
            <a:spLocks noGrp="1"/>
          </p:cNvSpPr>
          <p:nvPr/>
        </p:nvSpPr>
        <p:spPr>
          <a:xfrm>
            <a:off x="777240" y="1527048"/>
            <a:ext cx="512064" cy="51206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800" b="1">
                <a:solidFill>
                  <a:srgbClr val="2B2B2B"/>
                </a:solidFill>
                <a:latin typeface="Arial"/>
                <a:ea typeface="Arial"/>
                <a:cs typeface="Arial"/>
              </a:rPr>
              <a:t>1</a:t>
            </a:r>
            <a:endParaRPr sz="18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BBB7E86E-8B78-45EE-AA09-D7D2E34175D1}"/>
              </a:ext>
            </a:extLst>
          </p:cNvPr>
          <p:cNvSpPr>
            <a:spLocks noGrp="1"/>
          </p:cNvSpPr>
          <p:nvPr/>
        </p:nvSpPr>
        <p:spPr>
          <a:xfrm>
            <a:off x="1600200" y="1371600"/>
            <a:ext cx="9601200" cy="8229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Tổng quan đề tài</a:t>
            </a:r>
            <a:endParaRPr sz="2200"/>
          </a:p>
        </p:txBody>
      </p:sp>
      <p:sp>
        <p:nvSpPr>
          <p:cNvPr id="7" name="toc1">
            <a:extLst>
              <a:ext uri="{FF2B5EF4-FFF2-40B4-BE49-F238E27FC236}">
                <a16:creationId xmlns:a16="http://schemas.microsoft.com/office/drawing/2014/main" id="{4B19363A-FF68-448F-9CA1-65A09D04993C}"/>
              </a:ext>
            </a:extLst>
          </p:cNvPr>
          <p:cNvSpPr>
            <a:spLocks noGrp="1"/>
          </p:cNvSpPr>
          <p:nvPr/>
        </p:nvSpPr>
        <p:spPr>
          <a:xfrm>
            <a:off x="548640" y="2359152"/>
            <a:ext cx="11064240" cy="822960"/>
          </a:xfrm>
          <a:prstGeom prst="roundRect">
            <a:avLst>
              <a:gd name="adj" fmla="val 13333"/>
            </a:avLst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8" name="n1">
            <a:extLst>
              <a:ext uri="{FF2B5EF4-FFF2-40B4-BE49-F238E27FC236}">
                <a16:creationId xmlns:a16="http://schemas.microsoft.com/office/drawing/2014/main" id="{52DA9855-8E08-4A3A-B95E-DFE853526B92}"/>
              </a:ext>
            </a:extLst>
          </p:cNvPr>
          <p:cNvSpPr>
            <a:spLocks noGrp="1"/>
          </p:cNvSpPr>
          <p:nvPr/>
        </p:nvSpPr>
        <p:spPr>
          <a:xfrm>
            <a:off x="777240" y="2514600"/>
            <a:ext cx="512064" cy="512064"/>
          </a:xfrm>
          <a:prstGeom prst="ellipse">
            <a:avLst/>
          </a:prstGeom>
          <a:solidFill>
            <a:srgbClr val="F2B632"/>
          </a:solidFill>
          <a:ln w="12700">
            <a:solidFill>
              <a:srgbClr val="F2B632"/>
            </a:solidFill>
            <a:prstDash val="solid"/>
          </a:ln>
        </p:spPr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3AF9F5FC-A877-4E4F-9C53-60BC1794BEE4}"/>
              </a:ext>
            </a:extLst>
          </p:cNvPr>
          <p:cNvSpPr>
            <a:spLocks noGrp="1"/>
          </p:cNvSpPr>
          <p:nvPr/>
        </p:nvSpPr>
        <p:spPr>
          <a:xfrm>
            <a:off x="777240" y="2514600"/>
            <a:ext cx="512064" cy="51206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800" b="1">
                <a:solidFill>
                  <a:srgbClr val="2B2B2B"/>
                </a:solidFill>
                <a:latin typeface="Arial"/>
                <a:ea typeface="Arial"/>
                <a:cs typeface="Arial"/>
              </a:rPr>
              <a:t>2</a:t>
            </a:r>
            <a:endParaRPr sz="180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E5419276-C0F6-47DC-BD1E-9980D9F7F49A}"/>
              </a:ext>
            </a:extLst>
          </p:cNvPr>
          <p:cNvSpPr>
            <a:spLocks noGrp="1"/>
          </p:cNvSpPr>
          <p:nvPr/>
        </p:nvSpPr>
        <p:spPr>
          <a:xfrm>
            <a:off x="1600200" y="2359152"/>
            <a:ext cx="9601200" cy="8229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Đối tượng và chức năng</a:t>
            </a:r>
            <a:endParaRPr sz="2200"/>
          </a:p>
        </p:txBody>
      </p:sp>
      <p:sp>
        <p:nvSpPr>
          <p:cNvPr id="11" name="toc2">
            <a:extLst>
              <a:ext uri="{FF2B5EF4-FFF2-40B4-BE49-F238E27FC236}">
                <a16:creationId xmlns:a16="http://schemas.microsoft.com/office/drawing/2014/main" id="{721807EB-9BE3-4416-A0C5-65DF9D5B61FF}"/>
              </a:ext>
            </a:extLst>
          </p:cNvPr>
          <p:cNvSpPr>
            <a:spLocks noGrp="1"/>
          </p:cNvSpPr>
          <p:nvPr/>
        </p:nvSpPr>
        <p:spPr>
          <a:xfrm>
            <a:off x="548640" y="3346704"/>
            <a:ext cx="11064240" cy="822960"/>
          </a:xfrm>
          <a:prstGeom prst="roundRect">
            <a:avLst>
              <a:gd name="adj" fmla="val 13333"/>
            </a:avLst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12" name="n2">
            <a:extLst>
              <a:ext uri="{FF2B5EF4-FFF2-40B4-BE49-F238E27FC236}">
                <a16:creationId xmlns:a16="http://schemas.microsoft.com/office/drawing/2014/main" id="{CCCBA1A6-5D47-48AE-981E-DA68D74BA749}"/>
              </a:ext>
            </a:extLst>
          </p:cNvPr>
          <p:cNvSpPr>
            <a:spLocks noGrp="1"/>
          </p:cNvSpPr>
          <p:nvPr/>
        </p:nvSpPr>
        <p:spPr>
          <a:xfrm>
            <a:off x="777240" y="3502152"/>
            <a:ext cx="512064" cy="512064"/>
          </a:xfrm>
          <a:prstGeom prst="ellipse">
            <a:avLst/>
          </a:prstGeom>
          <a:solidFill>
            <a:srgbClr val="F2B632"/>
          </a:solidFill>
          <a:ln w="12700">
            <a:solidFill>
              <a:srgbClr val="F2B632"/>
            </a:solidFill>
            <a:prstDash val="solid"/>
          </a:ln>
        </p:spPr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09ED1E16-4978-40D6-9779-3B892766E478}"/>
              </a:ext>
            </a:extLst>
          </p:cNvPr>
          <p:cNvSpPr>
            <a:spLocks noGrp="1"/>
          </p:cNvSpPr>
          <p:nvPr/>
        </p:nvSpPr>
        <p:spPr>
          <a:xfrm>
            <a:off x="777240" y="3502152"/>
            <a:ext cx="512064" cy="51206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800" b="1">
                <a:solidFill>
                  <a:srgbClr val="2B2B2B"/>
                </a:solidFill>
                <a:latin typeface="Arial"/>
                <a:ea typeface="Arial"/>
                <a:cs typeface="Arial"/>
              </a:rPr>
              <a:t>3</a:t>
            </a:r>
            <a:endParaRPr sz="180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FFE0E425-7A30-49A6-948D-CDC197F015F9}"/>
              </a:ext>
            </a:extLst>
          </p:cNvPr>
          <p:cNvSpPr>
            <a:spLocks noGrp="1"/>
          </p:cNvSpPr>
          <p:nvPr/>
        </p:nvSpPr>
        <p:spPr>
          <a:xfrm>
            <a:off x="1600200" y="3346704"/>
            <a:ext cx="9601200" cy="8229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Luồng nghiệp vụ đặt sân</a:t>
            </a:r>
            <a:endParaRPr sz="2200"/>
          </a:p>
        </p:txBody>
      </p:sp>
      <p:sp>
        <p:nvSpPr>
          <p:cNvPr id="15" name="toc3">
            <a:extLst>
              <a:ext uri="{FF2B5EF4-FFF2-40B4-BE49-F238E27FC236}">
                <a16:creationId xmlns:a16="http://schemas.microsoft.com/office/drawing/2014/main" id="{B45B1B78-B04E-4A90-8CDD-49F948E4C0A7}"/>
              </a:ext>
            </a:extLst>
          </p:cNvPr>
          <p:cNvSpPr>
            <a:spLocks noGrp="1"/>
          </p:cNvSpPr>
          <p:nvPr/>
        </p:nvSpPr>
        <p:spPr>
          <a:xfrm>
            <a:off x="548640" y="4334256"/>
            <a:ext cx="11064240" cy="822960"/>
          </a:xfrm>
          <a:prstGeom prst="roundRect">
            <a:avLst>
              <a:gd name="adj" fmla="val 13333"/>
            </a:avLst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16" name="n3">
            <a:extLst>
              <a:ext uri="{FF2B5EF4-FFF2-40B4-BE49-F238E27FC236}">
                <a16:creationId xmlns:a16="http://schemas.microsoft.com/office/drawing/2014/main" id="{69F9D1E5-660E-48A7-81C8-85EE68D163E6}"/>
              </a:ext>
            </a:extLst>
          </p:cNvPr>
          <p:cNvSpPr>
            <a:spLocks noGrp="1"/>
          </p:cNvSpPr>
          <p:nvPr/>
        </p:nvSpPr>
        <p:spPr>
          <a:xfrm>
            <a:off x="777240" y="4489704"/>
            <a:ext cx="512064" cy="512064"/>
          </a:xfrm>
          <a:prstGeom prst="ellipse">
            <a:avLst/>
          </a:prstGeom>
          <a:solidFill>
            <a:srgbClr val="F2B632"/>
          </a:solidFill>
          <a:ln w="12700">
            <a:solidFill>
              <a:srgbClr val="F2B632"/>
            </a:solidFill>
            <a:prstDash val="solid"/>
          </a:ln>
        </p:spPr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64F3953B-7D91-4173-8636-93E9530F2030}"/>
              </a:ext>
            </a:extLst>
          </p:cNvPr>
          <p:cNvSpPr>
            <a:spLocks noGrp="1"/>
          </p:cNvSpPr>
          <p:nvPr/>
        </p:nvSpPr>
        <p:spPr>
          <a:xfrm>
            <a:off x="777240" y="4489704"/>
            <a:ext cx="512064" cy="51206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800" b="1">
                <a:solidFill>
                  <a:srgbClr val="2B2B2B"/>
                </a:solidFill>
                <a:latin typeface="Arial"/>
                <a:ea typeface="Arial"/>
                <a:cs typeface="Arial"/>
              </a:rPr>
              <a:t>4</a:t>
            </a:r>
            <a:endParaRPr sz="180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933478C9-9D3C-4250-BFA8-6E844AEE1C04}"/>
              </a:ext>
            </a:extLst>
          </p:cNvPr>
          <p:cNvSpPr>
            <a:spLocks noGrp="1"/>
          </p:cNvSpPr>
          <p:nvPr/>
        </p:nvSpPr>
        <p:spPr>
          <a:xfrm>
            <a:off x="1600200" y="4334256"/>
            <a:ext cx="9601200" cy="8229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Kiến trúc, dữ liệu và công nghệ</a:t>
            </a:r>
            <a:endParaRPr sz="2200"/>
          </a:p>
        </p:txBody>
      </p:sp>
      <p:sp>
        <p:nvSpPr>
          <p:cNvPr id="19" name="toc4">
            <a:extLst>
              <a:ext uri="{FF2B5EF4-FFF2-40B4-BE49-F238E27FC236}">
                <a16:creationId xmlns:a16="http://schemas.microsoft.com/office/drawing/2014/main" id="{B9717BF9-1BD1-47CE-A0E9-493D97F304FD}"/>
              </a:ext>
            </a:extLst>
          </p:cNvPr>
          <p:cNvSpPr>
            <a:spLocks noGrp="1"/>
          </p:cNvSpPr>
          <p:nvPr/>
        </p:nvSpPr>
        <p:spPr>
          <a:xfrm>
            <a:off x="548640" y="5321808"/>
            <a:ext cx="11064240" cy="822960"/>
          </a:xfrm>
          <a:prstGeom prst="roundRect">
            <a:avLst>
              <a:gd name="adj" fmla="val 13333"/>
            </a:avLst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20" name="n4">
            <a:extLst>
              <a:ext uri="{FF2B5EF4-FFF2-40B4-BE49-F238E27FC236}">
                <a16:creationId xmlns:a16="http://schemas.microsoft.com/office/drawing/2014/main" id="{69585E49-559F-4E61-8AA4-6440E5083B8C}"/>
              </a:ext>
            </a:extLst>
          </p:cNvPr>
          <p:cNvSpPr>
            <a:spLocks noGrp="1"/>
          </p:cNvSpPr>
          <p:nvPr/>
        </p:nvSpPr>
        <p:spPr>
          <a:xfrm>
            <a:off x="777240" y="5477256"/>
            <a:ext cx="512064" cy="512064"/>
          </a:xfrm>
          <a:prstGeom prst="ellipse">
            <a:avLst/>
          </a:prstGeom>
          <a:solidFill>
            <a:srgbClr val="F2B632"/>
          </a:solidFill>
          <a:ln w="12700">
            <a:solidFill>
              <a:srgbClr val="F2B632"/>
            </a:solidFill>
            <a:prstDash val="solid"/>
          </a:ln>
        </p:spPr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9C4164F0-8572-4C93-8810-54F883A9AA7D}"/>
              </a:ext>
            </a:extLst>
          </p:cNvPr>
          <p:cNvSpPr>
            <a:spLocks noGrp="1"/>
          </p:cNvSpPr>
          <p:nvPr/>
        </p:nvSpPr>
        <p:spPr>
          <a:xfrm>
            <a:off x="777240" y="5477256"/>
            <a:ext cx="512064" cy="51206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800" b="1">
                <a:solidFill>
                  <a:srgbClr val="2B2B2B"/>
                </a:solidFill>
                <a:latin typeface="Arial"/>
                <a:ea typeface="Arial"/>
                <a:cs typeface="Arial"/>
              </a:rPr>
              <a:t>5</a:t>
            </a:r>
            <a:endParaRPr sz="180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538D3306-3A07-4025-9A52-3072B34C5A88}"/>
              </a:ext>
            </a:extLst>
          </p:cNvPr>
          <p:cNvSpPr>
            <a:spLocks noGrp="1"/>
          </p:cNvSpPr>
          <p:nvPr/>
        </p:nvSpPr>
        <p:spPr>
          <a:xfrm>
            <a:off x="1600200" y="5321808"/>
            <a:ext cx="9601200" cy="8229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Kế hoạch và kết quả mong đợi</a:t>
            </a:r>
            <a:endParaRPr sz="2200"/>
          </a:p>
        </p:txBody>
      </p:sp>
    </p:spTree>
    <p:extLst>
      <p:ext uri="{BB962C8B-B14F-4D97-AF65-F5344CB8AC3E}">
        <p14:creationId xmlns:p14="http://schemas.microsoft.com/office/powerpoint/2010/main" val="9737666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2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DB71E32-6A6D-4C27-AF5A-A232BE42812A}"/>
              </a:ext>
            </a:extLst>
          </p:cNvPr>
          <p:cNvSpPr>
            <a:spLocks noGrp="1"/>
          </p:cNvSpPr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400" b="1">
                <a:solidFill>
                  <a:srgbClr val="F2B632"/>
                </a:solidFill>
                <a:latin typeface="Arial"/>
                <a:ea typeface="Arial"/>
                <a:cs typeface="Arial"/>
              </a:rPr>
              <a:t>MÔ TẢ ĐỀ TÀI</a:t>
            </a:r>
            <a:endParaRPr sz="3400"/>
          </a:p>
        </p:txBody>
      </p:sp>
      <p:sp>
        <p:nvSpPr>
          <p:cNvPr id="3" name="desc">
            <a:extLst>
              <a:ext uri="{FF2B5EF4-FFF2-40B4-BE49-F238E27FC236}">
                <a16:creationId xmlns:a16="http://schemas.microsoft.com/office/drawing/2014/main" id="{672BC73D-1973-4491-B746-AD0BE78C266F}"/>
              </a:ext>
            </a:extLst>
          </p:cNvPr>
          <p:cNvSpPr>
            <a:spLocks noGrp="1"/>
          </p:cNvSpPr>
          <p:nvPr/>
        </p:nvSpPr>
        <p:spPr>
          <a:xfrm>
            <a:off x="548640" y="1371600"/>
            <a:ext cx="6675120" cy="4846320"/>
          </a:xfrm>
          <a:prstGeom prst="roundRect">
            <a:avLst>
              <a:gd name="adj" fmla="val 2264"/>
            </a:avLst>
          </a:prstGeom>
          <a:solidFill>
            <a:srgbClr val="3A3A3A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57CAEE1-8AB1-4440-A826-B56F263A1E61}"/>
              </a:ext>
            </a:extLst>
          </p:cNvPr>
          <p:cNvSpPr>
            <a:spLocks noGrp="1"/>
          </p:cNvSpPr>
          <p:nvPr/>
        </p:nvSpPr>
        <p:spPr>
          <a:xfrm>
            <a:off x="868680" y="1645920"/>
            <a:ext cx="6035040" cy="43891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600">
                <a:solidFill>
                  <a:srgbClr val="FFFFFF"/>
                </a:solidFill>
                <a:latin typeface="Arial"/>
                <a:ea typeface="Arial"/>
                <a:cs typeface="Arial"/>
              </a:rPr>
              <a:t>Tìm và thuê sân hiện còn thủ công: tự tra cứu, liên hệ, hỏi lịch trống, thống nhất giờ</a:t>
            </a:r>
            <a:endParaRPr sz="140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600">
                <a:solidFill>
                  <a:srgbClr val="FFFFFF"/>
                </a:solidFill>
                <a:latin typeface="Arial"/>
                <a:ea typeface="Arial"/>
                <a:cs typeface="Arial"/>
              </a:rPr>
              <a:t>Đề tài xây dựng ứng dụng di động để tìm kiếm, xem thông tin và đặt sân trực tuyến</a:t>
            </a:r>
            <a:endParaRPr sz="140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600">
                <a:solidFill>
                  <a:srgbClr val="FFFFFF"/>
                </a:solidFill>
                <a:latin typeface="Arial"/>
                <a:ea typeface="Arial"/>
                <a:cs typeface="Arial"/>
              </a:rPr>
              <a:t>Người chơi chọn sân, ngày, khung giờ, thời lượng, theo dõi trạng thái xác nhận</a:t>
            </a:r>
            <a:endParaRPr sz="140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600">
                <a:solidFill>
                  <a:srgbClr val="FFFFFF"/>
                </a:solidFill>
                <a:latin typeface="Arial"/>
                <a:ea typeface="Arial"/>
                <a:cs typeface="Arial"/>
              </a:rPr>
              <a:t>Hệ thống kiểm tra khung giờ trước khi ghi nhận để tránh đặt trùng</a:t>
            </a:r>
            <a:endParaRPr sz="140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600">
                <a:solidFill>
                  <a:srgbClr val="FFFFFF"/>
                </a:solidFill>
                <a:latin typeface="Arial"/>
                <a:ea typeface="Arial"/>
                <a:cs typeface="Arial"/>
              </a:rPr>
              <a:t>Hỗ trợ thanh toán tại sân; thanh toán trực tuyến mô phỏng ở bản đầu</a:t>
            </a:r>
            <a:endParaRPr sz="1400"/>
          </a:p>
        </p:txBody>
      </p:sp>
      <p:sp>
        <p:nvSpPr>
          <p:cNvPr id="5" name="sports">
            <a:extLst>
              <a:ext uri="{FF2B5EF4-FFF2-40B4-BE49-F238E27FC236}">
                <a16:creationId xmlns:a16="http://schemas.microsoft.com/office/drawing/2014/main" id="{53821844-91E8-40FD-B411-58A39E5714DB}"/>
              </a:ext>
            </a:extLst>
          </p:cNvPr>
          <p:cNvSpPr>
            <a:spLocks noGrp="1"/>
          </p:cNvSpPr>
          <p:nvPr/>
        </p:nvSpPr>
        <p:spPr>
          <a:xfrm>
            <a:off x="7498080" y="1371600"/>
            <a:ext cx="4114800" cy="4846320"/>
          </a:xfrm>
          <a:prstGeom prst="roundRect">
            <a:avLst>
              <a:gd name="adj" fmla="val 2667"/>
            </a:avLst>
          </a:prstGeom>
          <a:solidFill>
            <a:srgbClr val="F2B632"/>
          </a:solidFill>
          <a:ln w="12700">
            <a:solidFill>
              <a:srgbClr val="F2B632"/>
            </a:solidFill>
            <a:prstDash val="solid"/>
          </a:ln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D7BFD8DB-AFA0-4EDC-8E65-8F6DC8867354}"/>
              </a:ext>
            </a:extLst>
          </p:cNvPr>
          <p:cNvSpPr>
            <a:spLocks noGrp="1"/>
          </p:cNvSpPr>
          <p:nvPr/>
        </p:nvSpPr>
        <p:spPr>
          <a:xfrm>
            <a:off x="7772400" y="1554480"/>
            <a:ext cx="356616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2000" b="1">
                <a:solidFill>
                  <a:srgbClr val="2B2B2B"/>
                </a:solidFill>
                <a:latin typeface="Arial"/>
                <a:ea typeface="Arial"/>
                <a:cs typeface="Arial"/>
              </a:rPr>
              <a:t>LOẠI SÂN HỖ TRỢ</a:t>
            </a:r>
            <a:endParaRPr sz="2000"/>
          </a:p>
        </p:txBody>
      </p:sp>
      <p:sp>
        <p:nvSpPr>
          <p:cNvPr id="7" name="sp0">
            <a:extLst>
              <a:ext uri="{FF2B5EF4-FFF2-40B4-BE49-F238E27FC236}">
                <a16:creationId xmlns:a16="http://schemas.microsoft.com/office/drawing/2014/main" id="{5EA187C9-6731-4F03-898D-FADD0B0389B0}"/>
              </a:ext>
            </a:extLst>
          </p:cNvPr>
          <p:cNvSpPr>
            <a:spLocks noGrp="1"/>
          </p:cNvSpPr>
          <p:nvPr/>
        </p:nvSpPr>
        <p:spPr>
          <a:xfrm>
            <a:off x="7772400" y="2194560"/>
            <a:ext cx="3566160" cy="566928"/>
          </a:xfrm>
          <a:prstGeom prst="roundRect">
            <a:avLst>
              <a:gd name="adj" fmla="val 19355"/>
            </a:avLst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59620034-A6F2-4522-A25A-AD9E20C7F005}"/>
              </a:ext>
            </a:extLst>
          </p:cNvPr>
          <p:cNvSpPr>
            <a:spLocks noGrp="1"/>
          </p:cNvSpPr>
          <p:nvPr/>
        </p:nvSpPr>
        <p:spPr>
          <a:xfrm>
            <a:off x="7772400" y="2194560"/>
            <a:ext cx="3566160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Bóng đá</a:t>
            </a:r>
            <a:endParaRPr sz="1600"/>
          </a:p>
        </p:txBody>
      </p:sp>
      <p:sp>
        <p:nvSpPr>
          <p:cNvPr id="9" name="sp1">
            <a:extLst>
              <a:ext uri="{FF2B5EF4-FFF2-40B4-BE49-F238E27FC236}">
                <a16:creationId xmlns:a16="http://schemas.microsoft.com/office/drawing/2014/main" id="{CE95A6A5-48B6-4120-9016-EC1440B7C115}"/>
              </a:ext>
            </a:extLst>
          </p:cNvPr>
          <p:cNvSpPr>
            <a:spLocks noGrp="1"/>
          </p:cNvSpPr>
          <p:nvPr/>
        </p:nvSpPr>
        <p:spPr>
          <a:xfrm>
            <a:off x="7772400" y="2926080"/>
            <a:ext cx="3566160" cy="566928"/>
          </a:xfrm>
          <a:prstGeom prst="roundRect">
            <a:avLst>
              <a:gd name="adj" fmla="val 19355"/>
            </a:avLst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1D153810-3A36-4783-BE9A-69FBA4C19B82}"/>
              </a:ext>
            </a:extLst>
          </p:cNvPr>
          <p:cNvSpPr>
            <a:spLocks noGrp="1"/>
          </p:cNvSpPr>
          <p:nvPr/>
        </p:nvSpPr>
        <p:spPr>
          <a:xfrm>
            <a:off x="7772400" y="2926080"/>
            <a:ext cx="3566160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Cầu lông</a:t>
            </a:r>
            <a:endParaRPr sz="1600"/>
          </a:p>
        </p:txBody>
      </p:sp>
      <p:sp>
        <p:nvSpPr>
          <p:cNvPr id="11" name="sp2">
            <a:extLst>
              <a:ext uri="{FF2B5EF4-FFF2-40B4-BE49-F238E27FC236}">
                <a16:creationId xmlns:a16="http://schemas.microsoft.com/office/drawing/2014/main" id="{2323DBBC-F1A2-4C9D-969C-4E414A9113A8}"/>
              </a:ext>
            </a:extLst>
          </p:cNvPr>
          <p:cNvSpPr>
            <a:spLocks noGrp="1"/>
          </p:cNvSpPr>
          <p:nvPr/>
        </p:nvSpPr>
        <p:spPr>
          <a:xfrm>
            <a:off x="7772400" y="3657600"/>
            <a:ext cx="3566160" cy="566928"/>
          </a:xfrm>
          <a:prstGeom prst="roundRect">
            <a:avLst>
              <a:gd name="adj" fmla="val 19355"/>
            </a:avLst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DF9B32DF-67FF-47B2-B7BB-E0869B686EB7}"/>
              </a:ext>
            </a:extLst>
          </p:cNvPr>
          <p:cNvSpPr>
            <a:spLocks noGrp="1"/>
          </p:cNvSpPr>
          <p:nvPr/>
        </p:nvSpPr>
        <p:spPr>
          <a:xfrm>
            <a:off x="7772400" y="3657600"/>
            <a:ext cx="3566160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Tennis</a:t>
            </a:r>
            <a:endParaRPr sz="1600"/>
          </a:p>
        </p:txBody>
      </p:sp>
      <p:sp>
        <p:nvSpPr>
          <p:cNvPr id="13" name="sp3">
            <a:extLst>
              <a:ext uri="{FF2B5EF4-FFF2-40B4-BE49-F238E27FC236}">
                <a16:creationId xmlns:a16="http://schemas.microsoft.com/office/drawing/2014/main" id="{7A4D6919-C0E6-4364-A977-F243CA176E01}"/>
              </a:ext>
            </a:extLst>
          </p:cNvPr>
          <p:cNvSpPr>
            <a:spLocks noGrp="1"/>
          </p:cNvSpPr>
          <p:nvPr/>
        </p:nvSpPr>
        <p:spPr>
          <a:xfrm>
            <a:off x="7772400" y="4389120"/>
            <a:ext cx="3566160" cy="566928"/>
          </a:xfrm>
          <a:prstGeom prst="roundRect">
            <a:avLst>
              <a:gd name="adj" fmla="val 19355"/>
            </a:avLst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44BFD2A1-063C-4EDC-A337-5A85C8B877CD}"/>
              </a:ext>
            </a:extLst>
          </p:cNvPr>
          <p:cNvSpPr>
            <a:spLocks noGrp="1"/>
          </p:cNvSpPr>
          <p:nvPr/>
        </p:nvSpPr>
        <p:spPr>
          <a:xfrm>
            <a:off x="7772400" y="4389120"/>
            <a:ext cx="3566160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Bóng rổ</a:t>
            </a:r>
            <a:endParaRPr sz="1600"/>
          </a:p>
        </p:txBody>
      </p:sp>
      <p:sp>
        <p:nvSpPr>
          <p:cNvPr id="15" name="sp4">
            <a:extLst>
              <a:ext uri="{FF2B5EF4-FFF2-40B4-BE49-F238E27FC236}">
                <a16:creationId xmlns:a16="http://schemas.microsoft.com/office/drawing/2014/main" id="{5CCCAACC-359A-4D96-A92C-138EEF52BC75}"/>
              </a:ext>
            </a:extLst>
          </p:cNvPr>
          <p:cNvSpPr>
            <a:spLocks noGrp="1"/>
          </p:cNvSpPr>
          <p:nvPr/>
        </p:nvSpPr>
        <p:spPr>
          <a:xfrm>
            <a:off x="7772400" y="5120640"/>
            <a:ext cx="3566160" cy="566928"/>
          </a:xfrm>
          <a:prstGeom prst="roundRect">
            <a:avLst>
              <a:gd name="adj" fmla="val 19355"/>
            </a:avLst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25C05483-24B3-4C07-8451-B2BEACD5CED5}"/>
              </a:ext>
            </a:extLst>
          </p:cNvPr>
          <p:cNvSpPr>
            <a:spLocks noGrp="1"/>
          </p:cNvSpPr>
          <p:nvPr/>
        </p:nvSpPr>
        <p:spPr>
          <a:xfrm>
            <a:off x="7772400" y="5120640"/>
            <a:ext cx="3566160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Pickleball</a:t>
            </a:r>
            <a:endParaRPr sz="160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E5B24983-AA82-4DE5-BBC4-AA0C4BCD16CE}"/>
              </a:ext>
            </a:extLst>
          </p:cNvPr>
          <p:cNvSpPr>
            <a:spLocks noGrp="1"/>
          </p:cNvSpPr>
          <p:nvPr/>
        </p:nvSpPr>
        <p:spPr>
          <a:xfrm>
            <a:off x="7772400" y="5852160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400" i="1">
                <a:solidFill>
                  <a:srgbClr val="2B2B2B"/>
                </a:solidFill>
                <a:latin typeface="Arial"/>
                <a:ea typeface="Arial"/>
                <a:cs typeface="Arial"/>
              </a:rPr>
              <a:t>Có thể bổ sung loại sân khác</a:t>
            </a: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11348629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B6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6A27458-3A2B-4C62-8A8E-0BF27529792B}"/>
              </a:ext>
            </a:extLst>
          </p:cNvPr>
          <p:cNvSpPr>
            <a:spLocks noGrp="1"/>
          </p:cNvSpPr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400" b="1">
                <a:solidFill>
                  <a:srgbClr val="2B2B2B"/>
                </a:solidFill>
                <a:latin typeface="Arial"/>
                <a:ea typeface="Arial"/>
                <a:cs typeface="Arial"/>
              </a:rPr>
              <a:t>MỤC TIÊU ĐỀ TÀI</a:t>
            </a:r>
            <a:endParaRPr sz="3400"/>
          </a:p>
        </p:txBody>
      </p:sp>
      <p:sp>
        <p:nvSpPr>
          <p:cNvPr id="3" name="c0">
            <a:extLst>
              <a:ext uri="{FF2B5EF4-FFF2-40B4-BE49-F238E27FC236}">
                <a16:creationId xmlns:a16="http://schemas.microsoft.com/office/drawing/2014/main" id="{DBEF6D31-731A-4958-B64C-BCE6C6F7676A}"/>
              </a:ext>
            </a:extLst>
          </p:cNvPr>
          <p:cNvSpPr>
            <a:spLocks noGrp="1"/>
          </p:cNvSpPr>
          <p:nvPr/>
        </p:nvSpPr>
        <p:spPr>
          <a:xfrm>
            <a:off x="548640" y="1371600"/>
            <a:ext cx="3535680" cy="2354580"/>
          </a:xfrm>
          <a:prstGeom prst="roundRect">
            <a:avLst>
              <a:gd name="adj" fmla="val 466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B38B2E1-D4BC-467B-98C3-EBF15A80D8E1}"/>
              </a:ext>
            </a:extLst>
          </p:cNvPr>
          <p:cNvSpPr>
            <a:spLocks noGrp="1"/>
          </p:cNvSpPr>
          <p:nvPr/>
        </p:nvSpPr>
        <p:spPr>
          <a:xfrm>
            <a:off x="777240" y="1554480"/>
            <a:ext cx="307848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800" b="1">
                <a:solidFill>
                  <a:srgbClr val="2B2B2B"/>
                </a:solidFill>
                <a:latin typeface="Arial"/>
                <a:ea typeface="Arial"/>
                <a:cs typeface="Arial"/>
              </a:rPr>
              <a:t>Tổ chức thông tin sân</a:t>
            </a:r>
            <a:endParaRPr sz="18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5DBF565-5A61-4F3B-AA34-F79197FFB7C8}"/>
              </a:ext>
            </a:extLst>
          </p:cNvPr>
          <p:cNvSpPr>
            <a:spLocks noGrp="1"/>
          </p:cNvSpPr>
          <p:nvPr/>
        </p:nvSpPr>
        <p:spPr>
          <a:xfrm>
            <a:off x="777240" y="2103120"/>
            <a:ext cx="3078480" cy="14401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400">
                <a:solidFill>
                  <a:srgbClr val="333333"/>
                </a:solidFill>
                <a:latin typeface="Arial"/>
                <a:ea typeface="Arial"/>
                <a:cs typeface="Arial"/>
              </a:rPr>
              <a:t>Theo loại hình, khu vực, giá, tiện ích và giờ hoạt động để lọc, so sánh</a:t>
            </a:r>
            <a:endParaRPr sz="1400"/>
          </a:p>
        </p:txBody>
      </p:sp>
      <p:sp>
        <p:nvSpPr>
          <p:cNvPr id="6" name="c1">
            <a:extLst>
              <a:ext uri="{FF2B5EF4-FFF2-40B4-BE49-F238E27FC236}">
                <a16:creationId xmlns:a16="http://schemas.microsoft.com/office/drawing/2014/main" id="{7BAC3360-1B59-42D6-ADB6-0AAA916B0876}"/>
              </a:ext>
            </a:extLst>
          </p:cNvPr>
          <p:cNvSpPr>
            <a:spLocks noGrp="1"/>
          </p:cNvSpPr>
          <p:nvPr/>
        </p:nvSpPr>
        <p:spPr>
          <a:xfrm>
            <a:off x="4312920" y="1371600"/>
            <a:ext cx="3535680" cy="2354580"/>
          </a:xfrm>
          <a:prstGeom prst="roundRect">
            <a:avLst>
              <a:gd name="adj" fmla="val 466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CDD21E88-2AA4-49CA-9722-4A0EED668E07}"/>
              </a:ext>
            </a:extLst>
          </p:cNvPr>
          <p:cNvSpPr>
            <a:spLocks noGrp="1"/>
          </p:cNvSpPr>
          <p:nvPr/>
        </p:nvSpPr>
        <p:spPr>
          <a:xfrm>
            <a:off x="4541520" y="1554480"/>
            <a:ext cx="307848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800" b="1">
                <a:solidFill>
                  <a:srgbClr val="2B2B2B"/>
                </a:solidFill>
                <a:latin typeface="Arial"/>
                <a:ea typeface="Arial"/>
                <a:cs typeface="Arial"/>
              </a:rPr>
              <a:t>Lịch trống &amp; đặt sân</a:t>
            </a:r>
            <a:endParaRPr sz="180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1742EAA9-74DF-4203-A576-0B5CC30CEECD}"/>
              </a:ext>
            </a:extLst>
          </p:cNvPr>
          <p:cNvSpPr>
            <a:spLocks noGrp="1"/>
          </p:cNvSpPr>
          <p:nvPr/>
        </p:nvSpPr>
        <p:spPr>
          <a:xfrm>
            <a:off x="4541520" y="2103120"/>
            <a:ext cx="3078480" cy="14401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400">
                <a:solidFill>
                  <a:srgbClr val="333333"/>
                </a:solidFill>
                <a:latin typeface="Arial"/>
                <a:ea typeface="Arial"/>
                <a:cs typeface="Arial"/>
              </a:rPr>
              <a:t>Hiển thị lịch trống theo ngày, giờ; lưu trạng thái và lịch sử đặt</a:t>
            </a:r>
            <a:endParaRPr sz="1400"/>
          </a:p>
        </p:txBody>
      </p:sp>
      <p:sp>
        <p:nvSpPr>
          <p:cNvPr id="9" name="c2">
            <a:extLst>
              <a:ext uri="{FF2B5EF4-FFF2-40B4-BE49-F238E27FC236}">
                <a16:creationId xmlns:a16="http://schemas.microsoft.com/office/drawing/2014/main" id="{8E5FA6C8-E426-4019-873D-E0CA398A9ECC}"/>
              </a:ext>
            </a:extLst>
          </p:cNvPr>
          <p:cNvSpPr>
            <a:spLocks noGrp="1"/>
          </p:cNvSpPr>
          <p:nvPr/>
        </p:nvSpPr>
        <p:spPr>
          <a:xfrm>
            <a:off x="8077200" y="1371600"/>
            <a:ext cx="3535680" cy="2354580"/>
          </a:xfrm>
          <a:prstGeom prst="roundRect">
            <a:avLst>
              <a:gd name="adj" fmla="val 466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96E814E6-4A0A-4B7F-A51C-53C10F75D6EC}"/>
              </a:ext>
            </a:extLst>
          </p:cNvPr>
          <p:cNvSpPr>
            <a:spLocks noGrp="1"/>
          </p:cNvSpPr>
          <p:nvPr/>
        </p:nvSpPr>
        <p:spPr>
          <a:xfrm>
            <a:off x="8305800" y="1554480"/>
            <a:ext cx="307848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800" b="1">
                <a:solidFill>
                  <a:srgbClr val="2B2B2B"/>
                </a:solidFill>
                <a:latin typeface="Arial"/>
                <a:ea typeface="Arial"/>
                <a:cs typeface="Arial"/>
              </a:rPr>
              <a:t>Kiểm soát trùng lịch</a:t>
            </a:r>
            <a:endParaRPr sz="180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85F089A1-37EF-4E6F-9302-724541BD57AF}"/>
              </a:ext>
            </a:extLst>
          </p:cNvPr>
          <p:cNvSpPr>
            <a:spLocks noGrp="1"/>
          </p:cNvSpPr>
          <p:nvPr/>
        </p:nvSpPr>
        <p:spPr>
          <a:xfrm>
            <a:off x="8305800" y="2103120"/>
            <a:ext cx="3078480" cy="14401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400">
                <a:solidFill>
                  <a:srgbClr val="333333"/>
                </a:solidFill>
                <a:latin typeface="Arial"/>
                <a:ea typeface="Arial"/>
                <a:cs typeface="Arial"/>
              </a:rPr>
              <a:t>Kiểm tra tình trạng sân trước khi xác nhận; xử lý rõ các trạng thái lịch</a:t>
            </a:r>
            <a:endParaRPr sz="1400"/>
          </a:p>
        </p:txBody>
      </p:sp>
      <p:sp>
        <p:nvSpPr>
          <p:cNvPr id="12" name="c3">
            <a:extLst>
              <a:ext uri="{FF2B5EF4-FFF2-40B4-BE49-F238E27FC236}">
                <a16:creationId xmlns:a16="http://schemas.microsoft.com/office/drawing/2014/main" id="{E610BD0C-3F7C-4986-84D4-D99FD6AB8D38}"/>
              </a:ext>
            </a:extLst>
          </p:cNvPr>
          <p:cNvSpPr>
            <a:spLocks noGrp="1"/>
          </p:cNvSpPr>
          <p:nvPr/>
        </p:nvSpPr>
        <p:spPr>
          <a:xfrm>
            <a:off x="548640" y="3954780"/>
            <a:ext cx="3535680" cy="2354580"/>
          </a:xfrm>
          <a:prstGeom prst="roundRect">
            <a:avLst>
              <a:gd name="adj" fmla="val 466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3E81965E-843D-49C8-A2A0-FA7C52CADE29}"/>
              </a:ext>
            </a:extLst>
          </p:cNvPr>
          <p:cNvSpPr>
            <a:spLocks noGrp="1"/>
          </p:cNvSpPr>
          <p:nvPr/>
        </p:nvSpPr>
        <p:spPr>
          <a:xfrm>
            <a:off x="777240" y="4137660"/>
            <a:ext cx="307848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800" b="1">
                <a:solidFill>
                  <a:srgbClr val="2B2B2B"/>
                </a:solidFill>
                <a:latin typeface="Arial"/>
                <a:ea typeface="Arial"/>
                <a:cs typeface="Arial"/>
              </a:rPr>
              <a:t>Thanh toán &amp; thông báo</a:t>
            </a:r>
            <a:endParaRPr sz="180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F358B340-5ABC-4258-8CE9-C5652371DA1B}"/>
              </a:ext>
            </a:extLst>
          </p:cNvPr>
          <p:cNvSpPr>
            <a:spLocks noGrp="1"/>
          </p:cNvSpPr>
          <p:nvPr/>
        </p:nvSpPr>
        <p:spPr>
          <a:xfrm>
            <a:off x="777240" y="4686300"/>
            <a:ext cx="3078480" cy="14401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400">
                <a:solidFill>
                  <a:srgbClr val="333333"/>
                </a:solidFill>
                <a:latin typeface="Arial"/>
                <a:ea typeface="Arial"/>
                <a:cs typeface="Arial"/>
              </a:rPr>
              <a:t>Lưu giao dịch; gửi thông báo đặt, xác nhận, hủy và nhắc lịch</a:t>
            </a:r>
            <a:endParaRPr sz="1400"/>
          </a:p>
        </p:txBody>
      </p:sp>
      <p:sp>
        <p:nvSpPr>
          <p:cNvPr id="15" name="c4">
            <a:extLst>
              <a:ext uri="{FF2B5EF4-FFF2-40B4-BE49-F238E27FC236}">
                <a16:creationId xmlns:a16="http://schemas.microsoft.com/office/drawing/2014/main" id="{27CD78A4-5257-4692-A4DA-196457722670}"/>
              </a:ext>
            </a:extLst>
          </p:cNvPr>
          <p:cNvSpPr>
            <a:spLocks noGrp="1"/>
          </p:cNvSpPr>
          <p:nvPr/>
        </p:nvSpPr>
        <p:spPr>
          <a:xfrm>
            <a:off x="4312920" y="3954780"/>
            <a:ext cx="3535680" cy="2354580"/>
          </a:xfrm>
          <a:prstGeom prst="roundRect">
            <a:avLst>
              <a:gd name="adj" fmla="val 466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9562BC95-EAF3-4F6C-951E-64558420366D}"/>
              </a:ext>
            </a:extLst>
          </p:cNvPr>
          <p:cNvSpPr>
            <a:spLocks noGrp="1"/>
          </p:cNvSpPr>
          <p:nvPr/>
        </p:nvSpPr>
        <p:spPr>
          <a:xfrm>
            <a:off x="4541520" y="4137660"/>
            <a:ext cx="307848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800" b="1">
                <a:solidFill>
                  <a:srgbClr val="2B2B2B"/>
                </a:solidFill>
                <a:latin typeface="Arial"/>
                <a:ea typeface="Arial"/>
                <a:cs typeface="Arial"/>
              </a:rPr>
              <a:t>Công cụ vận hành</a:t>
            </a:r>
            <a:endParaRPr sz="180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3F9D33B4-1C24-45CD-802D-302679EDEF14}"/>
              </a:ext>
            </a:extLst>
          </p:cNvPr>
          <p:cNvSpPr>
            <a:spLocks noGrp="1"/>
          </p:cNvSpPr>
          <p:nvPr/>
        </p:nvSpPr>
        <p:spPr>
          <a:xfrm>
            <a:off x="4541520" y="4686300"/>
            <a:ext cx="3078480" cy="14401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400">
                <a:solidFill>
                  <a:srgbClr val="333333"/>
                </a:solidFill>
                <a:latin typeface="Arial"/>
                <a:ea typeface="Arial"/>
                <a:cs typeface="Arial"/>
              </a:rPr>
              <a:t>Chủ sân quản lý sân, khung giờ, doanh thu; quản trị viên quản lý hệ thống</a:t>
            </a:r>
            <a:endParaRPr sz="1400"/>
          </a:p>
        </p:txBody>
      </p:sp>
      <p:sp>
        <p:nvSpPr>
          <p:cNvPr id="18" name="c5">
            <a:extLst>
              <a:ext uri="{FF2B5EF4-FFF2-40B4-BE49-F238E27FC236}">
                <a16:creationId xmlns:a16="http://schemas.microsoft.com/office/drawing/2014/main" id="{2120340D-43D3-486D-8044-1059E09C41E5}"/>
              </a:ext>
            </a:extLst>
          </p:cNvPr>
          <p:cNvSpPr>
            <a:spLocks noGrp="1"/>
          </p:cNvSpPr>
          <p:nvPr/>
        </p:nvSpPr>
        <p:spPr>
          <a:xfrm>
            <a:off x="8077200" y="3954780"/>
            <a:ext cx="3535680" cy="2354580"/>
          </a:xfrm>
          <a:prstGeom prst="roundRect">
            <a:avLst>
              <a:gd name="adj" fmla="val 466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0AC413EA-545C-4A85-9FB5-DAB23793473C}"/>
              </a:ext>
            </a:extLst>
          </p:cNvPr>
          <p:cNvSpPr>
            <a:spLocks noGrp="1"/>
          </p:cNvSpPr>
          <p:nvPr/>
        </p:nvSpPr>
        <p:spPr>
          <a:xfrm>
            <a:off x="8305800" y="4137660"/>
            <a:ext cx="307848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800" b="1">
                <a:solidFill>
                  <a:srgbClr val="2B2B2B"/>
                </a:solidFill>
                <a:latin typeface="Arial"/>
                <a:ea typeface="Arial"/>
                <a:cs typeface="Arial"/>
              </a:rPr>
              <a:t>Đánh giá &amp; giao diện</a:t>
            </a:r>
            <a:endParaRPr sz="180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CB51E819-592B-4633-943F-C6BD713B3F44}"/>
              </a:ext>
            </a:extLst>
          </p:cNvPr>
          <p:cNvSpPr>
            <a:spLocks noGrp="1"/>
          </p:cNvSpPr>
          <p:nvPr/>
        </p:nvSpPr>
        <p:spPr>
          <a:xfrm>
            <a:off x="8305800" y="4686300"/>
            <a:ext cx="3078480" cy="14401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400">
                <a:solidFill>
                  <a:srgbClr val="333333"/>
                </a:solidFill>
                <a:latin typeface="Arial"/>
                <a:ea typeface="Arial"/>
                <a:cs typeface="Arial"/>
              </a:rPr>
              <a:t>Đánh giá sau khi chơi; giao diện nhất quán theo vai trò, phù hợp di động</a:t>
            </a: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1708415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2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1924923-B3B1-4490-B7EB-874A2C74B4FA}"/>
              </a:ext>
            </a:extLst>
          </p:cNvPr>
          <p:cNvSpPr>
            <a:spLocks noGrp="1"/>
          </p:cNvSpPr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400" b="1">
                <a:solidFill>
                  <a:srgbClr val="F2B632"/>
                </a:solidFill>
                <a:latin typeface="Arial"/>
                <a:ea typeface="Arial"/>
                <a:cs typeface="Arial"/>
              </a:rPr>
              <a:t>ĐỐI TƯỢNG SỬ DỤNG</a:t>
            </a:r>
            <a:endParaRPr sz="3400"/>
          </a:p>
        </p:txBody>
      </p:sp>
      <p:sp>
        <p:nvSpPr>
          <p:cNvPr id="3" name="c0">
            <a:extLst>
              <a:ext uri="{FF2B5EF4-FFF2-40B4-BE49-F238E27FC236}">
                <a16:creationId xmlns:a16="http://schemas.microsoft.com/office/drawing/2014/main" id="{15C8557F-3B6E-4A52-8ABE-72852FE1E28C}"/>
              </a:ext>
            </a:extLst>
          </p:cNvPr>
          <p:cNvSpPr>
            <a:spLocks noGrp="1"/>
          </p:cNvSpPr>
          <p:nvPr/>
        </p:nvSpPr>
        <p:spPr>
          <a:xfrm>
            <a:off x="548640" y="1371600"/>
            <a:ext cx="5417820" cy="2354580"/>
          </a:xfrm>
          <a:prstGeom prst="roundRect">
            <a:avLst>
              <a:gd name="adj" fmla="val 4660"/>
            </a:avLst>
          </a:prstGeom>
          <a:solidFill>
            <a:srgbClr val="3A3A3A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824AB6E-C4BE-4200-A0D3-F58694AE45EF}"/>
              </a:ext>
            </a:extLst>
          </p:cNvPr>
          <p:cNvSpPr>
            <a:spLocks noGrp="1"/>
          </p:cNvSpPr>
          <p:nvPr/>
        </p:nvSpPr>
        <p:spPr>
          <a:xfrm>
            <a:off x="777240" y="1554480"/>
            <a:ext cx="496062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800" b="1">
                <a:solidFill>
                  <a:srgbClr val="F2B632"/>
                </a:solidFill>
                <a:latin typeface="Arial"/>
                <a:ea typeface="Arial"/>
                <a:cs typeface="Arial"/>
              </a:rPr>
              <a:t>Người chơi</a:t>
            </a:r>
            <a:endParaRPr sz="18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2C8A981-2F0B-4697-8CF2-B68E4720C441}"/>
              </a:ext>
            </a:extLst>
          </p:cNvPr>
          <p:cNvSpPr>
            <a:spLocks noGrp="1"/>
          </p:cNvSpPr>
          <p:nvPr/>
        </p:nvSpPr>
        <p:spPr>
          <a:xfrm>
            <a:off x="777240" y="2103120"/>
            <a:ext cx="4960620" cy="14401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400">
                <a:solidFill>
                  <a:srgbClr val="FFFFFF"/>
                </a:solidFill>
                <a:latin typeface="Arial"/>
                <a:ea typeface="Arial"/>
                <a:cs typeface="Arial"/>
              </a:rPr>
              <a:t>Cá nhân hoặc nhóm cần tìm sân, đặt lịch, tham gia cộng đồng hoặc đăng ký giải đấu</a:t>
            </a:r>
            <a:endParaRPr sz="1400"/>
          </a:p>
        </p:txBody>
      </p:sp>
      <p:sp>
        <p:nvSpPr>
          <p:cNvPr id="6" name="c1">
            <a:extLst>
              <a:ext uri="{FF2B5EF4-FFF2-40B4-BE49-F238E27FC236}">
                <a16:creationId xmlns:a16="http://schemas.microsoft.com/office/drawing/2014/main" id="{B58274BB-BE6B-46C4-A02B-2E6A791C575B}"/>
              </a:ext>
            </a:extLst>
          </p:cNvPr>
          <p:cNvSpPr>
            <a:spLocks noGrp="1"/>
          </p:cNvSpPr>
          <p:nvPr/>
        </p:nvSpPr>
        <p:spPr>
          <a:xfrm>
            <a:off x="6195060" y="1371600"/>
            <a:ext cx="5417820" cy="2354580"/>
          </a:xfrm>
          <a:prstGeom prst="roundRect">
            <a:avLst>
              <a:gd name="adj" fmla="val 4660"/>
            </a:avLst>
          </a:prstGeom>
          <a:solidFill>
            <a:srgbClr val="3A3A3A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7707634B-0F00-4C95-A092-77A6CE24A586}"/>
              </a:ext>
            </a:extLst>
          </p:cNvPr>
          <p:cNvSpPr>
            <a:spLocks noGrp="1"/>
          </p:cNvSpPr>
          <p:nvPr/>
        </p:nvSpPr>
        <p:spPr>
          <a:xfrm>
            <a:off x="6423660" y="1554480"/>
            <a:ext cx="496062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800" b="1">
                <a:solidFill>
                  <a:srgbClr val="F2B632"/>
                </a:solidFill>
                <a:latin typeface="Arial"/>
                <a:ea typeface="Arial"/>
                <a:cs typeface="Arial"/>
              </a:rPr>
              <a:t>Chủ sân</a:t>
            </a:r>
            <a:endParaRPr sz="180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C1B39E1E-7CE3-4BC6-87F8-85D7EFDAAC33}"/>
              </a:ext>
            </a:extLst>
          </p:cNvPr>
          <p:cNvSpPr>
            <a:spLocks noGrp="1"/>
          </p:cNvSpPr>
          <p:nvPr/>
        </p:nvSpPr>
        <p:spPr>
          <a:xfrm>
            <a:off x="6423660" y="2103120"/>
            <a:ext cx="4960620" cy="14401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400">
                <a:solidFill>
                  <a:srgbClr val="FFFFFF"/>
                </a:solidFill>
                <a:latin typeface="Arial"/>
                <a:ea typeface="Arial"/>
                <a:cs typeface="Arial"/>
              </a:rPr>
              <a:t>Cá nhân hoặc tổ chức quản lý địa điểm, sân; xử lý yêu cầu đặt từ người chơi</a:t>
            </a:r>
            <a:endParaRPr sz="1400"/>
          </a:p>
        </p:txBody>
      </p:sp>
      <p:sp>
        <p:nvSpPr>
          <p:cNvPr id="9" name="c2">
            <a:extLst>
              <a:ext uri="{FF2B5EF4-FFF2-40B4-BE49-F238E27FC236}">
                <a16:creationId xmlns:a16="http://schemas.microsoft.com/office/drawing/2014/main" id="{AAA8D811-B2CC-4E7C-8DA6-77F86E3FF80F}"/>
              </a:ext>
            </a:extLst>
          </p:cNvPr>
          <p:cNvSpPr>
            <a:spLocks noGrp="1"/>
          </p:cNvSpPr>
          <p:nvPr/>
        </p:nvSpPr>
        <p:spPr>
          <a:xfrm>
            <a:off x="548640" y="3954780"/>
            <a:ext cx="5417820" cy="2354580"/>
          </a:xfrm>
          <a:prstGeom prst="roundRect">
            <a:avLst>
              <a:gd name="adj" fmla="val 4660"/>
            </a:avLst>
          </a:prstGeom>
          <a:solidFill>
            <a:srgbClr val="3A3A3A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E7401580-C03F-458E-87DA-8E99AAED7336}"/>
              </a:ext>
            </a:extLst>
          </p:cNvPr>
          <p:cNvSpPr>
            <a:spLocks noGrp="1"/>
          </p:cNvSpPr>
          <p:nvPr/>
        </p:nvSpPr>
        <p:spPr>
          <a:xfrm>
            <a:off x="777240" y="4137660"/>
            <a:ext cx="496062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800" b="1">
                <a:solidFill>
                  <a:srgbClr val="F2B632"/>
                </a:solidFill>
                <a:latin typeface="Arial"/>
                <a:ea typeface="Arial"/>
                <a:cs typeface="Arial"/>
              </a:rPr>
              <a:t>Nhân viên quản lý sân</a:t>
            </a:r>
            <a:endParaRPr sz="180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88FD7501-8BDB-483B-B320-5E5D228DDCD6}"/>
              </a:ext>
            </a:extLst>
          </p:cNvPr>
          <p:cNvSpPr>
            <a:spLocks noGrp="1"/>
          </p:cNvSpPr>
          <p:nvPr/>
        </p:nvSpPr>
        <p:spPr>
          <a:xfrm>
            <a:off x="777240" y="4686300"/>
            <a:ext cx="4960620" cy="14401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400">
                <a:solidFill>
                  <a:srgbClr val="FFFFFF"/>
                </a:solidFill>
                <a:latin typeface="Arial"/>
                <a:ea typeface="Arial"/>
                <a:cs typeface="Arial"/>
              </a:rPr>
              <a:t>Đăng nhập riêng; xem lịch, điểm danh, thu tại sân theo quyền và cơ sở được giao</a:t>
            </a:r>
            <a:endParaRPr sz="1400"/>
          </a:p>
        </p:txBody>
      </p:sp>
      <p:sp>
        <p:nvSpPr>
          <p:cNvPr id="12" name="c3">
            <a:extLst>
              <a:ext uri="{FF2B5EF4-FFF2-40B4-BE49-F238E27FC236}">
                <a16:creationId xmlns:a16="http://schemas.microsoft.com/office/drawing/2014/main" id="{502E5354-5A0E-48CF-833E-05B882ED7A93}"/>
              </a:ext>
            </a:extLst>
          </p:cNvPr>
          <p:cNvSpPr>
            <a:spLocks noGrp="1"/>
          </p:cNvSpPr>
          <p:nvPr/>
        </p:nvSpPr>
        <p:spPr>
          <a:xfrm>
            <a:off x="6195060" y="3954780"/>
            <a:ext cx="5417820" cy="2354580"/>
          </a:xfrm>
          <a:prstGeom prst="roundRect">
            <a:avLst>
              <a:gd name="adj" fmla="val 4660"/>
            </a:avLst>
          </a:prstGeom>
          <a:solidFill>
            <a:srgbClr val="3A3A3A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A30DDA4E-CE76-46D9-B3D4-6F3F759BB524}"/>
              </a:ext>
            </a:extLst>
          </p:cNvPr>
          <p:cNvSpPr>
            <a:spLocks noGrp="1"/>
          </p:cNvSpPr>
          <p:nvPr/>
        </p:nvSpPr>
        <p:spPr>
          <a:xfrm>
            <a:off x="6423660" y="4137660"/>
            <a:ext cx="496062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800" b="1">
                <a:solidFill>
                  <a:srgbClr val="F2B632"/>
                </a:solidFill>
                <a:latin typeface="Arial"/>
                <a:ea typeface="Arial"/>
                <a:cs typeface="Arial"/>
              </a:rPr>
              <a:t>Quản trị viên</a:t>
            </a:r>
            <a:endParaRPr sz="180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49A41F1B-6BFC-4CCE-8203-16FC11B49FFA}"/>
              </a:ext>
            </a:extLst>
          </p:cNvPr>
          <p:cNvSpPr>
            <a:spLocks noGrp="1"/>
          </p:cNvSpPr>
          <p:nvPr/>
        </p:nvSpPr>
        <p:spPr>
          <a:xfrm>
            <a:off x="6423660" y="4686300"/>
            <a:ext cx="4960620" cy="14401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400">
                <a:solidFill>
                  <a:srgbClr val="FFFFFF"/>
                </a:solidFill>
                <a:latin typeface="Arial"/>
                <a:ea typeface="Arial"/>
                <a:cs typeface="Arial"/>
              </a:rPr>
              <a:t>Vận hành nền tảng: phân quyền, kiểm duyệt, theo dõi giao dịch và báo cáo</a:t>
            </a: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2768751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B6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3AAA446-727C-4D49-97FE-736C960728A3}"/>
              </a:ext>
            </a:extLst>
          </p:cNvPr>
          <p:cNvSpPr>
            <a:spLocks noGrp="1"/>
          </p:cNvSpPr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400" b="1">
                <a:solidFill>
                  <a:srgbClr val="2B2B2B"/>
                </a:solidFill>
                <a:latin typeface="Arial"/>
                <a:ea typeface="Arial"/>
                <a:cs typeface="Arial"/>
              </a:rPr>
              <a:t>CHỨC NĂNG: NGƯỜI CHƠI</a:t>
            </a:r>
            <a:endParaRPr sz="3400"/>
          </a:p>
        </p:txBody>
      </p:sp>
      <p:sp>
        <p:nvSpPr>
          <p:cNvPr id="3" name="c0">
            <a:extLst>
              <a:ext uri="{FF2B5EF4-FFF2-40B4-BE49-F238E27FC236}">
                <a16:creationId xmlns:a16="http://schemas.microsoft.com/office/drawing/2014/main" id="{3E069F76-1FDC-459E-AF70-5D18C323C7EC}"/>
              </a:ext>
            </a:extLst>
          </p:cNvPr>
          <p:cNvSpPr>
            <a:spLocks noGrp="1"/>
          </p:cNvSpPr>
          <p:nvPr/>
        </p:nvSpPr>
        <p:spPr>
          <a:xfrm>
            <a:off x="548640" y="1371600"/>
            <a:ext cx="3535680" cy="2354580"/>
          </a:xfrm>
          <a:prstGeom prst="roundRect">
            <a:avLst>
              <a:gd name="adj" fmla="val 466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58765B2-32F8-48E7-AF04-F2B107DAB7F7}"/>
              </a:ext>
            </a:extLst>
          </p:cNvPr>
          <p:cNvSpPr>
            <a:spLocks noGrp="1"/>
          </p:cNvSpPr>
          <p:nvPr/>
        </p:nvSpPr>
        <p:spPr>
          <a:xfrm>
            <a:off x="777240" y="1554480"/>
            <a:ext cx="307848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800" b="1">
                <a:solidFill>
                  <a:srgbClr val="2B2B2B"/>
                </a:solidFill>
                <a:latin typeface="Arial"/>
                <a:ea typeface="Arial"/>
                <a:cs typeface="Arial"/>
              </a:rPr>
              <a:t>Tài khoản</a:t>
            </a:r>
            <a:endParaRPr sz="18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E9EB6E6-B256-4E94-A15D-58DB922279E2}"/>
              </a:ext>
            </a:extLst>
          </p:cNvPr>
          <p:cNvSpPr>
            <a:spLocks noGrp="1"/>
          </p:cNvSpPr>
          <p:nvPr/>
        </p:nvSpPr>
        <p:spPr>
          <a:xfrm>
            <a:off x="777240" y="2103120"/>
            <a:ext cx="3078480" cy="14401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400">
                <a:solidFill>
                  <a:srgbClr val="333333"/>
                </a:solidFill>
                <a:latin typeface="Arial"/>
                <a:ea typeface="Arial"/>
                <a:cs typeface="Arial"/>
              </a:rPr>
              <a:t>Đăng nhập demo; Google là dự kiến</a:t>
            </a:r>
            <a:endParaRPr sz="140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400">
                <a:solidFill>
                  <a:srgbClr val="333333"/>
                </a:solidFill>
                <a:latin typeface="Arial"/>
                <a:ea typeface="Arial"/>
                <a:cs typeface="Arial"/>
              </a:rPr>
              <a:t>Quên, đổi mật khẩu</a:t>
            </a:r>
            <a:endParaRPr sz="140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400">
                <a:solidFill>
                  <a:srgbClr val="333333"/>
                </a:solidFill>
                <a:latin typeface="Arial"/>
                <a:ea typeface="Arial"/>
                <a:cs typeface="Arial"/>
              </a:rPr>
              <a:t>Cập nhật hồ sơ</a:t>
            </a:r>
            <a:endParaRPr sz="1400"/>
          </a:p>
        </p:txBody>
      </p:sp>
      <p:sp>
        <p:nvSpPr>
          <p:cNvPr id="6" name="c1">
            <a:extLst>
              <a:ext uri="{FF2B5EF4-FFF2-40B4-BE49-F238E27FC236}">
                <a16:creationId xmlns:a16="http://schemas.microsoft.com/office/drawing/2014/main" id="{E5C4C7C8-AC12-4EFF-BE9B-8245F5EE65FF}"/>
              </a:ext>
            </a:extLst>
          </p:cNvPr>
          <p:cNvSpPr>
            <a:spLocks noGrp="1"/>
          </p:cNvSpPr>
          <p:nvPr/>
        </p:nvSpPr>
        <p:spPr>
          <a:xfrm>
            <a:off x="4312920" y="1371600"/>
            <a:ext cx="3535680" cy="2354580"/>
          </a:xfrm>
          <a:prstGeom prst="roundRect">
            <a:avLst>
              <a:gd name="adj" fmla="val 466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53866DE8-CE25-4D62-AFFB-28932821193C}"/>
              </a:ext>
            </a:extLst>
          </p:cNvPr>
          <p:cNvSpPr>
            <a:spLocks noGrp="1"/>
          </p:cNvSpPr>
          <p:nvPr/>
        </p:nvSpPr>
        <p:spPr>
          <a:xfrm>
            <a:off x="4541520" y="1554480"/>
            <a:ext cx="307848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800" b="1">
                <a:solidFill>
                  <a:srgbClr val="2B2B2B"/>
                </a:solidFill>
                <a:latin typeface="Arial"/>
                <a:ea typeface="Arial"/>
                <a:cs typeface="Arial"/>
              </a:rPr>
              <a:t>Tìm &amp; xem sân</a:t>
            </a:r>
            <a:endParaRPr sz="180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19FDB61D-2798-432E-BEAB-1AD069AB7724}"/>
              </a:ext>
            </a:extLst>
          </p:cNvPr>
          <p:cNvSpPr>
            <a:spLocks noGrp="1"/>
          </p:cNvSpPr>
          <p:nvPr/>
        </p:nvSpPr>
        <p:spPr>
          <a:xfrm>
            <a:off x="4541520" y="2103120"/>
            <a:ext cx="3078480" cy="14401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400">
                <a:solidFill>
                  <a:srgbClr val="333333"/>
                </a:solidFill>
                <a:latin typeface="Arial"/>
                <a:ea typeface="Arial"/>
                <a:cs typeface="Arial"/>
              </a:rPr>
              <a:t>Tìm theo tên, khu vực, vị trí</a:t>
            </a:r>
            <a:endParaRPr sz="140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400">
                <a:solidFill>
                  <a:srgbClr val="333333"/>
                </a:solidFill>
                <a:latin typeface="Arial"/>
                <a:ea typeface="Arial"/>
                <a:cs typeface="Arial"/>
              </a:rPr>
              <a:t>Lọc loại sân, giá, giờ trống</a:t>
            </a:r>
            <a:endParaRPr sz="140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400">
                <a:solidFill>
                  <a:srgbClr val="333333"/>
                </a:solidFill>
                <a:latin typeface="Arial"/>
                <a:ea typeface="Arial"/>
                <a:cs typeface="Arial"/>
              </a:rPr>
              <a:t>Xem chi tiết, tiện ích, đánh giá</a:t>
            </a:r>
            <a:endParaRPr sz="1400"/>
          </a:p>
        </p:txBody>
      </p:sp>
      <p:sp>
        <p:nvSpPr>
          <p:cNvPr id="9" name="c2">
            <a:extLst>
              <a:ext uri="{FF2B5EF4-FFF2-40B4-BE49-F238E27FC236}">
                <a16:creationId xmlns:a16="http://schemas.microsoft.com/office/drawing/2014/main" id="{D0511787-CDD3-465D-94D4-3D9ADAA23B9C}"/>
              </a:ext>
            </a:extLst>
          </p:cNvPr>
          <p:cNvSpPr>
            <a:spLocks noGrp="1"/>
          </p:cNvSpPr>
          <p:nvPr/>
        </p:nvSpPr>
        <p:spPr>
          <a:xfrm>
            <a:off x="8077200" y="1371600"/>
            <a:ext cx="3535680" cy="2354580"/>
          </a:xfrm>
          <a:prstGeom prst="roundRect">
            <a:avLst>
              <a:gd name="adj" fmla="val 466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A523710F-28C3-4FBF-8E7E-D32F865759BD}"/>
              </a:ext>
            </a:extLst>
          </p:cNvPr>
          <p:cNvSpPr>
            <a:spLocks noGrp="1"/>
          </p:cNvSpPr>
          <p:nvPr/>
        </p:nvSpPr>
        <p:spPr>
          <a:xfrm>
            <a:off x="8305800" y="1554480"/>
            <a:ext cx="307848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800" b="1">
                <a:solidFill>
                  <a:srgbClr val="2B2B2B"/>
                </a:solidFill>
                <a:latin typeface="Arial"/>
                <a:ea typeface="Arial"/>
                <a:cs typeface="Arial"/>
              </a:rPr>
              <a:t>Đặt sân</a:t>
            </a:r>
            <a:endParaRPr sz="180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F6FA32F6-48FE-43BE-8CEC-58E6B3886EE8}"/>
              </a:ext>
            </a:extLst>
          </p:cNvPr>
          <p:cNvSpPr>
            <a:spLocks noGrp="1"/>
          </p:cNvSpPr>
          <p:nvPr/>
        </p:nvSpPr>
        <p:spPr>
          <a:xfrm>
            <a:off x="8305800" y="2103120"/>
            <a:ext cx="3078480" cy="14401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400">
                <a:solidFill>
                  <a:srgbClr val="333333"/>
                </a:solidFill>
                <a:latin typeface="Arial"/>
                <a:ea typeface="Arial"/>
                <a:cs typeface="Arial"/>
              </a:rPr>
              <a:t>Chọn sân, ngày, giờ, thời lượng</a:t>
            </a:r>
            <a:endParaRPr sz="140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400">
                <a:solidFill>
                  <a:srgbClr val="333333"/>
                </a:solidFill>
                <a:latin typeface="Arial"/>
                <a:ea typeface="Arial"/>
                <a:cs typeface="Arial"/>
              </a:rPr>
              <a:t>Kiểm tra tình trạng trước khi đặt</a:t>
            </a:r>
            <a:endParaRPr sz="140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400">
                <a:solidFill>
                  <a:srgbClr val="333333"/>
                </a:solidFill>
                <a:latin typeface="Arial"/>
                <a:ea typeface="Arial"/>
                <a:cs typeface="Arial"/>
              </a:rPr>
              <a:t>Tạo phiếu đặt sân</a:t>
            </a:r>
            <a:endParaRPr sz="1400"/>
          </a:p>
        </p:txBody>
      </p:sp>
      <p:sp>
        <p:nvSpPr>
          <p:cNvPr id="12" name="c3">
            <a:extLst>
              <a:ext uri="{FF2B5EF4-FFF2-40B4-BE49-F238E27FC236}">
                <a16:creationId xmlns:a16="http://schemas.microsoft.com/office/drawing/2014/main" id="{C98C5366-56C6-4A56-9D7E-E9AC3C99575D}"/>
              </a:ext>
            </a:extLst>
          </p:cNvPr>
          <p:cNvSpPr>
            <a:spLocks noGrp="1"/>
          </p:cNvSpPr>
          <p:nvPr/>
        </p:nvSpPr>
        <p:spPr>
          <a:xfrm>
            <a:off x="548640" y="3954780"/>
            <a:ext cx="3535680" cy="2354580"/>
          </a:xfrm>
          <a:prstGeom prst="roundRect">
            <a:avLst>
              <a:gd name="adj" fmla="val 466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F5B3E35A-140F-4BB1-A34A-86BB6AD34509}"/>
              </a:ext>
            </a:extLst>
          </p:cNvPr>
          <p:cNvSpPr>
            <a:spLocks noGrp="1"/>
          </p:cNvSpPr>
          <p:nvPr/>
        </p:nvSpPr>
        <p:spPr>
          <a:xfrm>
            <a:off x="777240" y="4137660"/>
            <a:ext cx="307848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800" b="1">
                <a:solidFill>
                  <a:srgbClr val="2B2B2B"/>
                </a:solidFill>
                <a:latin typeface="Arial"/>
                <a:ea typeface="Arial"/>
                <a:cs typeface="Arial"/>
              </a:rPr>
              <a:t>Thanh toán</a:t>
            </a:r>
            <a:endParaRPr sz="180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EABE3E7C-2345-4D03-A0D6-9F842711CC04}"/>
              </a:ext>
            </a:extLst>
          </p:cNvPr>
          <p:cNvSpPr>
            <a:spLocks noGrp="1"/>
          </p:cNvSpPr>
          <p:nvPr/>
        </p:nvSpPr>
        <p:spPr>
          <a:xfrm>
            <a:off x="777240" y="4686300"/>
            <a:ext cx="3078480" cy="14401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400">
                <a:solidFill>
                  <a:srgbClr val="333333"/>
                </a:solidFill>
                <a:latin typeface="Arial"/>
                <a:ea typeface="Arial"/>
                <a:cs typeface="Arial"/>
              </a:rPr>
              <a:t>Tại sân hoặc trực tuyến</a:t>
            </a:r>
            <a:endParaRPr sz="140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400">
                <a:solidFill>
                  <a:srgbClr val="333333"/>
                </a:solidFill>
                <a:latin typeface="Arial"/>
                <a:ea typeface="Arial"/>
                <a:cs typeface="Arial"/>
              </a:rPr>
              <a:t>Trạng thái: chưa, đã thanh toán, hoàn tiền</a:t>
            </a:r>
            <a:endParaRPr sz="140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400">
                <a:solidFill>
                  <a:srgbClr val="333333"/>
                </a:solidFill>
                <a:latin typeface="Arial"/>
                <a:ea typeface="Arial"/>
                <a:cs typeface="Arial"/>
              </a:rPr>
              <a:t>Lịch sử giao dịch</a:t>
            </a:r>
            <a:endParaRPr sz="1400"/>
          </a:p>
        </p:txBody>
      </p:sp>
      <p:sp>
        <p:nvSpPr>
          <p:cNvPr id="15" name="c4">
            <a:extLst>
              <a:ext uri="{FF2B5EF4-FFF2-40B4-BE49-F238E27FC236}">
                <a16:creationId xmlns:a16="http://schemas.microsoft.com/office/drawing/2014/main" id="{AC4DF601-40A6-4F46-8C02-4D7838412DB0}"/>
              </a:ext>
            </a:extLst>
          </p:cNvPr>
          <p:cNvSpPr>
            <a:spLocks noGrp="1"/>
          </p:cNvSpPr>
          <p:nvPr/>
        </p:nvSpPr>
        <p:spPr>
          <a:xfrm>
            <a:off x="4312920" y="3954780"/>
            <a:ext cx="3535680" cy="2354580"/>
          </a:xfrm>
          <a:prstGeom prst="roundRect">
            <a:avLst>
              <a:gd name="adj" fmla="val 466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B6C867CC-F1F1-4E73-B54F-AF64D2A2201C}"/>
              </a:ext>
            </a:extLst>
          </p:cNvPr>
          <p:cNvSpPr>
            <a:spLocks noGrp="1"/>
          </p:cNvSpPr>
          <p:nvPr/>
        </p:nvSpPr>
        <p:spPr>
          <a:xfrm>
            <a:off x="4541520" y="4137660"/>
            <a:ext cx="307848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800" b="1">
                <a:solidFill>
                  <a:srgbClr val="2B2B2B"/>
                </a:solidFill>
                <a:latin typeface="Arial"/>
                <a:ea typeface="Arial"/>
                <a:cs typeface="Arial"/>
              </a:rPr>
              <a:t>Quản lý lịch đặt</a:t>
            </a:r>
            <a:endParaRPr sz="180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651BFF42-F3BC-40A7-83C7-E1205E8C2627}"/>
              </a:ext>
            </a:extLst>
          </p:cNvPr>
          <p:cNvSpPr>
            <a:spLocks noGrp="1"/>
          </p:cNvSpPr>
          <p:nvPr/>
        </p:nvSpPr>
        <p:spPr>
          <a:xfrm>
            <a:off x="4541520" y="4686300"/>
            <a:ext cx="3078480" cy="14401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400">
                <a:solidFill>
                  <a:srgbClr val="333333"/>
                </a:solidFill>
                <a:latin typeface="Arial"/>
                <a:ea typeface="Arial"/>
                <a:cs typeface="Arial"/>
              </a:rPr>
              <a:t>Xem lịch sắp tới và lịch sử</a:t>
            </a:r>
            <a:endParaRPr sz="140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400">
                <a:solidFill>
                  <a:srgbClr val="333333"/>
                </a:solidFill>
                <a:latin typeface="Arial"/>
                <a:ea typeface="Arial"/>
                <a:cs typeface="Arial"/>
              </a:rPr>
              <a:t>Hủy, đổi lịch, đặt lại</a:t>
            </a:r>
            <a:endParaRPr sz="1400"/>
          </a:p>
        </p:txBody>
      </p:sp>
      <p:sp>
        <p:nvSpPr>
          <p:cNvPr id="18" name="c5">
            <a:extLst>
              <a:ext uri="{FF2B5EF4-FFF2-40B4-BE49-F238E27FC236}">
                <a16:creationId xmlns:a16="http://schemas.microsoft.com/office/drawing/2014/main" id="{ED7AA72F-BE3B-4459-B93A-58EC93DF2D3B}"/>
              </a:ext>
            </a:extLst>
          </p:cNvPr>
          <p:cNvSpPr>
            <a:spLocks noGrp="1"/>
          </p:cNvSpPr>
          <p:nvPr/>
        </p:nvSpPr>
        <p:spPr>
          <a:xfrm>
            <a:off x="8077200" y="3954780"/>
            <a:ext cx="3535680" cy="2354580"/>
          </a:xfrm>
          <a:prstGeom prst="roundRect">
            <a:avLst>
              <a:gd name="adj" fmla="val 466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F9AA51C5-1221-4011-9257-B4C5DD3D9CE2}"/>
              </a:ext>
            </a:extLst>
          </p:cNvPr>
          <p:cNvSpPr>
            <a:spLocks noGrp="1"/>
          </p:cNvSpPr>
          <p:nvPr/>
        </p:nvSpPr>
        <p:spPr>
          <a:xfrm>
            <a:off x="8305800" y="4137660"/>
            <a:ext cx="307848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800" b="1">
                <a:solidFill>
                  <a:srgbClr val="2B2B2B"/>
                </a:solidFill>
                <a:latin typeface="Arial"/>
                <a:ea typeface="Arial"/>
                <a:cs typeface="Arial"/>
              </a:rPr>
              <a:t>Tiện ích khác</a:t>
            </a:r>
            <a:endParaRPr sz="180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16C3C1D5-0398-4F74-8962-F05759CC9D20}"/>
              </a:ext>
            </a:extLst>
          </p:cNvPr>
          <p:cNvSpPr>
            <a:spLocks noGrp="1"/>
          </p:cNvSpPr>
          <p:nvPr/>
        </p:nvSpPr>
        <p:spPr>
          <a:xfrm>
            <a:off x="8305800" y="4686300"/>
            <a:ext cx="3078480" cy="14401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400">
                <a:solidFill>
                  <a:srgbClr val="333333"/>
                </a:solidFill>
                <a:latin typeface="Arial"/>
                <a:ea typeface="Arial"/>
                <a:cs typeface="Arial"/>
              </a:rPr>
              <a:t>Sân yêu thích</a:t>
            </a:r>
            <a:endParaRPr sz="140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400">
                <a:solidFill>
                  <a:srgbClr val="333333"/>
                </a:solidFill>
                <a:latin typeface="Arial"/>
                <a:ea typeface="Arial"/>
                <a:cs typeface="Arial"/>
              </a:rPr>
              <a:t>Đánh giá, nhận thông báo</a:t>
            </a:r>
            <a:endParaRPr sz="140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400">
                <a:solidFill>
                  <a:srgbClr val="333333"/>
                </a:solidFill>
                <a:latin typeface="Arial"/>
                <a:ea typeface="Arial"/>
                <a:cs typeface="Arial"/>
              </a:rPr>
              <a:t>Gửi phản hồi, khiếu nại</a:t>
            </a: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2714762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2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B485944-382B-4F57-881D-D662A243F9FB}"/>
              </a:ext>
            </a:extLst>
          </p:cNvPr>
          <p:cNvSpPr>
            <a:spLocks noGrp="1"/>
          </p:cNvSpPr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400" b="1">
                <a:solidFill>
                  <a:srgbClr val="F2B632"/>
                </a:solidFill>
                <a:latin typeface="Arial"/>
                <a:ea typeface="Arial"/>
                <a:cs typeface="Arial"/>
              </a:rPr>
              <a:t>CHỨC NĂNG: CHỦ SÂN</a:t>
            </a:r>
            <a:endParaRPr sz="3400"/>
          </a:p>
        </p:txBody>
      </p:sp>
      <p:sp>
        <p:nvSpPr>
          <p:cNvPr id="3" name="c0">
            <a:extLst>
              <a:ext uri="{FF2B5EF4-FFF2-40B4-BE49-F238E27FC236}">
                <a16:creationId xmlns:a16="http://schemas.microsoft.com/office/drawing/2014/main" id="{E90FD100-C8CA-4FA6-92BD-278A624133D3}"/>
              </a:ext>
            </a:extLst>
          </p:cNvPr>
          <p:cNvSpPr>
            <a:spLocks noGrp="1"/>
          </p:cNvSpPr>
          <p:nvPr/>
        </p:nvSpPr>
        <p:spPr>
          <a:xfrm>
            <a:off x="548640" y="1371600"/>
            <a:ext cx="3535680" cy="2354580"/>
          </a:xfrm>
          <a:prstGeom prst="roundRect">
            <a:avLst>
              <a:gd name="adj" fmla="val 4660"/>
            </a:avLst>
          </a:prstGeom>
          <a:solidFill>
            <a:srgbClr val="3A3A3A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D1CFF9D-49A5-482D-A7B0-332F59BDFECA}"/>
              </a:ext>
            </a:extLst>
          </p:cNvPr>
          <p:cNvSpPr>
            <a:spLocks noGrp="1"/>
          </p:cNvSpPr>
          <p:nvPr/>
        </p:nvSpPr>
        <p:spPr>
          <a:xfrm>
            <a:off x="777240" y="1554480"/>
            <a:ext cx="307848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800" b="1">
                <a:solidFill>
                  <a:srgbClr val="F2B632"/>
                </a:solidFill>
                <a:latin typeface="Arial"/>
                <a:ea typeface="Arial"/>
                <a:cs typeface="Arial"/>
              </a:rPr>
              <a:t>Quản lý sân</a:t>
            </a:r>
            <a:endParaRPr sz="18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C31FD7C8-984B-4E3B-A6A7-A9C65EBA7D8B}"/>
              </a:ext>
            </a:extLst>
          </p:cNvPr>
          <p:cNvSpPr>
            <a:spLocks noGrp="1"/>
          </p:cNvSpPr>
          <p:nvPr/>
        </p:nvSpPr>
        <p:spPr>
          <a:xfrm>
            <a:off x="777240" y="2103120"/>
            <a:ext cx="3078480" cy="14401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400">
                <a:solidFill>
                  <a:srgbClr val="FFFFFF"/>
                </a:solidFill>
                <a:latin typeface="Arial"/>
                <a:ea typeface="Arial"/>
                <a:cs typeface="Arial"/>
              </a:rPr>
              <a:t>Thêm, sửa, xóa sân</a:t>
            </a:r>
            <a:endParaRPr sz="140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400">
                <a:solidFill>
                  <a:srgbClr val="FFFFFF"/>
                </a:solidFill>
                <a:latin typeface="Arial"/>
                <a:ea typeface="Arial"/>
                <a:cs typeface="Arial"/>
              </a:rPr>
              <a:t>Cập nhật giá, hình ảnh, tiện ích</a:t>
            </a:r>
            <a:endParaRPr sz="140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400">
                <a:solidFill>
                  <a:srgbClr val="FFFFFF"/>
                </a:solidFill>
                <a:latin typeface="Arial"/>
                <a:ea typeface="Arial"/>
                <a:cs typeface="Arial"/>
              </a:rPr>
              <a:t>Trạng thái: hoạt động, tạm ngưng, bảo trì</a:t>
            </a:r>
            <a:endParaRPr sz="1400"/>
          </a:p>
        </p:txBody>
      </p:sp>
      <p:sp>
        <p:nvSpPr>
          <p:cNvPr id="6" name="c1">
            <a:extLst>
              <a:ext uri="{FF2B5EF4-FFF2-40B4-BE49-F238E27FC236}">
                <a16:creationId xmlns:a16="http://schemas.microsoft.com/office/drawing/2014/main" id="{7DAE0283-E61B-4540-AF1B-84BA9EEEBA70}"/>
              </a:ext>
            </a:extLst>
          </p:cNvPr>
          <p:cNvSpPr>
            <a:spLocks noGrp="1"/>
          </p:cNvSpPr>
          <p:nvPr/>
        </p:nvSpPr>
        <p:spPr>
          <a:xfrm>
            <a:off x="4312920" y="1371600"/>
            <a:ext cx="3535680" cy="2354580"/>
          </a:xfrm>
          <a:prstGeom prst="roundRect">
            <a:avLst>
              <a:gd name="adj" fmla="val 4660"/>
            </a:avLst>
          </a:prstGeom>
          <a:solidFill>
            <a:srgbClr val="3A3A3A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FA56E815-1FF7-490E-895A-4BBE6898517D}"/>
              </a:ext>
            </a:extLst>
          </p:cNvPr>
          <p:cNvSpPr>
            <a:spLocks noGrp="1"/>
          </p:cNvSpPr>
          <p:nvPr/>
        </p:nvSpPr>
        <p:spPr>
          <a:xfrm>
            <a:off x="4541520" y="1554480"/>
            <a:ext cx="307848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800" b="1">
                <a:solidFill>
                  <a:srgbClr val="F2B632"/>
                </a:solidFill>
                <a:latin typeface="Arial"/>
                <a:ea typeface="Arial"/>
                <a:cs typeface="Arial"/>
              </a:rPr>
              <a:t>Quản lý khung giờ</a:t>
            </a:r>
            <a:endParaRPr sz="180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8155C13C-DD66-445A-83F9-4F35EB789D5C}"/>
              </a:ext>
            </a:extLst>
          </p:cNvPr>
          <p:cNvSpPr>
            <a:spLocks noGrp="1"/>
          </p:cNvSpPr>
          <p:nvPr/>
        </p:nvSpPr>
        <p:spPr>
          <a:xfrm>
            <a:off x="4541520" y="2103120"/>
            <a:ext cx="3078480" cy="14401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400">
                <a:solidFill>
                  <a:srgbClr val="FFFFFF"/>
                </a:solidFill>
                <a:latin typeface="Arial"/>
                <a:ea typeface="Arial"/>
                <a:cs typeface="Arial"/>
              </a:rPr>
              <a:t>Thiết lập giờ mở, đóng cửa</a:t>
            </a:r>
            <a:endParaRPr sz="140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400">
                <a:solidFill>
                  <a:srgbClr val="FFFFFF"/>
                </a:solidFill>
                <a:latin typeface="Arial"/>
                <a:ea typeface="Arial"/>
                <a:cs typeface="Arial"/>
              </a:rPr>
              <a:t>Đổi giá theo khung giờ</a:t>
            </a:r>
            <a:endParaRPr sz="140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400">
                <a:solidFill>
                  <a:srgbClr val="FFFFFF"/>
                </a:solidFill>
                <a:latin typeface="Arial"/>
                <a:ea typeface="Arial"/>
                <a:cs typeface="Arial"/>
              </a:rPr>
              <a:t>Khóa, mở lại khung giờ</a:t>
            </a:r>
            <a:endParaRPr sz="1400"/>
          </a:p>
        </p:txBody>
      </p:sp>
      <p:sp>
        <p:nvSpPr>
          <p:cNvPr id="9" name="c2">
            <a:extLst>
              <a:ext uri="{FF2B5EF4-FFF2-40B4-BE49-F238E27FC236}">
                <a16:creationId xmlns:a16="http://schemas.microsoft.com/office/drawing/2014/main" id="{8E2B9CB6-16F4-42B3-9A9A-63649279FEB3}"/>
              </a:ext>
            </a:extLst>
          </p:cNvPr>
          <p:cNvSpPr>
            <a:spLocks noGrp="1"/>
          </p:cNvSpPr>
          <p:nvPr/>
        </p:nvSpPr>
        <p:spPr>
          <a:xfrm>
            <a:off x="8077200" y="1371600"/>
            <a:ext cx="3535680" cy="2354580"/>
          </a:xfrm>
          <a:prstGeom prst="roundRect">
            <a:avLst>
              <a:gd name="adj" fmla="val 4660"/>
            </a:avLst>
          </a:prstGeom>
          <a:solidFill>
            <a:srgbClr val="3A3A3A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F1A56F8A-1C0C-47D4-8622-CD76D65CB1F4}"/>
              </a:ext>
            </a:extLst>
          </p:cNvPr>
          <p:cNvSpPr>
            <a:spLocks noGrp="1"/>
          </p:cNvSpPr>
          <p:nvPr/>
        </p:nvSpPr>
        <p:spPr>
          <a:xfrm>
            <a:off x="8305800" y="1554480"/>
            <a:ext cx="307848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800" b="1">
                <a:solidFill>
                  <a:srgbClr val="F2B632"/>
                </a:solidFill>
                <a:latin typeface="Arial"/>
                <a:ea typeface="Arial"/>
                <a:cs typeface="Arial"/>
              </a:rPr>
              <a:t>Quản lý lịch đặt</a:t>
            </a:r>
            <a:endParaRPr sz="180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C94FEF0F-0B71-4889-9A5C-0221D4AACFB7}"/>
              </a:ext>
            </a:extLst>
          </p:cNvPr>
          <p:cNvSpPr>
            <a:spLocks noGrp="1"/>
          </p:cNvSpPr>
          <p:nvPr/>
        </p:nvSpPr>
        <p:spPr>
          <a:xfrm>
            <a:off x="8305800" y="2103120"/>
            <a:ext cx="3078480" cy="14401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400">
                <a:solidFill>
                  <a:srgbClr val="FFFFFF"/>
                </a:solidFill>
                <a:latin typeface="Arial"/>
                <a:ea typeface="Arial"/>
                <a:cs typeface="Arial"/>
              </a:rPr>
              <a:t>Xem yêu cầu và chi tiết</a:t>
            </a:r>
            <a:endParaRPr sz="140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400">
                <a:solidFill>
                  <a:srgbClr val="FFFFFF"/>
                </a:solidFill>
                <a:latin typeface="Arial"/>
                <a:ea typeface="Arial"/>
                <a:cs typeface="Arial"/>
              </a:rPr>
              <a:t>Xác nhận, từ chối, hủy</a:t>
            </a:r>
            <a:endParaRPr sz="140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400">
                <a:solidFill>
                  <a:srgbClr val="FFFFFF"/>
                </a:solidFill>
                <a:latin typeface="Arial"/>
                <a:ea typeface="Arial"/>
                <a:cs typeface="Arial"/>
              </a:rPr>
              <a:t>Lọc theo ngày, sân, trạng thái</a:t>
            </a:r>
            <a:endParaRPr sz="1400"/>
          </a:p>
        </p:txBody>
      </p:sp>
      <p:sp>
        <p:nvSpPr>
          <p:cNvPr id="12" name="c3">
            <a:extLst>
              <a:ext uri="{FF2B5EF4-FFF2-40B4-BE49-F238E27FC236}">
                <a16:creationId xmlns:a16="http://schemas.microsoft.com/office/drawing/2014/main" id="{94C98D1E-DA51-405F-8732-37E0F9FF9E8C}"/>
              </a:ext>
            </a:extLst>
          </p:cNvPr>
          <p:cNvSpPr>
            <a:spLocks noGrp="1"/>
          </p:cNvSpPr>
          <p:nvPr/>
        </p:nvSpPr>
        <p:spPr>
          <a:xfrm>
            <a:off x="548640" y="3954780"/>
            <a:ext cx="3535680" cy="2354580"/>
          </a:xfrm>
          <a:prstGeom prst="roundRect">
            <a:avLst>
              <a:gd name="adj" fmla="val 4660"/>
            </a:avLst>
          </a:prstGeom>
          <a:solidFill>
            <a:srgbClr val="3A3A3A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2F656AE2-12E5-46C9-A502-34B9CFE8A7C8}"/>
              </a:ext>
            </a:extLst>
          </p:cNvPr>
          <p:cNvSpPr>
            <a:spLocks noGrp="1"/>
          </p:cNvSpPr>
          <p:nvPr/>
        </p:nvSpPr>
        <p:spPr>
          <a:xfrm>
            <a:off x="777240" y="4137660"/>
            <a:ext cx="307848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800" b="1">
                <a:solidFill>
                  <a:srgbClr val="F2B632"/>
                </a:solidFill>
                <a:latin typeface="Arial"/>
                <a:ea typeface="Arial"/>
                <a:cs typeface="Arial"/>
              </a:rPr>
              <a:t>Doanh thu</a:t>
            </a:r>
            <a:endParaRPr sz="180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38B9D1AF-0243-4415-AD00-F9F3D5B28CE3}"/>
              </a:ext>
            </a:extLst>
          </p:cNvPr>
          <p:cNvSpPr>
            <a:spLocks noGrp="1"/>
          </p:cNvSpPr>
          <p:nvPr/>
        </p:nvSpPr>
        <p:spPr>
          <a:xfrm>
            <a:off x="777240" y="4686300"/>
            <a:ext cx="3078480" cy="14401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400">
                <a:solidFill>
                  <a:srgbClr val="FFFFFF"/>
                </a:solidFill>
                <a:latin typeface="Arial"/>
                <a:ea typeface="Arial"/>
                <a:cs typeface="Arial"/>
              </a:rPr>
              <a:t>Theo ngày, tuần, tháng, năm</a:t>
            </a:r>
            <a:endParaRPr sz="140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400">
                <a:solidFill>
                  <a:srgbClr val="FFFFFF"/>
                </a:solidFill>
                <a:latin typeface="Arial"/>
                <a:ea typeface="Arial"/>
                <a:cs typeface="Arial"/>
              </a:rPr>
              <a:t>Theo từng sân</a:t>
            </a:r>
            <a:endParaRPr sz="140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400">
                <a:solidFill>
                  <a:srgbClr val="FFFFFF"/>
                </a:solidFill>
                <a:latin typeface="Arial"/>
                <a:ea typeface="Arial"/>
                <a:cs typeface="Arial"/>
              </a:rPr>
              <a:t>Biểu đồ, giờ được đặt nhiều</a:t>
            </a:r>
            <a:endParaRPr sz="1400"/>
          </a:p>
        </p:txBody>
      </p:sp>
      <p:sp>
        <p:nvSpPr>
          <p:cNvPr id="15" name="c4">
            <a:extLst>
              <a:ext uri="{FF2B5EF4-FFF2-40B4-BE49-F238E27FC236}">
                <a16:creationId xmlns:a16="http://schemas.microsoft.com/office/drawing/2014/main" id="{AF8CEB78-7A4B-4E3E-9D25-44E9BF421E16}"/>
              </a:ext>
            </a:extLst>
          </p:cNvPr>
          <p:cNvSpPr>
            <a:spLocks noGrp="1"/>
          </p:cNvSpPr>
          <p:nvPr/>
        </p:nvSpPr>
        <p:spPr>
          <a:xfrm>
            <a:off x="4312920" y="3954780"/>
            <a:ext cx="3535680" cy="2354580"/>
          </a:xfrm>
          <a:prstGeom prst="roundRect">
            <a:avLst>
              <a:gd name="adj" fmla="val 4660"/>
            </a:avLst>
          </a:prstGeom>
          <a:solidFill>
            <a:srgbClr val="3A3A3A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9735D24C-0F5C-468A-85BA-76C64B446829}"/>
              </a:ext>
            </a:extLst>
          </p:cNvPr>
          <p:cNvSpPr>
            <a:spLocks noGrp="1"/>
          </p:cNvSpPr>
          <p:nvPr/>
        </p:nvSpPr>
        <p:spPr>
          <a:xfrm>
            <a:off x="4541520" y="4137660"/>
            <a:ext cx="307848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800" b="1">
                <a:solidFill>
                  <a:srgbClr val="F2B632"/>
                </a:solidFill>
                <a:latin typeface="Arial"/>
                <a:ea typeface="Arial"/>
                <a:cs typeface="Arial"/>
              </a:rPr>
              <a:t>Đánh giá</a:t>
            </a:r>
            <a:endParaRPr sz="180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8E489779-504B-44FE-92F0-366FD94774EC}"/>
              </a:ext>
            </a:extLst>
          </p:cNvPr>
          <p:cNvSpPr>
            <a:spLocks noGrp="1"/>
          </p:cNvSpPr>
          <p:nvPr/>
        </p:nvSpPr>
        <p:spPr>
          <a:xfrm>
            <a:off x="4541520" y="4686300"/>
            <a:ext cx="3078480" cy="14401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400">
                <a:solidFill>
                  <a:srgbClr val="FFFFFF"/>
                </a:solidFill>
                <a:latin typeface="Arial"/>
                <a:ea typeface="Arial"/>
                <a:cs typeface="Arial"/>
              </a:rPr>
              <a:t>Xem sao và nhận xét</a:t>
            </a:r>
            <a:endParaRPr sz="140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400">
                <a:solidFill>
                  <a:srgbClr val="FFFFFF"/>
                </a:solidFill>
                <a:latin typeface="Arial"/>
                <a:ea typeface="Arial"/>
                <a:cs typeface="Arial"/>
              </a:rPr>
              <a:t>Phản hồi khách hàng</a:t>
            </a:r>
            <a:endParaRPr sz="140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400">
                <a:solidFill>
                  <a:srgbClr val="FFFFFF"/>
                </a:solidFill>
                <a:latin typeface="Arial"/>
                <a:ea typeface="Arial"/>
                <a:cs typeface="Arial"/>
              </a:rPr>
              <a:t>Báo cáo nội dung không phù hợp</a:t>
            </a:r>
            <a:endParaRPr sz="1400"/>
          </a:p>
        </p:txBody>
      </p:sp>
      <p:sp>
        <p:nvSpPr>
          <p:cNvPr id="18" name="c5">
            <a:extLst>
              <a:ext uri="{FF2B5EF4-FFF2-40B4-BE49-F238E27FC236}">
                <a16:creationId xmlns:a16="http://schemas.microsoft.com/office/drawing/2014/main" id="{10FBCC55-33E6-4FDD-8134-C1617038B78C}"/>
              </a:ext>
            </a:extLst>
          </p:cNvPr>
          <p:cNvSpPr>
            <a:spLocks noGrp="1"/>
          </p:cNvSpPr>
          <p:nvPr/>
        </p:nvSpPr>
        <p:spPr>
          <a:xfrm>
            <a:off x="8077200" y="3954780"/>
            <a:ext cx="3535680" cy="2354580"/>
          </a:xfrm>
          <a:prstGeom prst="roundRect">
            <a:avLst>
              <a:gd name="adj" fmla="val 4660"/>
            </a:avLst>
          </a:prstGeom>
          <a:solidFill>
            <a:srgbClr val="3A3A3A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DB4878A9-3BD3-4912-B2C5-42C9F2ED4965}"/>
              </a:ext>
            </a:extLst>
          </p:cNvPr>
          <p:cNvSpPr>
            <a:spLocks noGrp="1"/>
          </p:cNvSpPr>
          <p:nvPr/>
        </p:nvSpPr>
        <p:spPr>
          <a:xfrm>
            <a:off x="8305800" y="4137660"/>
            <a:ext cx="307848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800" b="1">
                <a:solidFill>
                  <a:srgbClr val="F2B632"/>
                </a:solidFill>
                <a:latin typeface="Arial"/>
                <a:ea typeface="Arial"/>
                <a:cs typeface="Arial"/>
              </a:rPr>
              <a:t>Thông báo</a:t>
            </a:r>
            <a:endParaRPr sz="180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AE8828C8-D18C-42AC-875F-B48297BD1ECF}"/>
              </a:ext>
            </a:extLst>
          </p:cNvPr>
          <p:cNvSpPr>
            <a:spLocks noGrp="1"/>
          </p:cNvSpPr>
          <p:nvPr/>
        </p:nvSpPr>
        <p:spPr>
          <a:xfrm>
            <a:off x="8305800" y="4686300"/>
            <a:ext cx="3078480" cy="14401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400">
                <a:solidFill>
                  <a:srgbClr val="FFFFFF"/>
                </a:solidFill>
                <a:latin typeface="Arial"/>
                <a:ea typeface="Arial"/>
                <a:cs typeface="Arial"/>
              </a:rPr>
              <a:t>Khi có khách đặt hoặc hủy</a:t>
            </a:r>
            <a:endParaRPr sz="140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400">
                <a:solidFill>
                  <a:srgbClr val="FFFFFF"/>
                </a:solidFill>
                <a:latin typeface="Arial"/>
                <a:ea typeface="Arial"/>
                <a:cs typeface="Arial"/>
              </a:rPr>
              <a:t>Khi có thanh toán</a:t>
            </a:r>
            <a:endParaRPr sz="140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400">
                <a:solidFill>
                  <a:srgbClr val="FFFFFF"/>
                </a:solidFill>
                <a:latin typeface="Arial"/>
                <a:ea typeface="Arial"/>
                <a:cs typeface="Arial"/>
              </a:rPr>
              <a:t>Gửi thông báo lịch cho khách</a:t>
            </a: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17281837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B6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C24FBE4-F09D-47B0-AD51-0DC1E7AB87E3}"/>
              </a:ext>
            </a:extLst>
          </p:cNvPr>
          <p:cNvSpPr>
            <a:spLocks noGrp="1"/>
          </p:cNvSpPr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400" b="1">
                <a:solidFill>
                  <a:srgbClr val="2B2B2B"/>
                </a:solidFill>
                <a:latin typeface="Arial"/>
                <a:ea typeface="Arial"/>
                <a:cs typeface="Arial"/>
              </a:rPr>
              <a:t>CHỨC NĂNG: QUẢN TRỊ VIÊN</a:t>
            </a:r>
            <a:endParaRPr sz="3400"/>
          </a:p>
        </p:txBody>
      </p:sp>
      <p:sp>
        <p:nvSpPr>
          <p:cNvPr id="3" name="c0">
            <a:extLst>
              <a:ext uri="{FF2B5EF4-FFF2-40B4-BE49-F238E27FC236}">
                <a16:creationId xmlns:a16="http://schemas.microsoft.com/office/drawing/2014/main" id="{CD872301-7B42-4FF1-A335-B24F7809E00B}"/>
              </a:ext>
            </a:extLst>
          </p:cNvPr>
          <p:cNvSpPr>
            <a:spLocks noGrp="1"/>
          </p:cNvSpPr>
          <p:nvPr/>
        </p:nvSpPr>
        <p:spPr>
          <a:xfrm>
            <a:off x="548640" y="1371600"/>
            <a:ext cx="3535680" cy="2354580"/>
          </a:xfrm>
          <a:prstGeom prst="roundRect">
            <a:avLst>
              <a:gd name="adj" fmla="val 466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5CA8E7D-0FF6-4ECA-8505-FB37C84FBE7F}"/>
              </a:ext>
            </a:extLst>
          </p:cNvPr>
          <p:cNvSpPr>
            <a:spLocks noGrp="1"/>
          </p:cNvSpPr>
          <p:nvPr/>
        </p:nvSpPr>
        <p:spPr>
          <a:xfrm>
            <a:off x="777240" y="1554480"/>
            <a:ext cx="307848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800" b="1">
                <a:solidFill>
                  <a:srgbClr val="2B2B2B"/>
                </a:solidFill>
                <a:latin typeface="Arial"/>
                <a:ea typeface="Arial"/>
                <a:cs typeface="Arial"/>
              </a:rPr>
              <a:t>Người dùng &amp; chủ sân</a:t>
            </a:r>
            <a:endParaRPr sz="18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1C3E73C-5851-4D91-8592-9188418299A7}"/>
              </a:ext>
            </a:extLst>
          </p:cNvPr>
          <p:cNvSpPr>
            <a:spLocks noGrp="1"/>
          </p:cNvSpPr>
          <p:nvPr/>
        </p:nvSpPr>
        <p:spPr>
          <a:xfrm>
            <a:off x="777240" y="2103120"/>
            <a:ext cx="3078480" cy="14401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400">
                <a:solidFill>
                  <a:srgbClr val="333333"/>
                </a:solidFill>
                <a:latin typeface="Arial"/>
                <a:ea typeface="Arial"/>
                <a:cs typeface="Arial"/>
              </a:rPr>
              <a:t>Khóa, mở khóa tài khoản</a:t>
            </a:r>
            <a:endParaRPr sz="140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400">
                <a:solidFill>
                  <a:srgbClr val="333333"/>
                </a:solidFill>
                <a:latin typeface="Arial"/>
                <a:ea typeface="Arial"/>
                <a:cs typeface="Arial"/>
              </a:rPr>
              <a:t>Duyệt tài khoản chủ sân</a:t>
            </a:r>
            <a:endParaRPr sz="140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400">
                <a:solidFill>
                  <a:srgbClr val="333333"/>
                </a:solidFill>
                <a:latin typeface="Arial"/>
                <a:ea typeface="Arial"/>
                <a:cs typeface="Arial"/>
              </a:rPr>
              <a:t>Xử lý vi phạm</a:t>
            </a:r>
            <a:endParaRPr sz="1400"/>
          </a:p>
        </p:txBody>
      </p:sp>
      <p:sp>
        <p:nvSpPr>
          <p:cNvPr id="6" name="c1">
            <a:extLst>
              <a:ext uri="{FF2B5EF4-FFF2-40B4-BE49-F238E27FC236}">
                <a16:creationId xmlns:a16="http://schemas.microsoft.com/office/drawing/2014/main" id="{666EE1DF-5911-49DE-9A5C-7E3DDFF3A5D1}"/>
              </a:ext>
            </a:extLst>
          </p:cNvPr>
          <p:cNvSpPr>
            <a:spLocks noGrp="1"/>
          </p:cNvSpPr>
          <p:nvPr/>
        </p:nvSpPr>
        <p:spPr>
          <a:xfrm>
            <a:off x="4312920" y="1371600"/>
            <a:ext cx="3535680" cy="2354580"/>
          </a:xfrm>
          <a:prstGeom prst="roundRect">
            <a:avLst>
              <a:gd name="adj" fmla="val 466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474F3F91-D6DE-46EB-8E28-BCD8E941F597}"/>
              </a:ext>
            </a:extLst>
          </p:cNvPr>
          <p:cNvSpPr>
            <a:spLocks noGrp="1"/>
          </p:cNvSpPr>
          <p:nvPr/>
        </p:nvSpPr>
        <p:spPr>
          <a:xfrm>
            <a:off x="4541520" y="1554480"/>
            <a:ext cx="307848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800" b="1">
                <a:solidFill>
                  <a:srgbClr val="2B2B2B"/>
                </a:solidFill>
                <a:latin typeface="Arial"/>
                <a:ea typeface="Arial"/>
                <a:cs typeface="Arial"/>
              </a:rPr>
              <a:t>Quản lý sân</a:t>
            </a:r>
            <a:endParaRPr sz="180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D31C7CE2-EBC7-485F-A2C4-EC9B84E6E220}"/>
              </a:ext>
            </a:extLst>
          </p:cNvPr>
          <p:cNvSpPr>
            <a:spLocks noGrp="1"/>
          </p:cNvSpPr>
          <p:nvPr/>
        </p:nvSpPr>
        <p:spPr>
          <a:xfrm>
            <a:off x="4541520" y="2103120"/>
            <a:ext cx="3078480" cy="14401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400">
                <a:solidFill>
                  <a:srgbClr val="333333"/>
                </a:solidFill>
                <a:latin typeface="Arial"/>
                <a:ea typeface="Arial"/>
                <a:cs typeface="Arial"/>
              </a:rPr>
              <a:t>Kiểm duyệt sân mới</a:t>
            </a:r>
            <a:endParaRPr sz="140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400">
                <a:solidFill>
                  <a:srgbClr val="333333"/>
                </a:solidFill>
                <a:latin typeface="Arial"/>
                <a:ea typeface="Arial"/>
                <a:cs typeface="Arial"/>
              </a:rPr>
              <a:t>Duyệt, từ chối, tạm khóa</a:t>
            </a:r>
            <a:endParaRPr sz="140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400">
                <a:solidFill>
                  <a:srgbClr val="333333"/>
                </a:solidFill>
                <a:latin typeface="Arial"/>
                <a:ea typeface="Arial"/>
                <a:cs typeface="Arial"/>
              </a:rPr>
              <a:t>Quản lý trạng thái hoạt động</a:t>
            </a:r>
            <a:endParaRPr sz="1400"/>
          </a:p>
        </p:txBody>
      </p:sp>
      <p:sp>
        <p:nvSpPr>
          <p:cNvPr id="9" name="c2">
            <a:extLst>
              <a:ext uri="{FF2B5EF4-FFF2-40B4-BE49-F238E27FC236}">
                <a16:creationId xmlns:a16="http://schemas.microsoft.com/office/drawing/2014/main" id="{63C80B32-4A8F-4BCF-B57D-5DA17AFABEB6}"/>
              </a:ext>
            </a:extLst>
          </p:cNvPr>
          <p:cNvSpPr>
            <a:spLocks noGrp="1"/>
          </p:cNvSpPr>
          <p:nvPr/>
        </p:nvSpPr>
        <p:spPr>
          <a:xfrm>
            <a:off x="8077200" y="1371600"/>
            <a:ext cx="3535680" cy="2354580"/>
          </a:xfrm>
          <a:prstGeom prst="roundRect">
            <a:avLst>
              <a:gd name="adj" fmla="val 466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8195F710-C706-46FA-9725-1D0C376951E1}"/>
              </a:ext>
            </a:extLst>
          </p:cNvPr>
          <p:cNvSpPr>
            <a:spLocks noGrp="1"/>
          </p:cNvSpPr>
          <p:nvPr/>
        </p:nvSpPr>
        <p:spPr>
          <a:xfrm>
            <a:off x="8305800" y="1554480"/>
            <a:ext cx="307848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800" b="1">
                <a:solidFill>
                  <a:srgbClr val="2B2B2B"/>
                </a:solidFill>
                <a:latin typeface="Arial"/>
                <a:ea typeface="Arial"/>
                <a:cs typeface="Arial"/>
              </a:rPr>
              <a:t>Lịch đặt</a:t>
            </a:r>
            <a:endParaRPr sz="180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82F23A47-B74D-4F8D-ACED-199BEAF2A822}"/>
              </a:ext>
            </a:extLst>
          </p:cNvPr>
          <p:cNvSpPr>
            <a:spLocks noGrp="1"/>
          </p:cNvSpPr>
          <p:nvPr/>
        </p:nvSpPr>
        <p:spPr>
          <a:xfrm>
            <a:off x="8305800" y="2103120"/>
            <a:ext cx="3078480" cy="14401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400">
                <a:solidFill>
                  <a:srgbClr val="333333"/>
                </a:solidFill>
                <a:latin typeface="Arial"/>
                <a:ea typeface="Arial"/>
                <a:cs typeface="Arial"/>
              </a:rPr>
              <a:t>Xem, lọc toàn bộ lịch đặt</a:t>
            </a:r>
            <a:endParaRPr sz="140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400">
                <a:solidFill>
                  <a:srgbClr val="333333"/>
                </a:solidFill>
                <a:latin typeface="Arial"/>
                <a:ea typeface="Arial"/>
                <a:cs typeface="Arial"/>
              </a:rPr>
              <a:t>Theo dõi lịch bị hủy</a:t>
            </a:r>
            <a:endParaRPr sz="140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400">
                <a:solidFill>
                  <a:srgbClr val="333333"/>
                </a:solidFill>
                <a:latin typeface="Arial"/>
                <a:ea typeface="Arial"/>
                <a:cs typeface="Arial"/>
              </a:rPr>
              <a:t>Hỗ trợ xử lý tranh chấp</a:t>
            </a:r>
            <a:endParaRPr sz="1400"/>
          </a:p>
        </p:txBody>
      </p:sp>
      <p:sp>
        <p:nvSpPr>
          <p:cNvPr id="12" name="c3">
            <a:extLst>
              <a:ext uri="{FF2B5EF4-FFF2-40B4-BE49-F238E27FC236}">
                <a16:creationId xmlns:a16="http://schemas.microsoft.com/office/drawing/2014/main" id="{F2BF7187-22B5-4797-9519-09899B3EC03E}"/>
              </a:ext>
            </a:extLst>
          </p:cNvPr>
          <p:cNvSpPr>
            <a:spLocks noGrp="1"/>
          </p:cNvSpPr>
          <p:nvPr/>
        </p:nvSpPr>
        <p:spPr>
          <a:xfrm>
            <a:off x="548640" y="3954780"/>
            <a:ext cx="3535680" cy="2354580"/>
          </a:xfrm>
          <a:prstGeom prst="roundRect">
            <a:avLst>
              <a:gd name="adj" fmla="val 466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15A36A62-43E7-4F58-87D0-E660CAB4FB5D}"/>
              </a:ext>
            </a:extLst>
          </p:cNvPr>
          <p:cNvSpPr>
            <a:spLocks noGrp="1"/>
          </p:cNvSpPr>
          <p:nvPr/>
        </p:nvSpPr>
        <p:spPr>
          <a:xfrm>
            <a:off x="777240" y="4137660"/>
            <a:ext cx="307848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800" b="1">
                <a:solidFill>
                  <a:srgbClr val="2B2B2B"/>
                </a:solidFill>
                <a:latin typeface="Arial"/>
                <a:ea typeface="Arial"/>
                <a:cs typeface="Arial"/>
              </a:rPr>
              <a:t>Thông báo &amp; khuyến mãi</a:t>
            </a:r>
            <a:endParaRPr sz="180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5A446779-6A71-4515-A14C-043A5F8FF8B6}"/>
              </a:ext>
            </a:extLst>
          </p:cNvPr>
          <p:cNvSpPr>
            <a:spLocks noGrp="1"/>
          </p:cNvSpPr>
          <p:nvPr/>
        </p:nvSpPr>
        <p:spPr>
          <a:xfrm>
            <a:off x="777240" y="4686300"/>
            <a:ext cx="3078480" cy="14401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400">
                <a:solidFill>
                  <a:srgbClr val="333333"/>
                </a:solidFill>
                <a:latin typeface="Arial"/>
                <a:ea typeface="Arial"/>
                <a:cs typeface="Arial"/>
              </a:rPr>
              <a:t>Gửi thông báo toàn hệ thống</a:t>
            </a:r>
            <a:endParaRPr sz="140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400">
                <a:solidFill>
                  <a:srgbClr val="333333"/>
                </a:solidFill>
                <a:latin typeface="Arial"/>
                <a:ea typeface="Arial"/>
                <a:cs typeface="Arial"/>
              </a:rPr>
              <a:t>Tạo mã giảm giá</a:t>
            </a:r>
            <a:endParaRPr sz="140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400">
                <a:solidFill>
                  <a:srgbClr val="333333"/>
                </a:solidFill>
                <a:latin typeface="Arial"/>
                <a:ea typeface="Arial"/>
                <a:cs typeface="Arial"/>
              </a:rPr>
              <a:t>Đặt thời gian, số lượt dùng</a:t>
            </a:r>
            <a:endParaRPr sz="1400"/>
          </a:p>
        </p:txBody>
      </p:sp>
      <p:sp>
        <p:nvSpPr>
          <p:cNvPr id="15" name="c4">
            <a:extLst>
              <a:ext uri="{FF2B5EF4-FFF2-40B4-BE49-F238E27FC236}">
                <a16:creationId xmlns:a16="http://schemas.microsoft.com/office/drawing/2014/main" id="{7BC6045D-F03A-4FC6-AADD-DE527BE5F674}"/>
              </a:ext>
            </a:extLst>
          </p:cNvPr>
          <p:cNvSpPr>
            <a:spLocks noGrp="1"/>
          </p:cNvSpPr>
          <p:nvPr/>
        </p:nvSpPr>
        <p:spPr>
          <a:xfrm>
            <a:off x="4312920" y="3954780"/>
            <a:ext cx="3535680" cy="2354580"/>
          </a:xfrm>
          <a:prstGeom prst="roundRect">
            <a:avLst>
              <a:gd name="adj" fmla="val 466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4A93A7F4-E611-4526-BE63-A474034949D8}"/>
              </a:ext>
            </a:extLst>
          </p:cNvPr>
          <p:cNvSpPr>
            <a:spLocks noGrp="1"/>
          </p:cNvSpPr>
          <p:nvPr/>
        </p:nvSpPr>
        <p:spPr>
          <a:xfrm>
            <a:off x="4541520" y="4137660"/>
            <a:ext cx="307848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800" b="1">
                <a:solidFill>
                  <a:srgbClr val="2B2B2B"/>
                </a:solidFill>
                <a:latin typeface="Arial"/>
                <a:ea typeface="Arial"/>
                <a:cs typeface="Arial"/>
              </a:rPr>
              <a:t>Đánh giá &amp; khiếu nại</a:t>
            </a:r>
            <a:endParaRPr sz="180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988D2FEB-6029-48A9-980D-3C4205CA14F9}"/>
              </a:ext>
            </a:extLst>
          </p:cNvPr>
          <p:cNvSpPr>
            <a:spLocks noGrp="1"/>
          </p:cNvSpPr>
          <p:nvPr/>
        </p:nvSpPr>
        <p:spPr>
          <a:xfrm>
            <a:off x="4541520" y="4686300"/>
            <a:ext cx="3078480" cy="14401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400">
                <a:solidFill>
                  <a:srgbClr val="333333"/>
                </a:solidFill>
                <a:latin typeface="Arial"/>
                <a:ea typeface="Arial"/>
                <a:cs typeface="Arial"/>
              </a:rPr>
              <a:t>Xóa đánh giá vi phạm</a:t>
            </a:r>
            <a:endParaRPr sz="140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400">
                <a:solidFill>
                  <a:srgbClr val="333333"/>
                </a:solidFill>
                <a:latin typeface="Arial"/>
                <a:ea typeface="Arial"/>
                <a:cs typeface="Arial"/>
              </a:rPr>
              <a:t>Tiếp nhận, xử lý khiếu nại</a:t>
            </a:r>
            <a:endParaRPr sz="140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400">
                <a:solidFill>
                  <a:srgbClr val="333333"/>
                </a:solidFill>
                <a:latin typeface="Arial"/>
                <a:ea typeface="Arial"/>
                <a:cs typeface="Arial"/>
              </a:rPr>
              <a:t>Xem phản hồi người dùng</a:t>
            </a:r>
            <a:endParaRPr sz="1400"/>
          </a:p>
        </p:txBody>
      </p:sp>
      <p:sp>
        <p:nvSpPr>
          <p:cNvPr id="18" name="c5">
            <a:extLst>
              <a:ext uri="{FF2B5EF4-FFF2-40B4-BE49-F238E27FC236}">
                <a16:creationId xmlns:a16="http://schemas.microsoft.com/office/drawing/2014/main" id="{21F7E5AF-175D-4B66-BFF8-0AFADA9B5E89}"/>
              </a:ext>
            </a:extLst>
          </p:cNvPr>
          <p:cNvSpPr>
            <a:spLocks noGrp="1"/>
          </p:cNvSpPr>
          <p:nvPr/>
        </p:nvSpPr>
        <p:spPr>
          <a:xfrm>
            <a:off x="8077200" y="3954780"/>
            <a:ext cx="3535680" cy="2354580"/>
          </a:xfrm>
          <a:prstGeom prst="roundRect">
            <a:avLst>
              <a:gd name="adj" fmla="val 466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12AB1E3F-C104-4325-AD6F-282B30D6EBC6}"/>
              </a:ext>
            </a:extLst>
          </p:cNvPr>
          <p:cNvSpPr>
            <a:spLocks noGrp="1"/>
          </p:cNvSpPr>
          <p:nvPr/>
        </p:nvSpPr>
        <p:spPr>
          <a:xfrm>
            <a:off x="8305800" y="4137660"/>
            <a:ext cx="307848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800" b="1">
                <a:solidFill>
                  <a:srgbClr val="2B2B2B"/>
                </a:solidFill>
                <a:latin typeface="Arial"/>
                <a:ea typeface="Arial"/>
                <a:cs typeface="Arial"/>
              </a:rPr>
              <a:t>Thống kê &amp; báo cáo</a:t>
            </a:r>
            <a:endParaRPr sz="180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20E835A6-3D7E-45C8-856B-5963F04D5F35}"/>
              </a:ext>
            </a:extLst>
          </p:cNvPr>
          <p:cNvSpPr>
            <a:spLocks noGrp="1"/>
          </p:cNvSpPr>
          <p:nvPr/>
        </p:nvSpPr>
        <p:spPr>
          <a:xfrm>
            <a:off x="8305800" y="4686300"/>
            <a:ext cx="3078480" cy="14401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400">
                <a:solidFill>
                  <a:srgbClr val="333333"/>
                </a:solidFill>
                <a:latin typeface="Arial"/>
                <a:ea typeface="Arial"/>
                <a:cs typeface="Arial"/>
              </a:rPr>
              <a:t>Tổng người dùng, chủ sân, sân</a:t>
            </a:r>
            <a:endParaRPr sz="140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400">
                <a:solidFill>
                  <a:srgbClr val="333333"/>
                </a:solidFill>
                <a:latin typeface="Arial"/>
                <a:ea typeface="Arial"/>
                <a:cs typeface="Arial"/>
              </a:rPr>
              <a:t>Lượt đặt, lượt hủy, doanh thu</a:t>
            </a:r>
            <a:endParaRPr sz="140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400">
                <a:solidFill>
                  <a:srgbClr val="333333"/>
                </a:solidFill>
                <a:latin typeface="Arial"/>
                <a:ea typeface="Arial"/>
                <a:cs typeface="Arial"/>
              </a:rPr>
              <a:t>Biểu đồ tăng trưởng</a:t>
            </a: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4726251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2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792FC68-572B-483E-8456-A97B0CD113A2}"/>
              </a:ext>
            </a:extLst>
          </p:cNvPr>
          <p:cNvSpPr>
            <a:spLocks noGrp="1"/>
          </p:cNvSpPr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400" b="1">
                <a:solidFill>
                  <a:srgbClr val="F2B632"/>
                </a:solidFill>
                <a:latin typeface="Arial"/>
                <a:ea typeface="Arial"/>
                <a:cs typeface="Arial"/>
              </a:rPr>
              <a:t>CHỨC NĂNG BỔ SUNG</a:t>
            </a:r>
            <a:endParaRPr sz="3400"/>
          </a:p>
        </p:txBody>
      </p:sp>
      <p:sp>
        <p:nvSpPr>
          <p:cNvPr id="3" name="c0">
            <a:extLst>
              <a:ext uri="{FF2B5EF4-FFF2-40B4-BE49-F238E27FC236}">
                <a16:creationId xmlns:a16="http://schemas.microsoft.com/office/drawing/2014/main" id="{D3C2D954-9909-41B0-A77C-912BA7F8B8A1}"/>
              </a:ext>
            </a:extLst>
          </p:cNvPr>
          <p:cNvSpPr>
            <a:spLocks noGrp="1"/>
          </p:cNvSpPr>
          <p:nvPr/>
        </p:nvSpPr>
        <p:spPr>
          <a:xfrm>
            <a:off x="548640" y="1371600"/>
            <a:ext cx="5417820" cy="2354580"/>
          </a:xfrm>
          <a:prstGeom prst="roundRect">
            <a:avLst>
              <a:gd name="adj" fmla="val 4660"/>
            </a:avLst>
          </a:prstGeom>
          <a:solidFill>
            <a:srgbClr val="3A3A3A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EB723AE-766A-4FBC-BD3F-18D3D2006D8E}"/>
              </a:ext>
            </a:extLst>
          </p:cNvPr>
          <p:cNvSpPr>
            <a:spLocks noGrp="1"/>
          </p:cNvSpPr>
          <p:nvPr/>
        </p:nvSpPr>
        <p:spPr>
          <a:xfrm>
            <a:off x="777240" y="1554480"/>
            <a:ext cx="496062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800" b="1">
                <a:solidFill>
                  <a:srgbClr val="F2B632"/>
                </a:solidFill>
                <a:latin typeface="Arial"/>
                <a:ea typeface="Arial"/>
                <a:cs typeface="Arial"/>
              </a:rPr>
              <a:t>Bản đồ và vị trí</a:t>
            </a:r>
            <a:endParaRPr sz="18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E455493E-D59C-4CF8-9FE1-A7C7529DBE39}"/>
              </a:ext>
            </a:extLst>
          </p:cNvPr>
          <p:cNvSpPr>
            <a:spLocks noGrp="1"/>
          </p:cNvSpPr>
          <p:nvPr/>
        </p:nvSpPr>
        <p:spPr>
          <a:xfrm>
            <a:off x="777240" y="2103120"/>
            <a:ext cx="4960620" cy="14401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400">
                <a:solidFill>
                  <a:srgbClr val="FFFFFF"/>
                </a:solidFill>
                <a:latin typeface="Arial"/>
                <a:ea typeface="Arial"/>
                <a:cs typeface="Arial"/>
              </a:rPr>
              <a:t>Hiển thị sân trên bản đồ</a:t>
            </a:r>
            <a:endParaRPr sz="140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400">
                <a:solidFill>
                  <a:srgbClr val="FFFFFF"/>
                </a:solidFill>
                <a:latin typeface="Arial"/>
                <a:ea typeface="Arial"/>
                <a:cs typeface="Arial"/>
              </a:rPr>
              <a:t>Tìm sân gần, xem khoảng cách</a:t>
            </a:r>
            <a:endParaRPr sz="140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400">
                <a:solidFill>
                  <a:srgbClr val="FFFFFF"/>
                </a:solidFill>
                <a:latin typeface="Arial"/>
                <a:ea typeface="Arial"/>
                <a:cs typeface="Arial"/>
              </a:rPr>
              <a:t>Chỉ đường (Google Maps)</a:t>
            </a:r>
            <a:endParaRPr sz="1400"/>
          </a:p>
        </p:txBody>
      </p:sp>
      <p:sp>
        <p:nvSpPr>
          <p:cNvPr id="6" name="c1">
            <a:extLst>
              <a:ext uri="{FF2B5EF4-FFF2-40B4-BE49-F238E27FC236}">
                <a16:creationId xmlns:a16="http://schemas.microsoft.com/office/drawing/2014/main" id="{39E543DA-56E6-4E9B-AB0F-52CFBAF5218D}"/>
              </a:ext>
            </a:extLst>
          </p:cNvPr>
          <p:cNvSpPr>
            <a:spLocks noGrp="1"/>
          </p:cNvSpPr>
          <p:nvPr/>
        </p:nvSpPr>
        <p:spPr>
          <a:xfrm>
            <a:off x="6195060" y="1371600"/>
            <a:ext cx="5417820" cy="2354580"/>
          </a:xfrm>
          <a:prstGeom prst="roundRect">
            <a:avLst>
              <a:gd name="adj" fmla="val 4660"/>
            </a:avLst>
          </a:prstGeom>
          <a:solidFill>
            <a:srgbClr val="3A3A3A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F18ECBF3-5274-4552-9BF0-22CB7705B3DA}"/>
              </a:ext>
            </a:extLst>
          </p:cNvPr>
          <p:cNvSpPr>
            <a:spLocks noGrp="1"/>
          </p:cNvSpPr>
          <p:nvPr/>
        </p:nvSpPr>
        <p:spPr>
          <a:xfrm>
            <a:off x="6423660" y="1554480"/>
            <a:ext cx="496062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800" b="1">
                <a:solidFill>
                  <a:srgbClr val="F2B632"/>
                </a:solidFill>
                <a:latin typeface="Arial"/>
                <a:ea typeface="Arial"/>
                <a:cs typeface="Arial"/>
              </a:rPr>
              <a:t>Tìm đội / tìm người chơi</a:t>
            </a:r>
            <a:endParaRPr sz="180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17C4C1CF-1742-46E5-A3B9-C5F098F3E23B}"/>
              </a:ext>
            </a:extLst>
          </p:cNvPr>
          <p:cNvSpPr>
            <a:spLocks noGrp="1"/>
          </p:cNvSpPr>
          <p:nvPr/>
        </p:nvSpPr>
        <p:spPr>
          <a:xfrm>
            <a:off x="6423660" y="2103120"/>
            <a:ext cx="4960620" cy="14401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400">
                <a:solidFill>
                  <a:srgbClr val="FFFFFF"/>
                </a:solidFill>
                <a:latin typeface="Arial"/>
                <a:ea typeface="Arial"/>
                <a:cs typeface="Arial"/>
              </a:rPr>
              <a:t>Đăng bài tìm người chơi</a:t>
            </a:r>
            <a:endParaRPr sz="140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400">
                <a:solidFill>
                  <a:srgbClr val="FFFFFF"/>
                </a:solidFill>
                <a:latin typeface="Arial"/>
                <a:ea typeface="Arial"/>
                <a:cs typeface="Arial"/>
              </a:rPr>
              <a:t>Nêu sân, giờ, số người cần</a:t>
            </a:r>
            <a:endParaRPr sz="140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400">
                <a:solidFill>
                  <a:srgbClr val="FFFFFF"/>
                </a:solidFill>
                <a:latin typeface="Arial"/>
                <a:ea typeface="Arial"/>
                <a:cs typeface="Arial"/>
              </a:rPr>
              <a:t>Người khác gửi yêu cầu tham gia</a:t>
            </a:r>
            <a:endParaRPr sz="1400"/>
          </a:p>
        </p:txBody>
      </p:sp>
      <p:sp>
        <p:nvSpPr>
          <p:cNvPr id="9" name="c2">
            <a:extLst>
              <a:ext uri="{FF2B5EF4-FFF2-40B4-BE49-F238E27FC236}">
                <a16:creationId xmlns:a16="http://schemas.microsoft.com/office/drawing/2014/main" id="{560EA1C2-9391-45BB-96C3-B75746D39274}"/>
              </a:ext>
            </a:extLst>
          </p:cNvPr>
          <p:cNvSpPr>
            <a:spLocks noGrp="1"/>
          </p:cNvSpPr>
          <p:nvPr/>
        </p:nvSpPr>
        <p:spPr>
          <a:xfrm>
            <a:off x="548640" y="3954780"/>
            <a:ext cx="5417820" cy="2354580"/>
          </a:xfrm>
          <a:prstGeom prst="roundRect">
            <a:avLst>
              <a:gd name="adj" fmla="val 4660"/>
            </a:avLst>
          </a:prstGeom>
          <a:solidFill>
            <a:srgbClr val="3A3A3A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D648D308-2ED9-4532-A6F9-93B702B4F4FE}"/>
              </a:ext>
            </a:extLst>
          </p:cNvPr>
          <p:cNvSpPr>
            <a:spLocks noGrp="1"/>
          </p:cNvSpPr>
          <p:nvPr/>
        </p:nvSpPr>
        <p:spPr>
          <a:xfrm>
            <a:off x="777240" y="4137660"/>
            <a:ext cx="496062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800" b="1">
                <a:solidFill>
                  <a:srgbClr val="F2B632"/>
                </a:solidFill>
                <a:latin typeface="Arial"/>
                <a:ea typeface="Arial"/>
                <a:cs typeface="Arial"/>
              </a:rPr>
              <a:t>Đặt sân theo nhóm</a:t>
            </a:r>
            <a:endParaRPr sz="180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CE469D2B-AC02-4191-83D0-BF225DF6B864}"/>
              </a:ext>
            </a:extLst>
          </p:cNvPr>
          <p:cNvSpPr>
            <a:spLocks noGrp="1"/>
          </p:cNvSpPr>
          <p:nvPr/>
        </p:nvSpPr>
        <p:spPr>
          <a:xfrm>
            <a:off x="777240" y="4686300"/>
            <a:ext cx="4960620" cy="14401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400">
                <a:solidFill>
                  <a:srgbClr val="FFFFFF"/>
                </a:solidFill>
                <a:latin typeface="Arial"/>
                <a:ea typeface="Arial"/>
                <a:cs typeface="Arial"/>
              </a:rPr>
              <a:t>Tạo nhóm, mời bạn bè</a:t>
            </a:r>
            <a:endParaRPr sz="140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400">
                <a:solidFill>
                  <a:srgbClr val="FFFFFF"/>
                </a:solidFill>
                <a:latin typeface="Arial"/>
                <a:ea typeface="Arial"/>
                <a:cs typeface="Arial"/>
              </a:rPr>
              <a:t>Đặt sân cho nhóm</a:t>
            </a:r>
            <a:endParaRPr sz="140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400">
                <a:solidFill>
                  <a:srgbClr val="FFFFFF"/>
                </a:solidFill>
                <a:latin typeface="Arial"/>
                <a:ea typeface="Arial"/>
                <a:cs typeface="Arial"/>
              </a:rPr>
              <a:t>Chia tiền sân cho thành viên</a:t>
            </a:r>
            <a:endParaRPr sz="1400"/>
          </a:p>
        </p:txBody>
      </p:sp>
      <p:sp>
        <p:nvSpPr>
          <p:cNvPr id="12" name="c3">
            <a:extLst>
              <a:ext uri="{FF2B5EF4-FFF2-40B4-BE49-F238E27FC236}">
                <a16:creationId xmlns:a16="http://schemas.microsoft.com/office/drawing/2014/main" id="{3EBE6833-3F5F-434A-A36F-8BF58658D0AC}"/>
              </a:ext>
            </a:extLst>
          </p:cNvPr>
          <p:cNvSpPr>
            <a:spLocks noGrp="1"/>
          </p:cNvSpPr>
          <p:nvPr/>
        </p:nvSpPr>
        <p:spPr>
          <a:xfrm>
            <a:off x="6195060" y="3954780"/>
            <a:ext cx="5417820" cy="2354580"/>
          </a:xfrm>
          <a:prstGeom prst="roundRect">
            <a:avLst>
              <a:gd name="adj" fmla="val 4660"/>
            </a:avLst>
          </a:prstGeom>
          <a:solidFill>
            <a:srgbClr val="3A3A3A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74557A0C-CC33-4D19-9658-37A6650E78ED}"/>
              </a:ext>
            </a:extLst>
          </p:cNvPr>
          <p:cNvSpPr>
            <a:spLocks noGrp="1"/>
          </p:cNvSpPr>
          <p:nvPr/>
        </p:nvSpPr>
        <p:spPr>
          <a:xfrm>
            <a:off x="6423660" y="4137660"/>
            <a:ext cx="496062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800" b="1">
                <a:solidFill>
                  <a:srgbClr val="F2B632"/>
                </a:solidFill>
                <a:latin typeface="Arial"/>
                <a:ea typeface="Arial"/>
                <a:cs typeface="Arial"/>
              </a:rPr>
              <a:t>Gợi ý sân</a:t>
            </a:r>
            <a:endParaRPr sz="180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223932C0-DA0E-4817-9ED5-A82C6D409E75}"/>
              </a:ext>
            </a:extLst>
          </p:cNvPr>
          <p:cNvSpPr>
            <a:spLocks noGrp="1"/>
          </p:cNvSpPr>
          <p:nvPr/>
        </p:nvSpPr>
        <p:spPr>
          <a:xfrm>
            <a:off x="6423660" y="4686300"/>
            <a:ext cx="4960620" cy="14401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400">
                <a:solidFill>
                  <a:srgbClr val="FFFFFF"/>
                </a:solidFill>
                <a:latin typeface="Arial"/>
                <a:ea typeface="Arial"/>
                <a:cs typeface="Arial"/>
              </a:rPr>
              <a:t>Theo vị trí và môn hay chơi</a:t>
            </a:r>
            <a:endParaRPr sz="140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400">
                <a:solidFill>
                  <a:srgbClr val="FFFFFF"/>
                </a:solidFill>
                <a:latin typeface="Arial"/>
                <a:ea typeface="Arial"/>
                <a:cs typeface="Arial"/>
              </a:rPr>
              <a:t>Theo lịch sử, khoảng giá, đánh giá</a:t>
            </a:r>
            <a:endParaRPr sz="140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400">
                <a:solidFill>
                  <a:srgbClr val="FFFFFF"/>
                </a:solidFill>
                <a:latin typeface="Arial"/>
                <a:ea typeface="Arial"/>
                <a:cs typeface="Arial"/>
              </a:rPr>
              <a:t>Gợi ý sân được đặt nhiều</a:t>
            </a: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19150302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B6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B3342F6-B340-42C0-9AEC-6C0ED896D26E}"/>
              </a:ext>
            </a:extLst>
          </p:cNvPr>
          <p:cNvSpPr>
            <a:spLocks noGrp="1"/>
          </p:cNvSpPr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400" b="1">
                <a:solidFill>
                  <a:srgbClr val="2B2B2B"/>
                </a:solidFill>
                <a:latin typeface="Arial"/>
                <a:ea typeface="Arial"/>
                <a:cs typeface="Arial"/>
              </a:rPr>
              <a:t>LUỒNG ĐẶT SÂN CHÍNH</a:t>
            </a:r>
            <a:endParaRPr sz="3400"/>
          </a:p>
        </p:txBody>
      </p:sp>
      <p:sp>
        <p:nvSpPr>
          <p:cNvPr id="3" name="st0">
            <a:extLst>
              <a:ext uri="{FF2B5EF4-FFF2-40B4-BE49-F238E27FC236}">
                <a16:creationId xmlns:a16="http://schemas.microsoft.com/office/drawing/2014/main" id="{C1D83CE7-9730-4CC3-BA59-0D4F2D953490}"/>
              </a:ext>
            </a:extLst>
          </p:cNvPr>
          <p:cNvSpPr>
            <a:spLocks noGrp="1"/>
          </p:cNvSpPr>
          <p:nvPr/>
        </p:nvSpPr>
        <p:spPr>
          <a:xfrm>
            <a:off x="548640" y="1371600"/>
            <a:ext cx="1417320" cy="2286000"/>
          </a:xfrm>
          <a:prstGeom prst="roundRect">
            <a:avLst>
              <a:gd name="adj" fmla="val 7742"/>
            </a:avLst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4" name="o0">
            <a:extLst>
              <a:ext uri="{FF2B5EF4-FFF2-40B4-BE49-F238E27FC236}">
                <a16:creationId xmlns:a16="http://schemas.microsoft.com/office/drawing/2014/main" id="{36FE2A68-00F7-4201-8995-777B9A454BF8}"/>
              </a:ext>
            </a:extLst>
          </p:cNvPr>
          <p:cNvSpPr>
            <a:spLocks noGrp="1"/>
          </p:cNvSpPr>
          <p:nvPr/>
        </p:nvSpPr>
        <p:spPr>
          <a:xfrm>
            <a:off x="1005840" y="1508760"/>
            <a:ext cx="502920" cy="502920"/>
          </a:xfrm>
          <a:prstGeom prst="ellipse">
            <a:avLst/>
          </a:prstGeom>
          <a:solidFill>
            <a:srgbClr val="F2B632"/>
          </a:solidFill>
          <a:ln w="12700">
            <a:solidFill>
              <a:srgbClr val="F2B632"/>
            </a:solidFill>
            <a:prstDash val="solid"/>
          </a:ln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3DEEBAF-D5E5-45D5-A582-09897BB60A50}"/>
              </a:ext>
            </a:extLst>
          </p:cNvPr>
          <p:cNvSpPr>
            <a:spLocks noGrp="1"/>
          </p:cNvSpPr>
          <p:nvPr/>
        </p:nvSpPr>
        <p:spPr>
          <a:xfrm>
            <a:off x="1005840" y="150876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600" b="1">
                <a:solidFill>
                  <a:srgbClr val="2B2B2B"/>
                </a:solidFill>
                <a:latin typeface="Arial"/>
                <a:ea typeface="Arial"/>
                <a:cs typeface="Arial"/>
              </a:rPr>
              <a:t>1</a:t>
            </a:r>
            <a:endParaRPr sz="16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3EBB77D2-E3C7-442E-8E71-6E91C0B04F2E}"/>
              </a:ext>
            </a:extLst>
          </p:cNvPr>
          <p:cNvSpPr>
            <a:spLocks noGrp="1"/>
          </p:cNvSpPr>
          <p:nvPr/>
        </p:nvSpPr>
        <p:spPr>
          <a:xfrm>
            <a:off x="621792" y="2148840"/>
            <a:ext cx="1271016" cy="1417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Đăng nhập, chọn môn, tìm sân</a:t>
            </a:r>
            <a:endParaRPr sz="1400"/>
          </a:p>
        </p:txBody>
      </p:sp>
      <p:sp>
        <p:nvSpPr>
          <p:cNvPr id="7" name="st1">
            <a:extLst>
              <a:ext uri="{FF2B5EF4-FFF2-40B4-BE49-F238E27FC236}">
                <a16:creationId xmlns:a16="http://schemas.microsoft.com/office/drawing/2014/main" id="{FFEE20D7-A56F-4A2E-AE75-9F84376604DE}"/>
              </a:ext>
            </a:extLst>
          </p:cNvPr>
          <p:cNvSpPr>
            <a:spLocks noGrp="1"/>
          </p:cNvSpPr>
          <p:nvPr/>
        </p:nvSpPr>
        <p:spPr>
          <a:xfrm>
            <a:off x="2148840" y="1371600"/>
            <a:ext cx="1417320" cy="2286000"/>
          </a:xfrm>
          <a:prstGeom prst="roundRect">
            <a:avLst>
              <a:gd name="adj" fmla="val 7742"/>
            </a:avLst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8" name="o1">
            <a:extLst>
              <a:ext uri="{FF2B5EF4-FFF2-40B4-BE49-F238E27FC236}">
                <a16:creationId xmlns:a16="http://schemas.microsoft.com/office/drawing/2014/main" id="{BA939442-10AB-4808-B246-DB267A91A4AE}"/>
              </a:ext>
            </a:extLst>
          </p:cNvPr>
          <p:cNvSpPr>
            <a:spLocks noGrp="1"/>
          </p:cNvSpPr>
          <p:nvPr/>
        </p:nvSpPr>
        <p:spPr>
          <a:xfrm>
            <a:off x="2606040" y="1508760"/>
            <a:ext cx="502920" cy="502920"/>
          </a:xfrm>
          <a:prstGeom prst="ellipse">
            <a:avLst/>
          </a:prstGeom>
          <a:solidFill>
            <a:srgbClr val="F2B632"/>
          </a:solidFill>
          <a:ln w="12700">
            <a:solidFill>
              <a:srgbClr val="F2B632"/>
            </a:solidFill>
            <a:prstDash val="solid"/>
          </a:ln>
        </p:spPr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90E6D9AF-6DD0-4897-96AA-9BF022E7ED75}"/>
              </a:ext>
            </a:extLst>
          </p:cNvPr>
          <p:cNvSpPr>
            <a:spLocks noGrp="1"/>
          </p:cNvSpPr>
          <p:nvPr/>
        </p:nvSpPr>
        <p:spPr>
          <a:xfrm>
            <a:off x="2606040" y="150876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600" b="1">
                <a:solidFill>
                  <a:srgbClr val="2B2B2B"/>
                </a:solidFill>
                <a:latin typeface="Arial"/>
                <a:ea typeface="Arial"/>
                <a:cs typeface="Arial"/>
              </a:rPr>
              <a:t>2</a:t>
            </a:r>
            <a:endParaRPr sz="160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2E77DC31-736D-49BD-A3B0-6ECAB3A5833B}"/>
              </a:ext>
            </a:extLst>
          </p:cNvPr>
          <p:cNvSpPr>
            <a:spLocks noGrp="1"/>
          </p:cNvSpPr>
          <p:nvPr/>
        </p:nvSpPr>
        <p:spPr>
          <a:xfrm>
            <a:off x="2221992" y="2148840"/>
            <a:ext cx="1271016" cy="1417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Xem chi tiết, chọn ngày, giờ</a:t>
            </a:r>
            <a:endParaRPr sz="1400"/>
          </a:p>
        </p:txBody>
      </p:sp>
      <p:sp>
        <p:nvSpPr>
          <p:cNvPr id="11" name="st2">
            <a:extLst>
              <a:ext uri="{FF2B5EF4-FFF2-40B4-BE49-F238E27FC236}">
                <a16:creationId xmlns:a16="http://schemas.microsoft.com/office/drawing/2014/main" id="{B7727B59-AA7C-4E77-9592-FF3210401053}"/>
              </a:ext>
            </a:extLst>
          </p:cNvPr>
          <p:cNvSpPr>
            <a:spLocks noGrp="1"/>
          </p:cNvSpPr>
          <p:nvPr/>
        </p:nvSpPr>
        <p:spPr>
          <a:xfrm>
            <a:off x="3749040" y="1371600"/>
            <a:ext cx="1417320" cy="2286000"/>
          </a:xfrm>
          <a:prstGeom prst="roundRect">
            <a:avLst>
              <a:gd name="adj" fmla="val 7742"/>
            </a:avLst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12" name="o2">
            <a:extLst>
              <a:ext uri="{FF2B5EF4-FFF2-40B4-BE49-F238E27FC236}">
                <a16:creationId xmlns:a16="http://schemas.microsoft.com/office/drawing/2014/main" id="{29BEBEC6-980C-4DDB-B284-48E33F2481A8}"/>
              </a:ext>
            </a:extLst>
          </p:cNvPr>
          <p:cNvSpPr>
            <a:spLocks noGrp="1"/>
          </p:cNvSpPr>
          <p:nvPr/>
        </p:nvSpPr>
        <p:spPr>
          <a:xfrm>
            <a:off x="4206240" y="1508760"/>
            <a:ext cx="502920" cy="502920"/>
          </a:xfrm>
          <a:prstGeom prst="ellipse">
            <a:avLst/>
          </a:prstGeom>
          <a:solidFill>
            <a:srgbClr val="F2B632"/>
          </a:solidFill>
          <a:ln w="12700">
            <a:solidFill>
              <a:srgbClr val="F2B632"/>
            </a:solidFill>
            <a:prstDash val="solid"/>
          </a:ln>
        </p:spPr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4EABDC2F-71FC-417C-B057-F6F8B54CFDAD}"/>
              </a:ext>
            </a:extLst>
          </p:cNvPr>
          <p:cNvSpPr>
            <a:spLocks noGrp="1"/>
          </p:cNvSpPr>
          <p:nvPr/>
        </p:nvSpPr>
        <p:spPr>
          <a:xfrm>
            <a:off x="4206240" y="150876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600" b="1">
                <a:solidFill>
                  <a:srgbClr val="2B2B2B"/>
                </a:solidFill>
                <a:latin typeface="Arial"/>
                <a:ea typeface="Arial"/>
                <a:cs typeface="Arial"/>
              </a:rPr>
              <a:t>3</a:t>
            </a:r>
            <a:endParaRPr sz="160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72E534CA-45CF-414A-A62F-246C8AE11BB2}"/>
              </a:ext>
            </a:extLst>
          </p:cNvPr>
          <p:cNvSpPr>
            <a:spLocks noGrp="1"/>
          </p:cNvSpPr>
          <p:nvPr/>
        </p:nvSpPr>
        <p:spPr>
          <a:xfrm>
            <a:off x="3822192" y="2148840"/>
            <a:ext cx="1271016" cy="1417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Kiểm tra sân còn trống</a:t>
            </a:r>
            <a:endParaRPr sz="1400"/>
          </a:p>
        </p:txBody>
      </p:sp>
      <p:sp>
        <p:nvSpPr>
          <p:cNvPr id="15" name="st3">
            <a:extLst>
              <a:ext uri="{FF2B5EF4-FFF2-40B4-BE49-F238E27FC236}">
                <a16:creationId xmlns:a16="http://schemas.microsoft.com/office/drawing/2014/main" id="{AD4D0538-9D1B-4E63-8E65-46BE7E2E78D1}"/>
              </a:ext>
            </a:extLst>
          </p:cNvPr>
          <p:cNvSpPr>
            <a:spLocks noGrp="1"/>
          </p:cNvSpPr>
          <p:nvPr/>
        </p:nvSpPr>
        <p:spPr>
          <a:xfrm>
            <a:off x="5349240" y="1371600"/>
            <a:ext cx="1417320" cy="2286000"/>
          </a:xfrm>
          <a:prstGeom prst="roundRect">
            <a:avLst>
              <a:gd name="adj" fmla="val 7742"/>
            </a:avLst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16" name="o3">
            <a:extLst>
              <a:ext uri="{FF2B5EF4-FFF2-40B4-BE49-F238E27FC236}">
                <a16:creationId xmlns:a16="http://schemas.microsoft.com/office/drawing/2014/main" id="{7A98BA52-12F8-4C4B-B517-6843B43B282C}"/>
              </a:ext>
            </a:extLst>
          </p:cNvPr>
          <p:cNvSpPr>
            <a:spLocks noGrp="1"/>
          </p:cNvSpPr>
          <p:nvPr/>
        </p:nvSpPr>
        <p:spPr>
          <a:xfrm>
            <a:off x="5806440" y="1508760"/>
            <a:ext cx="502920" cy="502920"/>
          </a:xfrm>
          <a:prstGeom prst="ellipse">
            <a:avLst/>
          </a:prstGeom>
          <a:solidFill>
            <a:srgbClr val="F2B632"/>
          </a:solidFill>
          <a:ln w="12700">
            <a:solidFill>
              <a:srgbClr val="F2B632"/>
            </a:solidFill>
            <a:prstDash val="solid"/>
          </a:ln>
        </p:spPr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0634A9F0-43A9-4E65-B02E-8A95492C1095}"/>
              </a:ext>
            </a:extLst>
          </p:cNvPr>
          <p:cNvSpPr>
            <a:spLocks noGrp="1"/>
          </p:cNvSpPr>
          <p:nvPr/>
        </p:nvSpPr>
        <p:spPr>
          <a:xfrm>
            <a:off x="5806440" y="150876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600" b="1">
                <a:solidFill>
                  <a:srgbClr val="2B2B2B"/>
                </a:solidFill>
                <a:latin typeface="Arial"/>
                <a:ea typeface="Arial"/>
                <a:cs typeface="Arial"/>
              </a:rPr>
              <a:t>4</a:t>
            </a:r>
            <a:endParaRPr sz="160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A98211A1-C823-4521-AAD3-74724AA85672}"/>
              </a:ext>
            </a:extLst>
          </p:cNvPr>
          <p:cNvSpPr>
            <a:spLocks noGrp="1"/>
          </p:cNvSpPr>
          <p:nvPr/>
        </p:nvSpPr>
        <p:spPr>
          <a:xfrm>
            <a:off x="5422392" y="2148840"/>
            <a:ext cx="1271016" cy="1417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Xác nhận, chọn phương thức, thanh toán</a:t>
            </a:r>
            <a:endParaRPr sz="1400"/>
          </a:p>
        </p:txBody>
      </p:sp>
      <p:sp>
        <p:nvSpPr>
          <p:cNvPr id="19" name="st4">
            <a:extLst>
              <a:ext uri="{FF2B5EF4-FFF2-40B4-BE49-F238E27FC236}">
                <a16:creationId xmlns:a16="http://schemas.microsoft.com/office/drawing/2014/main" id="{299C6065-71BE-421C-A5B1-C1A355E9255C}"/>
              </a:ext>
            </a:extLst>
          </p:cNvPr>
          <p:cNvSpPr>
            <a:spLocks noGrp="1"/>
          </p:cNvSpPr>
          <p:nvPr/>
        </p:nvSpPr>
        <p:spPr>
          <a:xfrm>
            <a:off x="6949440" y="1371600"/>
            <a:ext cx="1417320" cy="2286000"/>
          </a:xfrm>
          <a:prstGeom prst="roundRect">
            <a:avLst>
              <a:gd name="adj" fmla="val 7742"/>
            </a:avLst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20" name="o4">
            <a:extLst>
              <a:ext uri="{FF2B5EF4-FFF2-40B4-BE49-F238E27FC236}">
                <a16:creationId xmlns:a16="http://schemas.microsoft.com/office/drawing/2014/main" id="{A2B1DD2C-C1FF-4C41-B777-88380B192135}"/>
              </a:ext>
            </a:extLst>
          </p:cNvPr>
          <p:cNvSpPr>
            <a:spLocks noGrp="1"/>
          </p:cNvSpPr>
          <p:nvPr/>
        </p:nvSpPr>
        <p:spPr>
          <a:xfrm>
            <a:off x="7406640" y="1508760"/>
            <a:ext cx="502920" cy="502920"/>
          </a:xfrm>
          <a:prstGeom prst="ellipse">
            <a:avLst/>
          </a:prstGeom>
          <a:solidFill>
            <a:srgbClr val="F2B632"/>
          </a:solidFill>
          <a:ln w="12700">
            <a:solidFill>
              <a:srgbClr val="F2B632"/>
            </a:solidFill>
            <a:prstDash val="solid"/>
          </a:ln>
        </p:spPr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C95DC026-FA2C-4773-886E-A39A44E955D4}"/>
              </a:ext>
            </a:extLst>
          </p:cNvPr>
          <p:cNvSpPr>
            <a:spLocks noGrp="1"/>
          </p:cNvSpPr>
          <p:nvPr/>
        </p:nvSpPr>
        <p:spPr>
          <a:xfrm>
            <a:off x="7406640" y="150876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600" b="1">
                <a:solidFill>
                  <a:srgbClr val="2B2B2B"/>
                </a:solidFill>
                <a:latin typeface="Arial"/>
                <a:ea typeface="Arial"/>
                <a:cs typeface="Arial"/>
              </a:rPr>
              <a:t>5</a:t>
            </a:r>
            <a:endParaRPr sz="160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33F763C1-918E-4C2F-A256-38EE8A9ACF6D}"/>
              </a:ext>
            </a:extLst>
          </p:cNvPr>
          <p:cNvSpPr>
            <a:spLocks noGrp="1"/>
          </p:cNvSpPr>
          <p:nvPr/>
        </p:nvSpPr>
        <p:spPr>
          <a:xfrm>
            <a:off x="7022592" y="2148840"/>
            <a:ext cx="1271016" cy="1417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Chủ sân nhận và xác nhận</a:t>
            </a:r>
            <a:endParaRPr sz="1400"/>
          </a:p>
        </p:txBody>
      </p:sp>
      <p:sp>
        <p:nvSpPr>
          <p:cNvPr id="23" name="st5">
            <a:extLst>
              <a:ext uri="{FF2B5EF4-FFF2-40B4-BE49-F238E27FC236}">
                <a16:creationId xmlns:a16="http://schemas.microsoft.com/office/drawing/2014/main" id="{1F76156E-36FE-46C5-9618-0384D8242E9C}"/>
              </a:ext>
            </a:extLst>
          </p:cNvPr>
          <p:cNvSpPr>
            <a:spLocks noGrp="1"/>
          </p:cNvSpPr>
          <p:nvPr/>
        </p:nvSpPr>
        <p:spPr>
          <a:xfrm>
            <a:off x="8549640" y="1371600"/>
            <a:ext cx="1417320" cy="2286000"/>
          </a:xfrm>
          <a:prstGeom prst="roundRect">
            <a:avLst>
              <a:gd name="adj" fmla="val 7742"/>
            </a:avLst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24" name="o5">
            <a:extLst>
              <a:ext uri="{FF2B5EF4-FFF2-40B4-BE49-F238E27FC236}">
                <a16:creationId xmlns:a16="http://schemas.microsoft.com/office/drawing/2014/main" id="{322391C7-BDE2-4F26-B104-6BAF2FEEA90F}"/>
              </a:ext>
            </a:extLst>
          </p:cNvPr>
          <p:cNvSpPr>
            <a:spLocks noGrp="1"/>
          </p:cNvSpPr>
          <p:nvPr/>
        </p:nvSpPr>
        <p:spPr>
          <a:xfrm>
            <a:off x="9006840" y="1508760"/>
            <a:ext cx="502920" cy="502920"/>
          </a:xfrm>
          <a:prstGeom prst="ellipse">
            <a:avLst/>
          </a:prstGeom>
          <a:solidFill>
            <a:srgbClr val="F2B632"/>
          </a:solidFill>
          <a:ln w="12700">
            <a:solidFill>
              <a:srgbClr val="F2B632"/>
            </a:solidFill>
            <a:prstDash val="solid"/>
          </a:ln>
        </p:spPr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7B65597A-195E-4722-9DA1-B9EF1DF76ECC}"/>
              </a:ext>
            </a:extLst>
          </p:cNvPr>
          <p:cNvSpPr>
            <a:spLocks noGrp="1"/>
          </p:cNvSpPr>
          <p:nvPr/>
        </p:nvSpPr>
        <p:spPr>
          <a:xfrm>
            <a:off x="9006840" y="150876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600" b="1">
                <a:solidFill>
                  <a:srgbClr val="2B2B2B"/>
                </a:solidFill>
                <a:latin typeface="Arial"/>
                <a:ea typeface="Arial"/>
                <a:cs typeface="Arial"/>
              </a:rPr>
              <a:t>6</a:t>
            </a:r>
            <a:endParaRPr sz="160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5AB72172-FC2E-4EA9-BA69-4E930922A579}"/>
              </a:ext>
            </a:extLst>
          </p:cNvPr>
          <p:cNvSpPr>
            <a:spLocks noGrp="1"/>
          </p:cNvSpPr>
          <p:nvPr/>
        </p:nvSpPr>
        <p:spPr>
          <a:xfrm>
            <a:off x="8622792" y="2148840"/>
            <a:ext cx="1271016" cy="1417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Người dùng nhận thông báo</a:t>
            </a:r>
            <a:endParaRPr sz="1400"/>
          </a:p>
        </p:txBody>
      </p:sp>
      <p:sp>
        <p:nvSpPr>
          <p:cNvPr id="27" name="st6">
            <a:extLst>
              <a:ext uri="{FF2B5EF4-FFF2-40B4-BE49-F238E27FC236}">
                <a16:creationId xmlns:a16="http://schemas.microsoft.com/office/drawing/2014/main" id="{4D56E855-1473-4D33-8228-441CD41E0C51}"/>
              </a:ext>
            </a:extLst>
          </p:cNvPr>
          <p:cNvSpPr>
            <a:spLocks noGrp="1"/>
          </p:cNvSpPr>
          <p:nvPr/>
        </p:nvSpPr>
        <p:spPr>
          <a:xfrm>
            <a:off x="10149840" y="1371600"/>
            <a:ext cx="1417320" cy="2286000"/>
          </a:xfrm>
          <a:prstGeom prst="roundRect">
            <a:avLst>
              <a:gd name="adj" fmla="val 7742"/>
            </a:avLst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28" name="o6">
            <a:extLst>
              <a:ext uri="{FF2B5EF4-FFF2-40B4-BE49-F238E27FC236}">
                <a16:creationId xmlns:a16="http://schemas.microsoft.com/office/drawing/2014/main" id="{E7425F03-2012-4CBD-B2DB-821ACA9A2BCC}"/>
              </a:ext>
            </a:extLst>
          </p:cNvPr>
          <p:cNvSpPr>
            <a:spLocks noGrp="1"/>
          </p:cNvSpPr>
          <p:nvPr/>
        </p:nvSpPr>
        <p:spPr>
          <a:xfrm>
            <a:off x="10607040" y="1508760"/>
            <a:ext cx="502920" cy="502920"/>
          </a:xfrm>
          <a:prstGeom prst="ellipse">
            <a:avLst/>
          </a:prstGeom>
          <a:solidFill>
            <a:srgbClr val="F2B632"/>
          </a:solidFill>
          <a:ln w="12700">
            <a:solidFill>
              <a:srgbClr val="F2B632"/>
            </a:solidFill>
            <a:prstDash val="solid"/>
          </a:ln>
        </p:spPr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E661D471-34A0-4DC6-8CE9-EF6DE6F47239}"/>
              </a:ext>
            </a:extLst>
          </p:cNvPr>
          <p:cNvSpPr>
            <a:spLocks noGrp="1"/>
          </p:cNvSpPr>
          <p:nvPr/>
        </p:nvSpPr>
        <p:spPr>
          <a:xfrm>
            <a:off x="10607040" y="150876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600" b="1">
                <a:solidFill>
                  <a:srgbClr val="2B2B2B"/>
                </a:solidFill>
                <a:latin typeface="Arial"/>
                <a:ea typeface="Arial"/>
                <a:cs typeface="Arial"/>
              </a:rPr>
              <a:t>7</a:t>
            </a:r>
            <a:endParaRPr sz="1600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0D09FC9E-F129-4DF8-9216-EB7C79F43B75}"/>
              </a:ext>
            </a:extLst>
          </p:cNvPr>
          <p:cNvSpPr>
            <a:spLocks noGrp="1"/>
          </p:cNvSpPr>
          <p:nvPr/>
        </p:nvSpPr>
        <p:spPr>
          <a:xfrm>
            <a:off x="10222992" y="2148840"/>
            <a:ext cx="1271016" cy="1417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Đến sân, hoàn thành, đánh giá</a:t>
            </a:r>
            <a:endParaRPr sz="1400"/>
          </a:p>
        </p:txBody>
      </p:sp>
      <p:sp>
        <p:nvSpPr>
          <p:cNvPr id="31" name="n1">
            <a:extLst>
              <a:ext uri="{FF2B5EF4-FFF2-40B4-BE49-F238E27FC236}">
                <a16:creationId xmlns:a16="http://schemas.microsoft.com/office/drawing/2014/main" id="{BD2CCF0E-97FF-4002-A029-1A6E7B5BA2C7}"/>
              </a:ext>
            </a:extLst>
          </p:cNvPr>
          <p:cNvSpPr>
            <a:spLocks noGrp="1"/>
          </p:cNvSpPr>
          <p:nvPr/>
        </p:nvSpPr>
        <p:spPr>
          <a:xfrm>
            <a:off x="548640" y="3977640"/>
            <a:ext cx="5394960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0BE9A486-D1F2-4071-BE86-7799B93B2257}"/>
              </a:ext>
            </a:extLst>
          </p:cNvPr>
          <p:cNvSpPr>
            <a:spLocks noGrp="1"/>
          </p:cNvSpPr>
          <p:nvPr/>
        </p:nvSpPr>
        <p:spPr>
          <a:xfrm>
            <a:off x="822960" y="4160520"/>
            <a:ext cx="484632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2000" b="1">
                <a:solidFill>
                  <a:srgbClr val="2B2B2B"/>
                </a:solidFill>
                <a:latin typeface="Arial"/>
                <a:ea typeface="Arial"/>
                <a:cs typeface="Arial"/>
              </a:rPr>
              <a:t>Thanh toán</a:t>
            </a:r>
            <a:endParaRPr sz="2000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87739168-34A9-4161-A861-3E90EC7D2753}"/>
              </a:ext>
            </a:extLst>
          </p:cNvPr>
          <p:cNvSpPr>
            <a:spLocks noGrp="1"/>
          </p:cNvSpPr>
          <p:nvPr/>
        </p:nvSpPr>
        <p:spPr>
          <a:xfrm>
            <a:off x="822960" y="4709160"/>
            <a:ext cx="4846320" cy="1371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500">
                <a:solidFill>
                  <a:srgbClr val="333333"/>
                </a:solidFill>
                <a:latin typeface="Arial"/>
                <a:ea typeface="Arial"/>
                <a:cs typeface="Arial"/>
              </a:rPr>
              <a:t>Thanh toán tại sân hoặc trực tuyến</a:t>
            </a:r>
            <a:endParaRPr sz="140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500">
                <a:solidFill>
                  <a:srgbClr val="333333"/>
                </a:solidFill>
                <a:latin typeface="Arial"/>
                <a:ea typeface="Arial"/>
                <a:cs typeface="Arial"/>
              </a:rPr>
              <a:t>Giao dịch trực tuyến mô phỏng ở bản đầu</a:t>
            </a:r>
            <a:endParaRPr sz="140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500">
                <a:solidFill>
                  <a:srgbClr val="333333"/>
                </a:solidFill>
                <a:latin typeface="Arial"/>
                <a:ea typeface="Arial"/>
                <a:cs typeface="Arial"/>
              </a:rPr>
              <a:t>VNPay, MoMo, ZaloPay là hướng mở rộng</a:t>
            </a:r>
            <a:endParaRPr sz="1400"/>
          </a:p>
        </p:txBody>
      </p:sp>
      <p:sp>
        <p:nvSpPr>
          <p:cNvPr id="34" name="n2">
            <a:extLst>
              <a:ext uri="{FF2B5EF4-FFF2-40B4-BE49-F238E27FC236}">
                <a16:creationId xmlns:a16="http://schemas.microsoft.com/office/drawing/2014/main" id="{DB37DA24-411F-4C4F-9D77-B6351525E13F}"/>
              </a:ext>
            </a:extLst>
          </p:cNvPr>
          <p:cNvSpPr>
            <a:spLocks noGrp="1"/>
          </p:cNvSpPr>
          <p:nvPr/>
        </p:nvSpPr>
        <p:spPr>
          <a:xfrm>
            <a:off x="6217920" y="3977640"/>
            <a:ext cx="5394960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694A5027-7BC0-437E-8E5F-D9D5A11A68C4}"/>
              </a:ext>
            </a:extLst>
          </p:cNvPr>
          <p:cNvSpPr>
            <a:spLocks noGrp="1"/>
          </p:cNvSpPr>
          <p:nvPr/>
        </p:nvSpPr>
        <p:spPr>
          <a:xfrm>
            <a:off x="6492240" y="4160520"/>
            <a:ext cx="484632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2000" b="1">
                <a:solidFill>
                  <a:srgbClr val="2B2B2B"/>
                </a:solidFill>
                <a:latin typeface="Arial"/>
                <a:ea typeface="Arial"/>
                <a:cs typeface="Arial"/>
              </a:rPr>
              <a:t>Sau khi đặt</a:t>
            </a:r>
            <a:endParaRPr sz="2000"/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767E9E63-646A-4072-89CA-2715D0BFB80D}"/>
              </a:ext>
            </a:extLst>
          </p:cNvPr>
          <p:cNvSpPr>
            <a:spLocks noGrp="1"/>
          </p:cNvSpPr>
          <p:nvPr/>
        </p:nvSpPr>
        <p:spPr>
          <a:xfrm>
            <a:off x="6492240" y="4709160"/>
            <a:ext cx="4846320" cy="1371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500">
                <a:solidFill>
                  <a:srgbClr val="333333"/>
                </a:solidFill>
                <a:latin typeface="Arial"/>
                <a:ea typeface="Arial"/>
                <a:cs typeface="Arial"/>
              </a:rPr>
              <a:t>Nhắc lịch trước giờ chơi</a:t>
            </a:r>
            <a:endParaRPr sz="140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500">
                <a:solidFill>
                  <a:srgbClr val="333333"/>
                </a:solidFill>
                <a:latin typeface="Arial"/>
                <a:ea typeface="Arial"/>
                <a:cs typeface="Arial"/>
              </a:rPr>
              <a:t>Lịch chuyển sang hoàn thành sau khi sử dụng</a:t>
            </a:r>
            <a:endParaRPr sz="140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500">
                <a:solidFill>
                  <a:srgbClr val="333333"/>
                </a:solidFill>
                <a:latin typeface="Arial"/>
                <a:ea typeface="Arial"/>
                <a:cs typeface="Arial"/>
              </a:rPr>
              <a:t>Mở quyền đánh giá sân</a:t>
            </a: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12007870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2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D5DB876-B692-416E-8A23-8421257BD342}"/>
              </a:ext>
            </a:extLst>
          </p:cNvPr>
          <p:cNvSpPr>
            <a:spLocks noGrp="1"/>
          </p:cNvSpPr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400" b="1">
                <a:solidFill>
                  <a:srgbClr val="F2B632"/>
                </a:solidFill>
                <a:latin typeface="Arial"/>
                <a:ea typeface="Arial"/>
                <a:cs typeface="Arial"/>
              </a:rPr>
              <a:t>KIỂM SOÁT LỊCH &amp; NHÁNH NGOẠI LỆ</a:t>
            </a:r>
            <a:endParaRPr sz="3400"/>
          </a:p>
        </p:txBody>
      </p:sp>
      <p:sp>
        <p:nvSpPr>
          <p:cNvPr id="3" name="l">
            <a:extLst>
              <a:ext uri="{FF2B5EF4-FFF2-40B4-BE49-F238E27FC236}">
                <a16:creationId xmlns:a16="http://schemas.microsoft.com/office/drawing/2014/main" id="{719D8358-F38D-473D-808D-A728191037E3}"/>
              </a:ext>
            </a:extLst>
          </p:cNvPr>
          <p:cNvSpPr>
            <a:spLocks noGrp="1"/>
          </p:cNvSpPr>
          <p:nvPr/>
        </p:nvSpPr>
        <p:spPr>
          <a:xfrm>
            <a:off x="548640" y="1371600"/>
            <a:ext cx="5394960" cy="4846320"/>
          </a:xfrm>
          <a:prstGeom prst="roundRect">
            <a:avLst>
              <a:gd name="adj" fmla="val 2264"/>
            </a:avLst>
          </a:prstGeom>
          <a:solidFill>
            <a:srgbClr val="3A3A3A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16BE610-1B70-4E1C-A44D-0039DBD9140A}"/>
              </a:ext>
            </a:extLst>
          </p:cNvPr>
          <p:cNvSpPr>
            <a:spLocks noGrp="1"/>
          </p:cNvSpPr>
          <p:nvPr/>
        </p:nvSpPr>
        <p:spPr>
          <a:xfrm>
            <a:off x="822960" y="1554480"/>
            <a:ext cx="484632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2000" b="1">
                <a:solidFill>
                  <a:srgbClr val="F2B632"/>
                </a:solidFill>
                <a:latin typeface="Arial"/>
                <a:ea typeface="Arial"/>
                <a:cs typeface="Arial"/>
              </a:rPr>
              <a:t>Chống đặt trùng lịch</a:t>
            </a:r>
            <a:endParaRPr sz="20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C856039A-00A5-4FCF-9B3F-403844D8359E}"/>
              </a:ext>
            </a:extLst>
          </p:cNvPr>
          <p:cNvSpPr>
            <a:spLocks noGrp="1"/>
          </p:cNvSpPr>
          <p:nvPr/>
        </p:nvSpPr>
        <p:spPr>
          <a:xfrm>
            <a:off x="822960" y="2148840"/>
            <a:ext cx="4846320" cy="20116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500">
                <a:solidFill>
                  <a:srgbClr val="FFFFFF"/>
                </a:solidFill>
                <a:latin typeface="Arial"/>
                <a:ea typeface="Arial"/>
                <a:cs typeface="Arial"/>
              </a:rPr>
              <a:t>Kiểm tra lại khung giờ khi gửi yêu cầu</a:t>
            </a:r>
            <a:endParaRPr sz="140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500">
                <a:solidFill>
                  <a:srgbClr val="FFFFFF"/>
                </a:solidFill>
                <a:latin typeface="Arial"/>
                <a:ea typeface="Arial"/>
                <a:cs typeface="Arial"/>
              </a:rPr>
              <a:t>Ghi nhận bằng giao dịch nguyên tử hoặc giữ chỗ có thời hạn</a:t>
            </a:r>
            <a:endParaRPr sz="140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500">
                <a:solidFill>
                  <a:srgbClr val="FFFFFF"/>
                </a:solidFill>
                <a:latin typeface="Arial"/>
                <a:ea typeface="Arial"/>
                <a:cs typeface="Arial"/>
              </a:rPr>
              <a:t>Nếu giờ vừa bị đặt: báo và yêu cầu chọn lại</a:t>
            </a:r>
            <a:endParaRPr sz="14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93A14B8E-BB75-4E1A-8F39-588CB549C149}"/>
              </a:ext>
            </a:extLst>
          </p:cNvPr>
          <p:cNvSpPr>
            <a:spLocks noGrp="1"/>
          </p:cNvSpPr>
          <p:nvPr/>
        </p:nvSpPr>
        <p:spPr>
          <a:xfrm>
            <a:off x="822960" y="4160520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600" b="1">
                <a:solidFill>
                  <a:srgbClr val="F2B632"/>
                </a:solidFill>
                <a:latin typeface="Arial"/>
                <a:ea typeface="Arial"/>
                <a:cs typeface="Arial"/>
              </a:rPr>
              <a:t>Trạng thái lịch đặt</a:t>
            </a:r>
            <a:endParaRPr sz="1600"/>
          </a:p>
        </p:txBody>
      </p:sp>
      <p:sp>
        <p:nvSpPr>
          <p:cNvPr id="7" name="ch0">
            <a:extLst>
              <a:ext uri="{FF2B5EF4-FFF2-40B4-BE49-F238E27FC236}">
                <a16:creationId xmlns:a16="http://schemas.microsoft.com/office/drawing/2014/main" id="{7BF12D66-3B9F-4CDA-A2FE-3BF7E083A85E}"/>
              </a:ext>
            </a:extLst>
          </p:cNvPr>
          <p:cNvSpPr>
            <a:spLocks noGrp="1"/>
          </p:cNvSpPr>
          <p:nvPr/>
        </p:nvSpPr>
        <p:spPr>
          <a:xfrm>
            <a:off x="822960" y="4663440"/>
            <a:ext cx="2286000" cy="548640"/>
          </a:xfrm>
          <a:prstGeom prst="roundRect">
            <a:avLst>
              <a:gd name="adj" fmla="val 20000"/>
            </a:avLst>
          </a:prstGeom>
          <a:solidFill>
            <a:srgbClr val="F2B632"/>
          </a:solidFill>
          <a:ln w="12700">
            <a:solidFill>
              <a:srgbClr val="F2B632"/>
            </a:solidFill>
            <a:prstDash val="solid"/>
          </a:ln>
        </p:spPr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B186427B-061B-4C60-BCB5-9B89E8F76814}"/>
              </a:ext>
            </a:extLst>
          </p:cNvPr>
          <p:cNvSpPr>
            <a:spLocks noGrp="1"/>
          </p:cNvSpPr>
          <p:nvPr/>
        </p:nvSpPr>
        <p:spPr>
          <a:xfrm>
            <a:off x="822960" y="4663440"/>
            <a:ext cx="228600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2B2B2B"/>
                </a:solidFill>
                <a:latin typeface="Arial"/>
                <a:ea typeface="Arial"/>
                <a:cs typeface="Arial"/>
              </a:rPr>
              <a:t>Chờ xác nhận</a:t>
            </a:r>
            <a:endParaRPr sz="1400"/>
          </a:p>
        </p:txBody>
      </p:sp>
      <p:sp>
        <p:nvSpPr>
          <p:cNvPr id="9" name="ch1">
            <a:extLst>
              <a:ext uri="{FF2B5EF4-FFF2-40B4-BE49-F238E27FC236}">
                <a16:creationId xmlns:a16="http://schemas.microsoft.com/office/drawing/2014/main" id="{7A8FF610-8A78-4B38-8FE3-E3602FDB7E9D}"/>
              </a:ext>
            </a:extLst>
          </p:cNvPr>
          <p:cNvSpPr>
            <a:spLocks noGrp="1"/>
          </p:cNvSpPr>
          <p:nvPr/>
        </p:nvSpPr>
        <p:spPr>
          <a:xfrm>
            <a:off x="3383280" y="4663440"/>
            <a:ext cx="2286000" cy="548640"/>
          </a:xfrm>
          <a:prstGeom prst="roundRect">
            <a:avLst>
              <a:gd name="adj" fmla="val 20000"/>
            </a:avLst>
          </a:prstGeom>
          <a:solidFill>
            <a:srgbClr val="F2B632"/>
          </a:solidFill>
          <a:ln w="12700">
            <a:solidFill>
              <a:srgbClr val="F2B632"/>
            </a:solidFill>
            <a:prstDash val="solid"/>
          </a:ln>
        </p:spPr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3DF193FC-50EB-46E8-97E6-62595B07847D}"/>
              </a:ext>
            </a:extLst>
          </p:cNvPr>
          <p:cNvSpPr>
            <a:spLocks noGrp="1"/>
          </p:cNvSpPr>
          <p:nvPr/>
        </p:nvSpPr>
        <p:spPr>
          <a:xfrm>
            <a:off x="3383280" y="4663440"/>
            <a:ext cx="228600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2B2B2B"/>
                </a:solidFill>
                <a:latin typeface="Arial"/>
                <a:ea typeface="Arial"/>
                <a:cs typeface="Arial"/>
              </a:rPr>
              <a:t>Đã xác nhận</a:t>
            </a:r>
            <a:endParaRPr sz="1400"/>
          </a:p>
        </p:txBody>
      </p:sp>
      <p:sp>
        <p:nvSpPr>
          <p:cNvPr id="11" name="ch2">
            <a:extLst>
              <a:ext uri="{FF2B5EF4-FFF2-40B4-BE49-F238E27FC236}">
                <a16:creationId xmlns:a16="http://schemas.microsoft.com/office/drawing/2014/main" id="{AA9680B1-5CFF-495F-8E28-90892467D337}"/>
              </a:ext>
            </a:extLst>
          </p:cNvPr>
          <p:cNvSpPr>
            <a:spLocks noGrp="1"/>
          </p:cNvSpPr>
          <p:nvPr/>
        </p:nvSpPr>
        <p:spPr>
          <a:xfrm>
            <a:off x="822960" y="5394960"/>
            <a:ext cx="2286000" cy="548640"/>
          </a:xfrm>
          <a:prstGeom prst="roundRect">
            <a:avLst>
              <a:gd name="adj" fmla="val 20000"/>
            </a:avLst>
          </a:prstGeom>
          <a:solidFill>
            <a:srgbClr val="F2B632"/>
          </a:solidFill>
          <a:ln w="12700">
            <a:solidFill>
              <a:srgbClr val="F2B632"/>
            </a:solidFill>
            <a:prstDash val="solid"/>
          </a:ln>
        </p:spPr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5167011B-F276-4B6F-8A28-9AA30B80680A}"/>
              </a:ext>
            </a:extLst>
          </p:cNvPr>
          <p:cNvSpPr>
            <a:spLocks noGrp="1"/>
          </p:cNvSpPr>
          <p:nvPr/>
        </p:nvSpPr>
        <p:spPr>
          <a:xfrm>
            <a:off x="822960" y="5394960"/>
            <a:ext cx="228600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2B2B2B"/>
                </a:solidFill>
                <a:latin typeface="Arial"/>
                <a:ea typeface="Arial"/>
                <a:cs typeface="Arial"/>
              </a:rPr>
              <a:t>Hoàn thành</a:t>
            </a:r>
            <a:endParaRPr sz="1400"/>
          </a:p>
        </p:txBody>
      </p:sp>
      <p:sp>
        <p:nvSpPr>
          <p:cNvPr id="13" name="ch3">
            <a:extLst>
              <a:ext uri="{FF2B5EF4-FFF2-40B4-BE49-F238E27FC236}">
                <a16:creationId xmlns:a16="http://schemas.microsoft.com/office/drawing/2014/main" id="{0509D3A5-92E3-4058-8998-9E3187ECF249}"/>
              </a:ext>
            </a:extLst>
          </p:cNvPr>
          <p:cNvSpPr>
            <a:spLocks noGrp="1"/>
          </p:cNvSpPr>
          <p:nvPr/>
        </p:nvSpPr>
        <p:spPr>
          <a:xfrm>
            <a:off x="3383280" y="5394960"/>
            <a:ext cx="2286000" cy="548640"/>
          </a:xfrm>
          <a:prstGeom prst="roundRect">
            <a:avLst>
              <a:gd name="adj" fmla="val 20000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4B476942-0693-414D-9B1A-397CD4F7BC3E}"/>
              </a:ext>
            </a:extLst>
          </p:cNvPr>
          <p:cNvSpPr>
            <a:spLocks noGrp="1"/>
          </p:cNvSpPr>
          <p:nvPr/>
        </p:nvSpPr>
        <p:spPr>
          <a:xfrm>
            <a:off x="3383280" y="5394960"/>
            <a:ext cx="228600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Đã hủy</a:t>
            </a:r>
            <a:endParaRPr sz="1400"/>
          </a:p>
        </p:txBody>
      </p:sp>
      <p:sp>
        <p:nvSpPr>
          <p:cNvPr id="15" name="r">
            <a:extLst>
              <a:ext uri="{FF2B5EF4-FFF2-40B4-BE49-F238E27FC236}">
                <a16:creationId xmlns:a16="http://schemas.microsoft.com/office/drawing/2014/main" id="{E70648AF-6CDF-48BC-9DC9-C310F6512BE2}"/>
              </a:ext>
            </a:extLst>
          </p:cNvPr>
          <p:cNvSpPr>
            <a:spLocks noGrp="1"/>
          </p:cNvSpPr>
          <p:nvPr/>
        </p:nvSpPr>
        <p:spPr>
          <a:xfrm>
            <a:off x="6217920" y="1371600"/>
            <a:ext cx="5394960" cy="4846320"/>
          </a:xfrm>
          <a:prstGeom prst="roundRect">
            <a:avLst>
              <a:gd name="adj" fmla="val 2264"/>
            </a:avLst>
          </a:prstGeom>
          <a:solidFill>
            <a:srgbClr val="F2B632"/>
          </a:solidFill>
          <a:ln w="12700">
            <a:solidFill>
              <a:srgbClr val="F2B632"/>
            </a:solidFill>
            <a:prstDash val="solid"/>
          </a:ln>
        </p:spPr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66F8F0FA-C48E-4647-9A1C-040AE42F4B63}"/>
              </a:ext>
            </a:extLst>
          </p:cNvPr>
          <p:cNvSpPr>
            <a:spLocks noGrp="1"/>
          </p:cNvSpPr>
          <p:nvPr/>
        </p:nvSpPr>
        <p:spPr>
          <a:xfrm>
            <a:off x="6492240" y="1554480"/>
            <a:ext cx="484632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2000" b="1">
                <a:solidFill>
                  <a:srgbClr val="2B2B2B"/>
                </a:solidFill>
                <a:latin typeface="Arial"/>
                <a:ea typeface="Arial"/>
                <a:cs typeface="Arial"/>
              </a:rPr>
              <a:t>Nhánh ngoại lệ</a:t>
            </a:r>
            <a:endParaRPr sz="200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1E489359-6520-4531-A2BF-C1792FA9275A}"/>
              </a:ext>
            </a:extLst>
          </p:cNvPr>
          <p:cNvSpPr>
            <a:spLocks noGrp="1"/>
          </p:cNvSpPr>
          <p:nvPr/>
        </p:nvSpPr>
        <p:spPr>
          <a:xfrm>
            <a:off x="6492240" y="2148840"/>
            <a:ext cx="4846320" cy="3931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500">
                <a:solidFill>
                  <a:srgbClr val="2B2B2B"/>
                </a:solidFill>
                <a:latin typeface="Arial"/>
                <a:ea typeface="Arial"/>
                <a:cs typeface="Arial"/>
              </a:rPr>
              <a:t>Hết giờ trống: không tạo lịch trùng, đề xuất giờ khác</a:t>
            </a:r>
            <a:endParaRPr sz="140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500">
                <a:solidFill>
                  <a:srgbClr val="2B2B2B"/>
                </a:solidFill>
                <a:latin typeface="Arial"/>
                <a:ea typeface="Arial"/>
                <a:cs typeface="Arial"/>
              </a:rPr>
              <a:t>Thanh toán chưa xong: giữ trạng thái chờ, báo thời hạn</a:t>
            </a:r>
            <a:endParaRPr sz="140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500">
                <a:solidFill>
                  <a:srgbClr val="2B2B2B"/>
                </a:solidFill>
                <a:latin typeface="Arial"/>
                <a:ea typeface="Arial"/>
                <a:cs typeface="Arial"/>
              </a:rPr>
              <a:t>Yêu cầu hủy: kiểm tra điều kiện, chủ sân xử lý, lưu lịch sử</a:t>
            </a:r>
            <a:endParaRPr sz="140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500">
                <a:solidFill>
                  <a:srgbClr val="2B2B2B"/>
                </a:solidFill>
                <a:latin typeface="Arial"/>
                <a:ea typeface="Arial"/>
                <a:cs typeface="Arial"/>
              </a:rPr>
              <a:t>Sân bảo trì: khóa khung giờ, báo khách, đổi lịch hoặc hủy</a:t>
            </a:r>
            <a:endParaRPr sz="140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500">
                <a:solidFill>
                  <a:srgbClr val="2B2B2B"/>
                </a:solidFill>
                <a:latin typeface="Arial"/>
                <a:ea typeface="Arial"/>
                <a:cs typeface="Arial"/>
              </a:rPr>
              <a:t>Hoàn tiền: gắn với giao dịch gốc, cập nhật doanh thu</a:t>
            </a: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21221758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B6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2CD402D-4BFC-4C5F-BE97-FD77676754D4}"/>
              </a:ext>
            </a:extLst>
          </p:cNvPr>
          <p:cNvSpPr>
            <a:spLocks noGrp="1"/>
          </p:cNvSpPr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400" b="1">
                <a:solidFill>
                  <a:srgbClr val="2B2B2B"/>
                </a:solidFill>
                <a:latin typeface="Arial"/>
                <a:ea typeface="Arial"/>
                <a:cs typeface="Arial"/>
              </a:rPr>
              <a:t>KIẾN TRÚC &amp; CÔNG NGHỆ</a:t>
            </a:r>
            <a:endParaRPr sz="3400"/>
          </a:p>
        </p:txBody>
      </p:sp>
      <p:sp>
        <p:nvSpPr>
          <p:cNvPr id="3" name="ly0">
            <a:extLst>
              <a:ext uri="{FF2B5EF4-FFF2-40B4-BE49-F238E27FC236}">
                <a16:creationId xmlns:a16="http://schemas.microsoft.com/office/drawing/2014/main" id="{1C0B92CA-FA79-4107-A1C2-BFF908B92D7B}"/>
              </a:ext>
            </a:extLst>
          </p:cNvPr>
          <p:cNvSpPr>
            <a:spLocks noGrp="1"/>
          </p:cNvSpPr>
          <p:nvPr/>
        </p:nvSpPr>
        <p:spPr>
          <a:xfrm>
            <a:off x="548640" y="1371600"/>
            <a:ext cx="6400800" cy="1463040"/>
          </a:xfrm>
          <a:prstGeom prst="roundRect">
            <a:avLst>
              <a:gd name="adj" fmla="val 7500"/>
            </a:avLst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81BF9E3-8C94-4F63-87F0-4C9B03221DC8}"/>
              </a:ext>
            </a:extLst>
          </p:cNvPr>
          <p:cNvSpPr>
            <a:spLocks noGrp="1"/>
          </p:cNvSpPr>
          <p:nvPr/>
        </p:nvSpPr>
        <p:spPr>
          <a:xfrm>
            <a:off x="777240" y="1508760"/>
            <a:ext cx="594360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800" b="1">
                <a:solidFill>
                  <a:srgbClr val="F2B632"/>
                </a:solidFill>
                <a:latin typeface="Arial"/>
                <a:ea typeface="Arial"/>
                <a:cs typeface="Arial"/>
              </a:rPr>
              <a:t>Giao diện</a:t>
            </a:r>
            <a:endParaRPr sz="18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54E1A39-507A-4194-B108-4B88B7A41D2A}"/>
              </a:ext>
            </a:extLst>
          </p:cNvPr>
          <p:cNvSpPr>
            <a:spLocks noGrp="1"/>
          </p:cNvSpPr>
          <p:nvPr/>
        </p:nvSpPr>
        <p:spPr>
          <a:xfrm>
            <a:off x="777240" y="1965960"/>
            <a:ext cx="5943600" cy="7772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400">
                <a:solidFill>
                  <a:srgbClr val="FFFFFF"/>
                </a:solidFill>
                <a:latin typeface="Arial"/>
                <a:ea typeface="Arial"/>
                <a:cs typeface="Arial"/>
              </a:rPr>
              <a:t>Flutter/Dart; màn hình theo vai trò, dùng chung đăng nhập, thông tin sân, lịch đặt</a:t>
            </a:r>
            <a:endParaRPr sz="1400"/>
          </a:p>
        </p:txBody>
      </p:sp>
      <p:sp>
        <p:nvSpPr>
          <p:cNvPr id="6" name="ly1">
            <a:extLst>
              <a:ext uri="{FF2B5EF4-FFF2-40B4-BE49-F238E27FC236}">
                <a16:creationId xmlns:a16="http://schemas.microsoft.com/office/drawing/2014/main" id="{61764E98-FFB6-4F34-BAAD-3CE2B6D9493F}"/>
              </a:ext>
            </a:extLst>
          </p:cNvPr>
          <p:cNvSpPr>
            <a:spLocks noGrp="1"/>
          </p:cNvSpPr>
          <p:nvPr/>
        </p:nvSpPr>
        <p:spPr>
          <a:xfrm>
            <a:off x="548640" y="3017520"/>
            <a:ext cx="6400800" cy="1463040"/>
          </a:xfrm>
          <a:prstGeom prst="roundRect">
            <a:avLst>
              <a:gd name="adj" fmla="val 7500"/>
            </a:avLst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2758D255-9F83-4716-A777-DDBF39E9BA7D}"/>
              </a:ext>
            </a:extLst>
          </p:cNvPr>
          <p:cNvSpPr>
            <a:spLocks noGrp="1"/>
          </p:cNvSpPr>
          <p:nvPr/>
        </p:nvSpPr>
        <p:spPr>
          <a:xfrm>
            <a:off x="777240" y="3154680"/>
            <a:ext cx="594360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800" b="1">
                <a:solidFill>
                  <a:srgbClr val="F2B632"/>
                </a:solidFill>
                <a:latin typeface="Arial"/>
                <a:ea typeface="Arial"/>
                <a:cs typeface="Arial"/>
              </a:rPr>
              <a:t>Dịch vụ ứng dụng</a:t>
            </a:r>
            <a:endParaRPr sz="180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50348C00-EC4B-48B2-9FE8-29580F2F84CF}"/>
              </a:ext>
            </a:extLst>
          </p:cNvPr>
          <p:cNvSpPr>
            <a:spLocks noGrp="1"/>
          </p:cNvSpPr>
          <p:nvPr/>
        </p:nvSpPr>
        <p:spPr>
          <a:xfrm>
            <a:off x="777240" y="3611880"/>
            <a:ext cx="5943600" cy="7772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400">
                <a:solidFill>
                  <a:srgbClr val="FFFFFF"/>
                </a:solidFill>
                <a:latin typeface="Arial"/>
                <a:ea typeface="Arial"/>
                <a:cs typeface="Arial"/>
              </a:rPr>
              <a:t>Xác thực, tìm kiếm, kiểm tra khung giờ, đặt sân, thanh toán, thông báo</a:t>
            </a:r>
            <a:endParaRPr sz="1400"/>
          </a:p>
        </p:txBody>
      </p:sp>
      <p:sp>
        <p:nvSpPr>
          <p:cNvPr id="9" name="ly2">
            <a:extLst>
              <a:ext uri="{FF2B5EF4-FFF2-40B4-BE49-F238E27FC236}">
                <a16:creationId xmlns:a16="http://schemas.microsoft.com/office/drawing/2014/main" id="{EBB8290E-4F64-4B22-BFCB-A2EF947D5898}"/>
              </a:ext>
            </a:extLst>
          </p:cNvPr>
          <p:cNvSpPr>
            <a:spLocks noGrp="1"/>
          </p:cNvSpPr>
          <p:nvPr/>
        </p:nvSpPr>
        <p:spPr>
          <a:xfrm>
            <a:off x="548640" y="4663440"/>
            <a:ext cx="6400800" cy="1463040"/>
          </a:xfrm>
          <a:prstGeom prst="roundRect">
            <a:avLst>
              <a:gd name="adj" fmla="val 7500"/>
            </a:avLst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8CF13277-1FF4-47C2-BCCE-ED676E5E9C29}"/>
              </a:ext>
            </a:extLst>
          </p:cNvPr>
          <p:cNvSpPr>
            <a:spLocks noGrp="1"/>
          </p:cNvSpPr>
          <p:nvPr/>
        </p:nvSpPr>
        <p:spPr>
          <a:xfrm>
            <a:off x="777240" y="4800600"/>
            <a:ext cx="594360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800" b="1">
                <a:solidFill>
                  <a:srgbClr val="F2B632"/>
                </a:solidFill>
                <a:latin typeface="Arial"/>
                <a:ea typeface="Arial"/>
                <a:cs typeface="Arial"/>
              </a:rPr>
              <a:t>Lưu trữ</a:t>
            </a:r>
            <a:endParaRPr sz="180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2FF45774-E812-442B-8976-B6DCE08DFFFC}"/>
              </a:ext>
            </a:extLst>
          </p:cNvPr>
          <p:cNvSpPr>
            <a:spLocks noGrp="1"/>
          </p:cNvSpPr>
          <p:nvPr/>
        </p:nvSpPr>
        <p:spPr>
          <a:xfrm>
            <a:off x="777240" y="5257800"/>
            <a:ext cx="5943600" cy="7772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400">
                <a:solidFill>
                  <a:srgbClr val="FFFFFF"/>
                </a:solidFill>
                <a:latin typeface="Arial"/>
                <a:ea typeface="Arial"/>
                <a:cs typeface="Arial"/>
              </a:rPr>
              <a:t>Hiện tại: snapshot JSON qua FlutterSecureStorage. Firebase và FCM là hướng mở rộng.</a:t>
            </a:r>
            <a:endParaRPr sz="1400"/>
          </a:p>
        </p:txBody>
      </p:sp>
      <p:sp>
        <p:nvSpPr>
          <p:cNvPr id="12" name="tech">
            <a:extLst>
              <a:ext uri="{FF2B5EF4-FFF2-40B4-BE49-F238E27FC236}">
                <a16:creationId xmlns:a16="http://schemas.microsoft.com/office/drawing/2014/main" id="{6A976991-6568-4810-954D-F1A5F7CD0132}"/>
              </a:ext>
            </a:extLst>
          </p:cNvPr>
          <p:cNvSpPr>
            <a:spLocks noGrp="1"/>
          </p:cNvSpPr>
          <p:nvPr/>
        </p:nvSpPr>
        <p:spPr>
          <a:xfrm>
            <a:off x="7223760" y="1371600"/>
            <a:ext cx="4389120" cy="48463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CCF59CCD-8408-424A-BD64-D152576EA38F}"/>
              </a:ext>
            </a:extLst>
          </p:cNvPr>
          <p:cNvSpPr>
            <a:spLocks noGrp="1"/>
          </p:cNvSpPr>
          <p:nvPr/>
        </p:nvSpPr>
        <p:spPr>
          <a:xfrm>
            <a:off x="7498080" y="1554480"/>
            <a:ext cx="384048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2000" b="1">
                <a:solidFill>
                  <a:srgbClr val="2B2B2B"/>
                </a:solidFill>
                <a:latin typeface="Arial"/>
                <a:ea typeface="Arial"/>
                <a:cs typeface="Arial"/>
              </a:rPr>
              <a:t>Công nghệ dự kiến</a:t>
            </a:r>
            <a:endParaRPr sz="200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93595EBF-0D8E-4F5F-9190-F4E6D5E0BC12}"/>
              </a:ext>
            </a:extLst>
          </p:cNvPr>
          <p:cNvSpPr>
            <a:spLocks noGrp="1"/>
          </p:cNvSpPr>
          <p:nvPr/>
        </p:nvSpPr>
        <p:spPr>
          <a:xfrm>
            <a:off x="7498080" y="2194560"/>
            <a:ext cx="3840480" cy="3840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400">
                <a:solidFill>
                  <a:srgbClr val="333333"/>
                </a:solidFill>
                <a:latin typeface="Arial"/>
                <a:ea typeface="Arial"/>
                <a:cs typeface="Arial"/>
              </a:rPr>
              <a:t>Frontend: Flutter/Dart</a:t>
            </a:r>
            <a:endParaRPr sz="140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400">
                <a:solidFill>
                  <a:srgbClr val="333333"/>
                </a:solidFill>
                <a:latin typeface="Arial"/>
                <a:ea typeface="Arial"/>
                <a:cs typeface="Arial"/>
              </a:rPr>
              <a:t>Backend, CSDL: Firebase, Firestore</a:t>
            </a:r>
            <a:endParaRPr sz="140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400">
                <a:solidFill>
                  <a:srgbClr val="333333"/>
                </a:solidFill>
                <a:latin typeface="Arial"/>
                <a:ea typeface="Arial"/>
                <a:cs typeface="Arial"/>
              </a:rPr>
              <a:t>Xác thực: Email/Password, Google</a:t>
            </a:r>
            <a:endParaRPr sz="140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400">
                <a:solidFill>
                  <a:srgbClr val="333333"/>
                </a:solidFill>
                <a:latin typeface="Arial"/>
                <a:ea typeface="Arial"/>
                <a:cs typeface="Arial"/>
              </a:rPr>
              <a:t>Lưu ảnh: Firebase Storage</a:t>
            </a:r>
            <a:endParaRPr sz="140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400">
                <a:solidFill>
                  <a:srgbClr val="333333"/>
                </a:solidFill>
                <a:latin typeface="Arial"/>
                <a:ea typeface="Arial"/>
                <a:cs typeface="Arial"/>
              </a:rPr>
              <a:t>Thông báo: FCM / Local Notification</a:t>
            </a:r>
            <a:endParaRPr sz="140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400">
                <a:solidFill>
                  <a:srgbClr val="333333"/>
                </a:solidFill>
                <a:latin typeface="Arial"/>
                <a:ea typeface="Arial"/>
                <a:cs typeface="Arial"/>
              </a:rPr>
              <a:t>Bản đồ: Google Maps API</a:t>
            </a:r>
            <a:endParaRPr sz="140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400">
                <a:solidFill>
                  <a:srgbClr val="333333"/>
                </a:solidFill>
                <a:latin typeface="Arial"/>
                <a:ea typeface="Arial"/>
                <a:cs typeface="Arial"/>
              </a:rPr>
              <a:t>Thanh toán: mô phỏng, mở rộng VNPay/MoMo</a:t>
            </a:r>
            <a:endParaRPr sz="140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400">
                <a:solidFill>
                  <a:srgbClr val="333333"/>
                </a:solidFill>
                <a:latin typeface="Arial"/>
                <a:ea typeface="Arial"/>
                <a:cs typeface="Arial"/>
              </a:rPr>
              <a:t>Prototype: Figma</a:t>
            </a: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7536642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2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17ECD65-3F42-490D-820E-92A05A958B1A}"/>
              </a:ext>
            </a:extLst>
          </p:cNvPr>
          <p:cNvSpPr>
            <a:spLocks noGrp="1"/>
          </p:cNvSpPr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400" b="1">
                <a:solidFill>
                  <a:srgbClr val="F2B632"/>
                </a:solidFill>
                <a:latin typeface="Arial"/>
                <a:ea typeface="Arial"/>
                <a:cs typeface="Arial"/>
              </a:rPr>
              <a:t>THIẾT KẾ DỮ LIỆU &amp; BẢO MẬT</a:t>
            </a:r>
            <a:endParaRPr sz="3400"/>
          </a:p>
        </p:txBody>
      </p:sp>
      <p:sp>
        <p:nvSpPr>
          <p:cNvPr id="3" name="d">
            <a:extLst>
              <a:ext uri="{FF2B5EF4-FFF2-40B4-BE49-F238E27FC236}">
                <a16:creationId xmlns:a16="http://schemas.microsoft.com/office/drawing/2014/main" id="{48D7087F-E308-48CF-87D1-09B7F0268968}"/>
              </a:ext>
            </a:extLst>
          </p:cNvPr>
          <p:cNvSpPr>
            <a:spLocks noGrp="1"/>
          </p:cNvSpPr>
          <p:nvPr/>
        </p:nvSpPr>
        <p:spPr>
          <a:xfrm>
            <a:off x="548640" y="1371600"/>
            <a:ext cx="6309360" cy="4846320"/>
          </a:xfrm>
          <a:prstGeom prst="roundRect">
            <a:avLst>
              <a:gd name="adj" fmla="val 2264"/>
            </a:avLst>
          </a:prstGeom>
          <a:solidFill>
            <a:srgbClr val="3A3A3A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9FB2807-6F51-4636-987C-2C5E8D011E29}"/>
              </a:ext>
            </a:extLst>
          </p:cNvPr>
          <p:cNvSpPr>
            <a:spLocks noGrp="1"/>
          </p:cNvSpPr>
          <p:nvPr/>
        </p:nvSpPr>
        <p:spPr>
          <a:xfrm>
            <a:off x="822960" y="1554480"/>
            <a:ext cx="576072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2000" b="1">
                <a:solidFill>
                  <a:srgbClr val="F2B632"/>
                </a:solidFill>
                <a:latin typeface="Arial"/>
                <a:ea typeface="Arial"/>
                <a:cs typeface="Arial"/>
              </a:rPr>
              <a:t>Dữ liệu ở mức khái niệm</a:t>
            </a:r>
            <a:endParaRPr sz="20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D91ED75D-9A4B-4F06-8984-A246CA997F14}"/>
              </a:ext>
            </a:extLst>
          </p:cNvPr>
          <p:cNvSpPr>
            <a:spLocks noGrp="1"/>
          </p:cNvSpPr>
          <p:nvPr/>
        </p:nvSpPr>
        <p:spPr>
          <a:xfrm>
            <a:off x="822960" y="2148840"/>
            <a:ext cx="5760720" cy="3931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500">
                <a:solidFill>
                  <a:srgbClr val="FFFFFF"/>
                </a:solidFill>
                <a:latin typeface="Arial"/>
                <a:ea typeface="Arial"/>
                <a:cs typeface="Arial"/>
              </a:rPr>
              <a:t>Tài khoản: định danh, liên hệ, vai trò</a:t>
            </a:r>
            <a:endParaRPr sz="140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500">
                <a:solidFill>
                  <a:srgbClr val="FFFFFF"/>
                </a:solidFill>
                <a:latin typeface="Arial"/>
                <a:ea typeface="Arial"/>
                <a:cs typeface="Arial"/>
              </a:rPr>
              <a:t>Địa điểm sân, sân thành phần: loại hình, giá, trạng thái</a:t>
            </a:r>
            <a:endParaRPr sz="140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500">
                <a:solidFill>
                  <a:srgbClr val="FFFFFF"/>
                </a:solidFill>
                <a:latin typeface="Arial"/>
                <a:ea typeface="Arial"/>
                <a:cs typeface="Arial"/>
              </a:rPr>
              <a:t>Khung giờ: ngày, giờ, giá; mở, đã đặt hoặc khóa</a:t>
            </a:r>
            <a:endParaRPr sz="140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500">
                <a:solidFill>
                  <a:srgbClr val="FFFFFF"/>
                </a:solidFill>
                <a:latin typeface="Arial"/>
                <a:ea typeface="Arial"/>
                <a:cs typeface="Arial"/>
              </a:rPr>
              <a:t>Lịch đặt: người đặt, sân, khung giờ, tổng tiền, trạng thái</a:t>
            </a:r>
            <a:endParaRPr sz="140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500">
                <a:solidFill>
                  <a:srgbClr val="FFFFFF"/>
                </a:solidFill>
                <a:latin typeface="Arial"/>
                <a:ea typeface="Arial"/>
                <a:cs typeface="Arial"/>
              </a:rPr>
              <a:t>Giao dịch: phương thức, số tiền, mã tham chiếu, trạng thái</a:t>
            </a:r>
            <a:endParaRPr sz="140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500">
                <a:solidFill>
                  <a:srgbClr val="FFFFFF"/>
                </a:solidFill>
                <a:latin typeface="Arial"/>
                <a:ea typeface="Arial"/>
                <a:cs typeface="Arial"/>
              </a:rPr>
              <a:t>Đánh giá, thông báo, sân yêu thích, mã khuyến mãi</a:t>
            </a:r>
            <a:endParaRPr sz="1400"/>
          </a:p>
        </p:txBody>
      </p:sp>
      <p:sp>
        <p:nvSpPr>
          <p:cNvPr id="6" name="sec">
            <a:extLst>
              <a:ext uri="{FF2B5EF4-FFF2-40B4-BE49-F238E27FC236}">
                <a16:creationId xmlns:a16="http://schemas.microsoft.com/office/drawing/2014/main" id="{0BF238FA-A069-4841-8AAA-27D8299C60A8}"/>
              </a:ext>
            </a:extLst>
          </p:cNvPr>
          <p:cNvSpPr>
            <a:spLocks noGrp="1"/>
          </p:cNvSpPr>
          <p:nvPr/>
        </p:nvSpPr>
        <p:spPr>
          <a:xfrm>
            <a:off x="7132320" y="1371600"/>
            <a:ext cx="4480560" cy="4846320"/>
          </a:xfrm>
          <a:prstGeom prst="roundRect">
            <a:avLst>
              <a:gd name="adj" fmla="val 2449"/>
            </a:avLst>
          </a:prstGeom>
          <a:solidFill>
            <a:srgbClr val="F2B632"/>
          </a:solidFill>
          <a:ln w="12700">
            <a:solidFill>
              <a:srgbClr val="F2B632"/>
            </a:solidFill>
            <a:prstDash val="solid"/>
          </a:ln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C29C234A-AB5E-4794-B6C9-ABD950FBAA7C}"/>
              </a:ext>
            </a:extLst>
          </p:cNvPr>
          <p:cNvSpPr>
            <a:spLocks noGrp="1"/>
          </p:cNvSpPr>
          <p:nvPr/>
        </p:nvSpPr>
        <p:spPr>
          <a:xfrm>
            <a:off x="7406640" y="1554480"/>
            <a:ext cx="393192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2000" b="1">
                <a:solidFill>
                  <a:srgbClr val="2B2B2B"/>
                </a:solidFill>
                <a:latin typeface="Arial"/>
                <a:ea typeface="Arial"/>
                <a:cs typeface="Arial"/>
              </a:rPr>
              <a:t>Bảo mật &amp; chất lượng</a:t>
            </a:r>
            <a:endParaRPr sz="200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3148877A-2905-409A-9F41-9DBA71BE3B40}"/>
              </a:ext>
            </a:extLst>
          </p:cNvPr>
          <p:cNvSpPr>
            <a:spLocks noGrp="1"/>
          </p:cNvSpPr>
          <p:nvPr/>
        </p:nvSpPr>
        <p:spPr>
          <a:xfrm>
            <a:off x="7406640" y="2148840"/>
            <a:ext cx="3931920" cy="3931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500">
                <a:solidFill>
                  <a:srgbClr val="2B2B2B"/>
                </a:solidFill>
                <a:latin typeface="Arial"/>
                <a:ea typeface="Arial"/>
                <a:cs typeface="Arial"/>
              </a:rPr>
              <a:t>Xác thực và phân quyền theo vai trò</a:t>
            </a:r>
            <a:endParaRPr sz="140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500">
                <a:solidFill>
                  <a:srgbClr val="2B2B2B"/>
                </a:solidFill>
                <a:latin typeface="Arial"/>
                <a:ea typeface="Arial"/>
                <a:cs typeface="Arial"/>
              </a:rPr>
              <a:t>Kiểm tra dữ liệu ở giao diện và lớp dịch vụ</a:t>
            </a:r>
            <a:endParaRPr sz="140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500">
                <a:solidFill>
                  <a:srgbClr val="2B2B2B"/>
                </a:solidFill>
                <a:latin typeface="Arial"/>
                <a:ea typeface="Arial"/>
                <a:cs typeface="Arial"/>
              </a:rPr>
              <a:t>Không lưu dữ liệu thanh toán nhạy cảm</a:t>
            </a:r>
            <a:endParaRPr sz="140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500">
                <a:solidFill>
                  <a:srgbClr val="2B2B2B"/>
                </a:solidFill>
                <a:latin typeface="Arial"/>
                <a:ea typeface="Arial"/>
                <a:cs typeface="Arial"/>
              </a:rPr>
              <a:t>Phản hồi rõ khi tải, gửi, lỗi mạng</a:t>
            </a:r>
            <a:endParaRPr sz="140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500">
                <a:solidFill>
                  <a:srgbClr val="2B2B2B"/>
                </a:solidFill>
                <a:latin typeface="Arial"/>
                <a:ea typeface="Arial"/>
                <a:cs typeface="Arial"/>
              </a:rPr>
              <a:t>Thiết kế mô-đun, dễ mở rộng</a:t>
            </a: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20280397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D3AD2BC8-4DCC-421B-BA2C-1EE9938FB657}"/>
              </a:ext>
            </a:extLst>
          </p:cNvPr>
          <p:cNvSpPr>
            <a:spLocks noGrp="1"/>
          </p:cNvSpPr>
          <p:nvPr/>
        </p:nvSpPr>
        <p:spPr>
          <a:xfrm>
            <a:off x="533400" y="285750"/>
            <a:ext cx="110490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/>
          <a:lstStyle>
            <a:defPPr algn="l">
              <a:defRPr sz="2850" b="1">
                <a:solidFill>
                  <a:srgbClr val="F5BA2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850" b="1">
                <a:solidFill>
                  <a:srgbClr val="F5BA2D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5BA2D"/>
                </a:solidFill>
                <a:latin typeface="Arial"/>
                <a:ea typeface="Arial"/>
                <a:cs typeface="Arial"/>
              </a:rPr>
              <a:t>USE CASE KHÁCH HÀNG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E9F65EA-E2C2-481F-8D8A-3D9D2DFC508A}"/>
              </a:ext>
            </a:extLst>
          </p:cNvPr>
          <p:cNvSpPr>
            <a:spLocks noGrp="1"/>
          </p:cNvSpPr>
          <p:nvPr/>
        </p:nvSpPr>
        <p:spPr>
          <a:xfrm>
            <a:off x="571500" y="3143250"/>
            <a:ext cx="1809750" cy="857250"/>
          </a:xfrm>
          <a:prstGeom prst="rect">
            <a:avLst/>
          </a:prstGeom>
          <a:solidFill>
            <a:srgbClr val="F5BA2D"/>
          </a:solidFill>
          <a:ln w="14288">
            <a:solidFill>
              <a:srgbClr val="F5BA2D"/>
            </a:solidFill>
          </a:ln>
        </p:spPr>
        <p:txBody>
          <a:bodyPr wrap="square" lIns="114300" tIns="114300" rIns="114300" bIns="114300" anchor="ctr"/>
          <a:lstStyle>
            <a:defPPr algn="l">
              <a:defRPr sz="1725">
                <a:solidFill>
                  <a:srgbClr val="292929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725">
                <a:solidFill>
                  <a:srgbClr val="292929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292929"/>
                </a:solidFill>
                <a:latin typeface="Arial"/>
                <a:ea typeface="Arial"/>
                <a:cs typeface="Arial"/>
              </a:rPr>
              <a:t>«actor»</a:t>
            </a:r>
          </a:p>
          <a:p>
            <a:pPr algn="l">
              <a:defRPr sz="1725">
                <a:solidFill>
                  <a:srgbClr val="292929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292929"/>
                </a:solidFill>
                <a:latin typeface="Arial"/>
                <a:ea typeface="Arial"/>
                <a:cs typeface="Arial"/>
              </a:rPr>
              <a:t>Khách hàng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F273D1FA-7BAB-4540-B6F9-8D4586327AC3}"/>
              </a:ext>
            </a:extLst>
          </p:cNvPr>
          <p:cNvCxnSpPr/>
          <p:nvPr/>
        </p:nvCxnSpPr>
        <p:spPr>
          <a:xfrm flipV="1">
            <a:off x="2381250" y="1495425"/>
            <a:ext cx="1714500" cy="2076450"/>
          </a:xfrm>
          <a:prstGeom prst="straightConnector1">
            <a:avLst/>
          </a:prstGeom>
          <a:ln w="16193">
            <a:solidFill>
              <a:srgbClr val="D7D7D7"/>
            </a:solidFill>
            <a:prstDash val="solid"/>
            <a:tailEnd type="none" w="med" len="med"/>
          </a:ln>
        </p:spPr>
      </p:cxnSp>
      <p:sp>
        <p:nvSpPr>
          <p:cNvPr id="4" name="Oval 3">
            <a:extLst>
              <a:ext uri="{FF2B5EF4-FFF2-40B4-BE49-F238E27FC236}">
                <a16:creationId xmlns:a16="http://schemas.microsoft.com/office/drawing/2014/main" id="{98942750-9A71-4E19-90A5-AB2BD80D2C89}"/>
              </a:ext>
            </a:extLst>
          </p:cNvPr>
          <p:cNvSpPr>
            <a:spLocks noGrp="1"/>
          </p:cNvSpPr>
          <p:nvPr/>
        </p:nvSpPr>
        <p:spPr>
          <a:xfrm>
            <a:off x="4095750" y="1200150"/>
            <a:ext cx="7143750" cy="590550"/>
          </a:xfrm>
          <a:prstGeom prst="ellipse">
            <a:avLst/>
          </a:prstGeom>
          <a:solidFill>
            <a:srgbClr val="F5F5F5"/>
          </a:solidFill>
          <a:ln w="14288">
            <a:solidFill>
              <a:srgbClr val="F5BA2D"/>
            </a:solidFill>
          </a:ln>
        </p:spPr>
        <p:txBody>
          <a:bodyPr wrap="square" lIns="114300" tIns="114300" rIns="114300" bIns="114300" anchor="ctr"/>
          <a:lstStyle>
            <a:defPPr algn="ctr">
              <a:defRPr sz="1725">
                <a:solidFill>
                  <a:srgbClr val="292929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725">
                <a:solidFill>
                  <a:srgbClr val="292929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292929"/>
                </a:solidFill>
                <a:latin typeface="Arial"/>
                <a:ea typeface="Arial"/>
                <a:cs typeface="Arial"/>
              </a:rPr>
              <a:t>Đăng nhập và quản lý tài khoản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A6FAC016-EF27-47B5-B326-78B28A6188EA}"/>
              </a:ext>
            </a:extLst>
          </p:cNvPr>
          <p:cNvCxnSpPr/>
          <p:nvPr/>
        </p:nvCxnSpPr>
        <p:spPr>
          <a:xfrm flipV="1">
            <a:off x="2381250" y="2276475"/>
            <a:ext cx="1714500" cy="1295400"/>
          </a:xfrm>
          <a:prstGeom prst="straightConnector1">
            <a:avLst/>
          </a:prstGeom>
          <a:ln w="16193">
            <a:solidFill>
              <a:srgbClr val="D7D7D7"/>
            </a:solidFill>
            <a:prstDash val="solid"/>
            <a:tailEnd type="none" w="med" len="med"/>
          </a:ln>
        </p:spPr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5EEBC02D-3158-4935-B51B-E63A670DF6AE}"/>
              </a:ext>
            </a:extLst>
          </p:cNvPr>
          <p:cNvSpPr>
            <a:spLocks noGrp="1"/>
          </p:cNvSpPr>
          <p:nvPr/>
        </p:nvSpPr>
        <p:spPr>
          <a:xfrm>
            <a:off x="4095750" y="1981200"/>
            <a:ext cx="7143750" cy="590550"/>
          </a:xfrm>
          <a:prstGeom prst="ellipse">
            <a:avLst/>
          </a:prstGeom>
          <a:solidFill>
            <a:srgbClr val="F5F5F5"/>
          </a:solidFill>
          <a:ln w="14288">
            <a:solidFill>
              <a:srgbClr val="F5BA2D"/>
            </a:solidFill>
          </a:ln>
        </p:spPr>
        <p:txBody>
          <a:bodyPr wrap="square" lIns="114300" tIns="114300" rIns="114300" bIns="114300" anchor="ctr"/>
          <a:lstStyle>
            <a:defPPr algn="ctr">
              <a:defRPr sz="1725">
                <a:solidFill>
                  <a:srgbClr val="292929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725">
                <a:solidFill>
                  <a:srgbClr val="292929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292929"/>
                </a:solidFill>
                <a:latin typeface="Arial"/>
                <a:ea typeface="Arial"/>
                <a:cs typeface="Arial"/>
              </a:rPr>
              <a:t>Tìm sân và xem thông tin công khai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5D52E84-78E4-426B-92E2-7ED77BEDF876}"/>
              </a:ext>
            </a:extLst>
          </p:cNvPr>
          <p:cNvCxnSpPr/>
          <p:nvPr/>
        </p:nvCxnSpPr>
        <p:spPr>
          <a:xfrm flipV="1">
            <a:off x="2381250" y="3057525"/>
            <a:ext cx="1714500" cy="514350"/>
          </a:xfrm>
          <a:prstGeom prst="straightConnector1">
            <a:avLst/>
          </a:prstGeom>
          <a:ln w="16193">
            <a:solidFill>
              <a:srgbClr val="D7D7D7"/>
            </a:solidFill>
            <a:prstDash val="solid"/>
            <a:tailEnd type="none" w="med" len="med"/>
          </a:ln>
        </p:spPr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3DD19591-6123-4454-886F-C3D6FF293AEC}"/>
              </a:ext>
            </a:extLst>
          </p:cNvPr>
          <p:cNvSpPr>
            <a:spLocks noGrp="1"/>
          </p:cNvSpPr>
          <p:nvPr/>
        </p:nvSpPr>
        <p:spPr>
          <a:xfrm>
            <a:off x="4095750" y="2762250"/>
            <a:ext cx="7143750" cy="590550"/>
          </a:xfrm>
          <a:prstGeom prst="ellipse">
            <a:avLst/>
          </a:prstGeom>
          <a:solidFill>
            <a:srgbClr val="F5F5F5"/>
          </a:solidFill>
          <a:ln w="14288">
            <a:solidFill>
              <a:srgbClr val="F5BA2D"/>
            </a:solidFill>
          </a:ln>
        </p:spPr>
        <p:txBody>
          <a:bodyPr wrap="square" lIns="114300" tIns="114300" rIns="114300" bIns="114300" anchor="ctr"/>
          <a:lstStyle>
            <a:defPPr algn="ctr">
              <a:defRPr sz="1725">
                <a:solidFill>
                  <a:srgbClr val="292929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725">
                <a:solidFill>
                  <a:srgbClr val="292929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292929"/>
                </a:solidFill>
                <a:latin typeface="Arial"/>
                <a:ea typeface="Arial"/>
                <a:cs typeface="Arial"/>
              </a:rPr>
              <a:t>Đặt sân theo giờ và gửi chứng từ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1989CEF-19C5-4262-9A43-83FFBE495926}"/>
              </a:ext>
            </a:extLst>
          </p:cNvPr>
          <p:cNvCxnSpPr/>
          <p:nvPr/>
        </p:nvCxnSpPr>
        <p:spPr>
          <a:xfrm>
            <a:off x="2381250" y="3571875"/>
            <a:ext cx="1714500" cy="266700"/>
          </a:xfrm>
          <a:prstGeom prst="straightConnector1">
            <a:avLst/>
          </a:prstGeom>
          <a:ln w="16193">
            <a:solidFill>
              <a:srgbClr val="D7D7D7"/>
            </a:solidFill>
            <a:prstDash val="solid"/>
            <a:tailEnd type="none" w="med" len="med"/>
          </a:ln>
        </p:spPr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64D48AB3-CC04-441E-980D-5336BDF90D5C}"/>
              </a:ext>
            </a:extLst>
          </p:cNvPr>
          <p:cNvSpPr>
            <a:spLocks noGrp="1"/>
          </p:cNvSpPr>
          <p:nvPr/>
        </p:nvSpPr>
        <p:spPr>
          <a:xfrm>
            <a:off x="4095750" y="3543300"/>
            <a:ext cx="7143750" cy="590550"/>
          </a:xfrm>
          <a:prstGeom prst="ellipse">
            <a:avLst/>
          </a:prstGeom>
          <a:solidFill>
            <a:srgbClr val="F5F5F5"/>
          </a:solidFill>
          <a:ln w="14288">
            <a:solidFill>
              <a:srgbClr val="F5BA2D"/>
            </a:solidFill>
          </a:ln>
        </p:spPr>
        <p:txBody>
          <a:bodyPr wrap="square" lIns="114300" tIns="114300" rIns="114300" bIns="114300" anchor="ctr"/>
          <a:lstStyle>
            <a:defPPr algn="ctr">
              <a:defRPr sz="1725">
                <a:solidFill>
                  <a:srgbClr val="292929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725">
                <a:solidFill>
                  <a:srgbClr val="292929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292929"/>
                </a:solidFill>
                <a:latin typeface="Arial"/>
                <a:ea typeface="Arial"/>
                <a:cs typeface="Arial"/>
              </a:rPr>
              <a:t>Mua vé social tại sân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8D41FAC-B086-4AE1-A1DF-B98834400DCB}"/>
              </a:ext>
            </a:extLst>
          </p:cNvPr>
          <p:cNvCxnSpPr/>
          <p:nvPr/>
        </p:nvCxnSpPr>
        <p:spPr>
          <a:xfrm>
            <a:off x="2381250" y="3571875"/>
            <a:ext cx="1714500" cy="1047750"/>
          </a:xfrm>
          <a:prstGeom prst="straightConnector1">
            <a:avLst/>
          </a:prstGeom>
          <a:ln w="16193">
            <a:solidFill>
              <a:srgbClr val="D7D7D7"/>
            </a:solidFill>
            <a:prstDash val="solid"/>
            <a:tailEnd type="none" w="med" len="med"/>
          </a:ln>
        </p:spPr>
      </p:cxnSp>
      <p:sp>
        <p:nvSpPr>
          <p:cNvPr id="12" name="Oval 11">
            <a:extLst>
              <a:ext uri="{FF2B5EF4-FFF2-40B4-BE49-F238E27FC236}">
                <a16:creationId xmlns:a16="http://schemas.microsoft.com/office/drawing/2014/main" id="{68AE4B0C-7250-40ED-9246-945D5EA55235}"/>
              </a:ext>
            </a:extLst>
          </p:cNvPr>
          <p:cNvSpPr>
            <a:spLocks noGrp="1"/>
          </p:cNvSpPr>
          <p:nvPr/>
        </p:nvSpPr>
        <p:spPr>
          <a:xfrm>
            <a:off x="4095750" y="4324350"/>
            <a:ext cx="7143750" cy="590550"/>
          </a:xfrm>
          <a:prstGeom prst="ellipse">
            <a:avLst/>
          </a:prstGeom>
          <a:solidFill>
            <a:srgbClr val="F5F5F5"/>
          </a:solidFill>
          <a:ln w="14288">
            <a:solidFill>
              <a:srgbClr val="F5BA2D"/>
            </a:solidFill>
          </a:ln>
        </p:spPr>
        <p:txBody>
          <a:bodyPr wrap="square" lIns="114300" tIns="114300" rIns="114300" bIns="114300" anchor="ctr"/>
          <a:lstStyle>
            <a:defPPr algn="ctr">
              <a:defRPr sz="1725">
                <a:solidFill>
                  <a:srgbClr val="292929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725">
                <a:solidFill>
                  <a:srgbClr val="292929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292929"/>
                </a:solidFill>
                <a:latin typeface="Arial"/>
                <a:ea typeface="Arial"/>
                <a:cs typeface="Arial"/>
              </a:rPr>
              <a:t>Đăng ký tham gia giải đấu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3471690-8799-4917-B61D-2F337972D1A7}"/>
              </a:ext>
            </a:extLst>
          </p:cNvPr>
          <p:cNvCxnSpPr/>
          <p:nvPr/>
        </p:nvCxnSpPr>
        <p:spPr>
          <a:xfrm>
            <a:off x="2381250" y="3571875"/>
            <a:ext cx="1714500" cy="1828800"/>
          </a:xfrm>
          <a:prstGeom prst="straightConnector1">
            <a:avLst/>
          </a:prstGeom>
          <a:ln w="16193">
            <a:solidFill>
              <a:srgbClr val="D7D7D7"/>
            </a:solidFill>
            <a:prstDash val="solid"/>
            <a:tailEnd type="none" w="med" len="med"/>
          </a:ln>
        </p:spPr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6E6D91F5-58C5-4386-9BA0-FD2622A39B4A}"/>
              </a:ext>
            </a:extLst>
          </p:cNvPr>
          <p:cNvSpPr>
            <a:spLocks noGrp="1"/>
          </p:cNvSpPr>
          <p:nvPr/>
        </p:nvSpPr>
        <p:spPr>
          <a:xfrm>
            <a:off x="4095750" y="5105400"/>
            <a:ext cx="7143750" cy="590550"/>
          </a:xfrm>
          <a:prstGeom prst="ellipse">
            <a:avLst/>
          </a:prstGeom>
          <a:solidFill>
            <a:srgbClr val="F5F5F5"/>
          </a:solidFill>
          <a:ln w="14288">
            <a:solidFill>
              <a:srgbClr val="F5BA2D"/>
            </a:solidFill>
          </a:ln>
        </p:spPr>
        <p:txBody>
          <a:bodyPr wrap="square" lIns="114300" tIns="114300" rIns="114300" bIns="114300" anchor="ctr"/>
          <a:lstStyle>
            <a:defPPr algn="ctr">
              <a:defRPr sz="1725">
                <a:solidFill>
                  <a:srgbClr val="292929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725">
                <a:solidFill>
                  <a:srgbClr val="292929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292929"/>
                </a:solidFill>
                <a:latin typeface="Arial"/>
                <a:ea typeface="Arial"/>
                <a:cs typeface="Arial"/>
              </a:rPr>
              <a:t>Xem lịch, vé và yêu cầu hủy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7080528-5C7C-4BFE-8FF8-152AFE10C1C2}"/>
              </a:ext>
            </a:extLst>
          </p:cNvPr>
          <p:cNvSpPr>
            <a:spLocks noGrp="1"/>
          </p:cNvSpPr>
          <p:nvPr/>
        </p:nvSpPr>
        <p:spPr>
          <a:xfrm>
            <a:off x="533400" y="6248400"/>
            <a:ext cx="11049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/>
          <a:lstStyle>
            <a:defPPr algn="l">
              <a:defRPr sz="1350" b="0">
                <a:solidFill>
                  <a:srgbClr val="D7D7D7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350" b="0">
                <a:solidFill>
                  <a:srgbClr val="D7D7D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7D7D7"/>
                </a:solidFill>
                <a:latin typeface="Arial"/>
                <a:ea typeface="Arial"/>
                <a:cs typeface="Arial"/>
              </a:rPr>
              <a:t>Khách chỉ xem và thao tác trên lịch, vé thuộc tài khoản của mình.</a:t>
            </a:r>
          </a:p>
        </p:txBody>
      </p:sp>
    </p:spTree>
    <p:extLst>
      <p:ext uri="{BB962C8B-B14F-4D97-AF65-F5344CB8AC3E}">
        <p14:creationId xmlns:p14="http://schemas.microsoft.com/office/powerpoint/2010/main" val="5104166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6CBC54CF-28B9-40A3-8EDA-C111F7EFABA1}"/>
              </a:ext>
            </a:extLst>
          </p:cNvPr>
          <p:cNvSpPr>
            <a:spLocks noGrp="1"/>
          </p:cNvSpPr>
          <p:nvPr/>
        </p:nvSpPr>
        <p:spPr>
          <a:xfrm>
            <a:off x="533400" y="285750"/>
            <a:ext cx="110490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/>
          <a:lstStyle>
            <a:defPPr algn="l">
              <a:defRPr sz="2850" b="1">
                <a:solidFill>
                  <a:srgbClr val="F5BA2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850" b="1">
                <a:solidFill>
                  <a:srgbClr val="F5BA2D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5BA2D"/>
                </a:solidFill>
                <a:latin typeface="Arial"/>
                <a:ea typeface="Arial"/>
                <a:cs typeface="Arial"/>
              </a:rPr>
              <a:t>USE CASE CÁC TÁC NHÂN VẬN HÀNH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9609870-9041-4385-B974-D559D74569A0}"/>
              </a:ext>
            </a:extLst>
          </p:cNvPr>
          <p:cNvSpPr>
            <a:spLocks noGrp="1"/>
          </p:cNvSpPr>
          <p:nvPr/>
        </p:nvSpPr>
        <p:spPr>
          <a:xfrm>
            <a:off x="571500" y="1466850"/>
            <a:ext cx="2000250" cy="876300"/>
          </a:xfrm>
          <a:prstGeom prst="rect">
            <a:avLst/>
          </a:prstGeom>
          <a:solidFill>
            <a:srgbClr val="F5BA2D"/>
          </a:solidFill>
          <a:ln w="14288">
            <a:solidFill>
              <a:srgbClr val="F5BA2D"/>
            </a:solidFill>
          </a:ln>
        </p:spPr>
        <p:txBody>
          <a:bodyPr wrap="square" lIns="114300" tIns="114300" rIns="114300" bIns="114300" anchor="ctr"/>
          <a:lstStyle>
            <a:defPPr algn="l">
              <a:defRPr sz="1725">
                <a:solidFill>
                  <a:srgbClr val="292929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725">
                <a:solidFill>
                  <a:srgbClr val="292929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292929"/>
                </a:solidFill>
                <a:latin typeface="Arial"/>
                <a:ea typeface="Arial"/>
                <a:cs typeface="Arial"/>
              </a:rPr>
              <a:t>«actor»</a:t>
            </a:r>
          </a:p>
          <a:p>
            <a:pPr algn="l">
              <a:defRPr sz="1725">
                <a:solidFill>
                  <a:srgbClr val="292929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292929"/>
                </a:solidFill>
                <a:latin typeface="Arial"/>
                <a:ea typeface="Arial"/>
                <a:cs typeface="Arial"/>
              </a:rPr>
              <a:t>Chủ sân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B3466ED6-BF13-48F4-8FDE-CE6DF6BC9FDF}"/>
              </a:ext>
            </a:extLst>
          </p:cNvPr>
          <p:cNvCxnSpPr/>
          <p:nvPr/>
        </p:nvCxnSpPr>
        <p:spPr>
          <a:xfrm flipV="1">
            <a:off x="2571750" y="1447800"/>
            <a:ext cx="1619250" cy="457200"/>
          </a:xfrm>
          <a:prstGeom prst="straightConnector1">
            <a:avLst/>
          </a:prstGeom>
          <a:ln w="16193">
            <a:solidFill>
              <a:srgbClr val="D7D7D7"/>
            </a:solidFill>
            <a:prstDash val="solid"/>
            <a:tailEnd type="none" w="med" len="med"/>
          </a:ln>
        </p:spPr>
      </p:cxnSp>
      <p:sp>
        <p:nvSpPr>
          <p:cNvPr id="4" name="Oval 3">
            <a:extLst>
              <a:ext uri="{FF2B5EF4-FFF2-40B4-BE49-F238E27FC236}">
                <a16:creationId xmlns:a16="http://schemas.microsoft.com/office/drawing/2014/main" id="{5ED42AB1-2200-44F7-A5DA-5C73CB872EEC}"/>
              </a:ext>
            </a:extLst>
          </p:cNvPr>
          <p:cNvSpPr>
            <a:spLocks noGrp="1"/>
          </p:cNvSpPr>
          <p:nvPr/>
        </p:nvSpPr>
        <p:spPr>
          <a:xfrm>
            <a:off x="4191000" y="1162050"/>
            <a:ext cx="7048500" cy="571500"/>
          </a:xfrm>
          <a:prstGeom prst="ellipse">
            <a:avLst/>
          </a:prstGeom>
          <a:solidFill>
            <a:srgbClr val="F5F5F5"/>
          </a:solidFill>
          <a:ln w="14288">
            <a:solidFill>
              <a:srgbClr val="F5BA2D"/>
            </a:solidFill>
          </a:ln>
        </p:spPr>
        <p:txBody>
          <a:bodyPr wrap="square" lIns="114300" tIns="114300" rIns="114300" bIns="114300" anchor="ctr"/>
          <a:lstStyle>
            <a:defPPr algn="ctr">
              <a:defRPr sz="1650">
                <a:solidFill>
                  <a:srgbClr val="292929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650">
                <a:solidFill>
                  <a:srgbClr val="292929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292929"/>
                </a:solidFill>
                <a:latin typeface="Arial"/>
                <a:ea typeface="Arial"/>
                <a:cs typeface="Arial"/>
              </a:rPr>
              <a:t>Quản lý cơ sở và giá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D3C76F20-929A-4B83-9C55-1060F982B038}"/>
              </a:ext>
            </a:extLst>
          </p:cNvPr>
          <p:cNvCxnSpPr/>
          <p:nvPr/>
        </p:nvCxnSpPr>
        <p:spPr>
          <a:xfrm>
            <a:off x="2571750" y="1905000"/>
            <a:ext cx="1619250" cy="285750"/>
          </a:xfrm>
          <a:prstGeom prst="straightConnector1">
            <a:avLst/>
          </a:prstGeom>
          <a:ln w="16193">
            <a:solidFill>
              <a:srgbClr val="D7D7D7"/>
            </a:solidFill>
            <a:prstDash val="solid"/>
            <a:tailEnd type="none" w="med" len="med"/>
          </a:ln>
        </p:spPr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F0F80E33-B4A0-4D70-BC4B-B59D228747AC}"/>
              </a:ext>
            </a:extLst>
          </p:cNvPr>
          <p:cNvSpPr>
            <a:spLocks noGrp="1"/>
          </p:cNvSpPr>
          <p:nvPr/>
        </p:nvSpPr>
        <p:spPr>
          <a:xfrm>
            <a:off x="4191000" y="1905000"/>
            <a:ext cx="7048500" cy="571500"/>
          </a:xfrm>
          <a:prstGeom prst="ellipse">
            <a:avLst/>
          </a:prstGeom>
          <a:solidFill>
            <a:srgbClr val="F5F5F5"/>
          </a:solidFill>
          <a:ln w="14288">
            <a:solidFill>
              <a:srgbClr val="F5BA2D"/>
            </a:solidFill>
          </a:ln>
        </p:spPr>
        <p:txBody>
          <a:bodyPr wrap="square" lIns="114300" tIns="114300" rIns="114300" bIns="114300" anchor="ctr"/>
          <a:lstStyle>
            <a:defPPr algn="ctr">
              <a:defRPr sz="1650">
                <a:solidFill>
                  <a:srgbClr val="292929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650">
                <a:solidFill>
                  <a:srgbClr val="292929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292929"/>
                </a:solidFill>
                <a:latin typeface="Arial"/>
                <a:ea typeface="Arial"/>
                <a:cs typeface="Arial"/>
              </a:rPr>
              <a:t>Cấp quyền nhân viên và xử lý yêu cầu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8ACB088-713C-4A95-B0D0-798C4E27FEA0}"/>
              </a:ext>
            </a:extLst>
          </p:cNvPr>
          <p:cNvSpPr>
            <a:spLocks noGrp="1"/>
          </p:cNvSpPr>
          <p:nvPr/>
        </p:nvSpPr>
        <p:spPr>
          <a:xfrm>
            <a:off x="571500" y="3105150"/>
            <a:ext cx="2000250" cy="876300"/>
          </a:xfrm>
          <a:prstGeom prst="rect">
            <a:avLst/>
          </a:prstGeom>
          <a:solidFill>
            <a:srgbClr val="F5BA2D"/>
          </a:solidFill>
          <a:ln w="14288">
            <a:solidFill>
              <a:srgbClr val="F5BA2D"/>
            </a:solidFill>
          </a:ln>
        </p:spPr>
        <p:txBody>
          <a:bodyPr wrap="square" lIns="114300" tIns="114300" rIns="114300" bIns="114300" anchor="ctr"/>
          <a:lstStyle>
            <a:defPPr algn="l">
              <a:defRPr sz="1725">
                <a:solidFill>
                  <a:srgbClr val="292929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725">
                <a:solidFill>
                  <a:srgbClr val="292929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292929"/>
                </a:solidFill>
                <a:latin typeface="Arial"/>
                <a:ea typeface="Arial"/>
                <a:cs typeface="Arial"/>
              </a:rPr>
              <a:t>«actor»</a:t>
            </a:r>
          </a:p>
          <a:p>
            <a:pPr algn="l">
              <a:defRPr sz="1725">
                <a:solidFill>
                  <a:srgbClr val="292929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292929"/>
                </a:solidFill>
                <a:latin typeface="Arial"/>
                <a:ea typeface="Arial"/>
                <a:cs typeface="Arial"/>
              </a:rPr>
              <a:t>Nhân viên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87A15F2-83E2-4E4A-B23B-FEDF93E48A91}"/>
              </a:ext>
            </a:extLst>
          </p:cNvPr>
          <p:cNvCxnSpPr/>
          <p:nvPr/>
        </p:nvCxnSpPr>
        <p:spPr>
          <a:xfrm flipV="1">
            <a:off x="2571750" y="3086100"/>
            <a:ext cx="1619250" cy="457200"/>
          </a:xfrm>
          <a:prstGeom prst="straightConnector1">
            <a:avLst/>
          </a:prstGeom>
          <a:ln w="16193">
            <a:solidFill>
              <a:srgbClr val="D7D7D7"/>
            </a:solidFill>
            <a:prstDash val="solid"/>
            <a:tailEnd type="none" w="med" len="med"/>
          </a:ln>
        </p:spPr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9A3970C9-0E80-4246-9271-932D1B180F0F}"/>
              </a:ext>
            </a:extLst>
          </p:cNvPr>
          <p:cNvSpPr>
            <a:spLocks noGrp="1"/>
          </p:cNvSpPr>
          <p:nvPr/>
        </p:nvSpPr>
        <p:spPr>
          <a:xfrm>
            <a:off x="4191000" y="2800350"/>
            <a:ext cx="7048500" cy="571500"/>
          </a:xfrm>
          <a:prstGeom prst="ellipse">
            <a:avLst/>
          </a:prstGeom>
          <a:solidFill>
            <a:srgbClr val="F5F5F5"/>
          </a:solidFill>
          <a:ln w="14288">
            <a:solidFill>
              <a:srgbClr val="F5BA2D"/>
            </a:solidFill>
          </a:ln>
        </p:spPr>
        <p:txBody>
          <a:bodyPr wrap="square" lIns="114300" tIns="114300" rIns="114300" bIns="114300" anchor="ctr"/>
          <a:lstStyle>
            <a:defPPr algn="ctr">
              <a:defRPr sz="1650">
                <a:solidFill>
                  <a:srgbClr val="292929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650">
                <a:solidFill>
                  <a:srgbClr val="292929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292929"/>
                </a:solidFill>
                <a:latin typeface="Arial"/>
                <a:ea typeface="Arial"/>
                <a:cs typeface="Arial"/>
              </a:rPr>
              <a:t>Xem lịch tại cơ sở được giao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6B03DB2-492C-4C1A-B38B-4B3BB62AB6D8}"/>
              </a:ext>
            </a:extLst>
          </p:cNvPr>
          <p:cNvCxnSpPr/>
          <p:nvPr/>
        </p:nvCxnSpPr>
        <p:spPr>
          <a:xfrm>
            <a:off x="2571750" y="3543300"/>
            <a:ext cx="1619250" cy="285750"/>
          </a:xfrm>
          <a:prstGeom prst="straightConnector1">
            <a:avLst/>
          </a:prstGeom>
          <a:ln w="16193">
            <a:solidFill>
              <a:srgbClr val="D7D7D7"/>
            </a:solidFill>
            <a:prstDash val="solid"/>
            <a:tailEnd type="none" w="med" len="med"/>
          </a:ln>
        </p:spPr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B7C89500-4472-4E8E-8E36-83E4D5797A54}"/>
              </a:ext>
            </a:extLst>
          </p:cNvPr>
          <p:cNvSpPr>
            <a:spLocks noGrp="1"/>
          </p:cNvSpPr>
          <p:nvPr/>
        </p:nvSpPr>
        <p:spPr>
          <a:xfrm>
            <a:off x="4191000" y="3543300"/>
            <a:ext cx="7048500" cy="571500"/>
          </a:xfrm>
          <a:prstGeom prst="ellipse">
            <a:avLst/>
          </a:prstGeom>
          <a:solidFill>
            <a:srgbClr val="F5F5F5"/>
          </a:solidFill>
          <a:ln w="14288">
            <a:solidFill>
              <a:srgbClr val="F5BA2D"/>
            </a:solidFill>
          </a:ln>
        </p:spPr>
        <p:txBody>
          <a:bodyPr wrap="square" lIns="114300" tIns="114300" rIns="114300" bIns="114300" anchor="ctr"/>
          <a:lstStyle>
            <a:defPPr algn="ctr">
              <a:defRPr sz="1650">
                <a:solidFill>
                  <a:srgbClr val="292929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650">
                <a:solidFill>
                  <a:srgbClr val="292929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292929"/>
                </a:solidFill>
                <a:latin typeface="Arial"/>
                <a:ea typeface="Arial"/>
                <a:cs typeface="Arial"/>
              </a:rPr>
              <a:t>Điểm danh hoặc thu tại sân theo quyền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702FFC0-F235-4D3E-AAAB-96DD78F45E2D}"/>
              </a:ext>
            </a:extLst>
          </p:cNvPr>
          <p:cNvSpPr>
            <a:spLocks noGrp="1"/>
          </p:cNvSpPr>
          <p:nvPr/>
        </p:nvSpPr>
        <p:spPr>
          <a:xfrm>
            <a:off x="571500" y="4743450"/>
            <a:ext cx="2000250" cy="876300"/>
          </a:xfrm>
          <a:prstGeom prst="rect">
            <a:avLst/>
          </a:prstGeom>
          <a:solidFill>
            <a:srgbClr val="F5BA2D"/>
          </a:solidFill>
          <a:ln w="14288">
            <a:solidFill>
              <a:srgbClr val="F5BA2D"/>
            </a:solidFill>
          </a:ln>
        </p:spPr>
        <p:txBody>
          <a:bodyPr wrap="square" lIns="114300" tIns="114300" rIns="114300" bIns="114300" anchor="ctr"/>
          <a:lstStyle>
            <a:defPPr algn="l">
              <a:defRPr sz="1725">
                <a:solidFill>
                  <a:srgbClr val="292929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725">
                <a:solidFill>
                  <a:srgbClr val="292929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292929"/>
                </a:solidFill>
                <a:latin typeface="Arial"/>
                <a:ea typeface="Arial"/>
                <a:cs typeface="Arial"/>
              </a:rPr>
              <a:t>«actor»</a:t>
            </a:r>
          </a:p>
          <a:p>
            <a:pPr algn="l">
              <a:defRPr sz="1725">
                <a:solidFill>
                  <a:srgbClr val="292929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292929"/>
                </a:solidFill>
                <a:latin typeface="Arial"/>
                <a:ea typeface="Arial"/>
                <a:cs typeface="Arial"/>
              </a:rPr>
              <a:t>Admin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6BBCB27-0158-4F1C-A87D-311E9A23648C}"/>
              </a:ext>
            </a:extLst>
          </p:cNvPr>
          <p:cNvCxnSpPr/>
          <p:nvPr/>
        </p:nvCxnSpPr>
        <p:spPr>
          <a:xfrm flipV="1">
            <a:off x="2571750" y="4724400"/>
            <a:ext cx="1619250" cy="457200"/>
          </a:xfrm>
          <a:prstGeom prst="straightConnector1">
            <a:avLst/>
          </a:prstGeom>
          <a:ln w="16193">
            <a:solidFill>
              <a:srgbClr val="D7D7D7"/>
            </a:solidFill>
            <a:prstDash val="solid"/>
            <a:tailEnd type="none" w="med" len="med"/>
          </a:ln>
        </p:spPr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EEC46767-8F8C-498E-BEAD-BDF21A985372}"/>
              </a:ext>
            </a:extLst>
          </p:cNvPr>
          <p:cNvSpPr>
            <a:spLocks noGrp="1"/>
          </p:cNvSpPr>
          <p:nvPr/>
        </p:nvSpPr>
        <p:spPr>
          <a:xfrm>
            <a:off x="4191000" y="4438650"/>
            <a:ext cx="7048500" cy="571500"/>
          </a:xfrm>
          <a:prstGeom prst="ellipse">
            <a:avLst/>
          </a:prstGeom>
          <a:solidFill>
            <a:srgbClr val="F5F5F5"/>
          </a:solidFill>
          <a:ln w="14288">
            <a:solidFill>
              <a:srgbClr val="F5BA2D"/>
            </a:solidFill>
          </a:ln>
        </p:spPr>
        <p:txBody>
          <a:bodyPr wrap="square" lIns="114300" tIns="114300" rIns="114300" bIns="114300" anchor="ctr"/>
          <a:lstStyle>
            <a:defPPr algn="ctr">
              <a:defRPr sz="1650">
                <a:solidFill>
                  <a:srgbClr val="292929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650">
                <a:solidFill>
                  <a:srgbClr val="292929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292929"/>
                </a:solidFill>
                <a:latin typeface="Arial"/>
                <a:ea typeface="Arial"/>
                <a:cs typeface="Arial"/>
              </a:rPr>
              <a:t>Kiểm duyệt cơ sở và danh mục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376C081-EB7C-4F2F-80AA-82C412564D44}"/>
              </a:ext>
            </a:extLst>
          </p:cNvPr>
          <p:cNvCxnSpPr/>
          <p:nvPr/>
        </p:nvCxnSpPr>
        <p:spPr>
          <a:xfrm>
            <a:off x="2571750" y="5181600"/>
            <a:ext cx="1619250" cy="285750"/>
          </a:xfrm>
          <a:prstGeom prst="straightConnector1">
            <a:avLst/>
          </a:prstGeom>
          <a:ln w="16193">
            <a:solidFill>
              <a:srgbClr val="D7D7D7"/>
            </a:solidFill>
            <a:prstDash val="solid"/>
            <a:tailEnd type="none" w="med" len="med"/>
          </a:ln>
        </p:spPr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7B80D4E4-8275-4305-AA63-75EC4F8AB230}"/>
              </a:ext>
            </a:extLst>
          </p:cNvPr>
          <p:cNvSpPr>
            <a:spLocks noGrp="1"/>
          </p:cNvSpPr>
          <p:nvPr/>
        </p:nvSpPr>
        <p:spPr>
          <a:xfrm>
            <a:off x="4191000" y="5181600"/>
            <a:ext cx="7048500" cy="571500"/>
          </a:xfrm>
          <a:prstGeom prst="ellipse">
            <a:avLst/>
          </a:prstGeom>
          <a:solidFill>
            <a:srgbClr val="F5F5F5"/>
          </a:solidFill>
          <a:ln w="14288">
            <a:solidFill>
              <a:srgbClr val="F5BA2D"/>
            </a:solidFill>
          </a:ln>
        </p:spPr>
        <p:txBody>
          <a:bodyPr wrap="square" lIns="114300" tIns="114300" rIns="114300" bIns="114300" anchor="ctr"/>
          <a:lstStyle>
            <a:defPPr algn="ctr">
              <a:defRPr sz="1650">
                <a:solidFill>
                  <a:srgbClr val="292929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650">
                <a:solidFill>
                  <a:srgbClr val="292929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292929"/>
                </a:solidFill>
                <a:latin typeface="Arial"/>
                <a:ea typeface="Arial"/>
                <a:cs typeface="Arial"/>
              </a:rPr>
              <a:t>Quản trị tài khoản và nội dung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3840387-B65A-49FB-8A50-E7402355915A}"/>
              </a:ext>
            </a:extLst>
          </p:cNvPr>
          <p:cNvSpPr>
            <a:spLocks noGrp="1"/>
          </p:cNvSpPr>
          <p:nvPr/>
        </p:nvSpPr>
        <p:spPr>
          <a:xfrm>
            <a:off x="533400" y="6248400"/>
            <a:ext cx="11049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/>
          <a:lstStyle>
            <a:defPPr algn="l">
              <a:defRPr sz="1350" b="0">
                <a:solidFill>
                  <a:srgbClr val="D7D7D7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350" b="0">
                <a:solidFill>
                  <a:srgbClr val="D7D7D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7D7D7"/>
                </a:solidFill>
                <a:latin typeface="Arial"/>
                <a:ea typeface="Arial"/>
                <a:cs typeface="Arial"/>
              </a:rPr>
              <a:t>Nhân viên có phiên đăng nhập riêng. Quyền thao tác phụ thuộc phạm vi cơ sở.</a:t>
            </a:r>
          </a:p>
        </p:txBody>
      </p:sp>
    </p:spTree>
    <p:extLst>
      <p:ext uri="{BB962C8B-B14F-4D97-AF65-F5344CB8AC3E}">
        <p14:creationId xmlns:p14="http://schemas.microsoft.com/office/powerpoint/2010/main" val="10713221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F78C1D79-756C-4D35-984A-D209C4649EB5}"/>
              </a:ext>
            </a:extLst>
          </p:cNvPr>
          <p:cNvSpPr>
            <a:spLocks noGrp="1"/>
          </p:cNvSpPr>
          <p:nvPr/>
        </p:nvSpPr>
        <p:spPr>
          <a:xfrm>
            <a:off x="533400" y="285750"/>
            <a:ext cx="110490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/>
          <a:lstStyle>
            <a:defPPr algn="l">
              <a:defRPr sz="2850" b="1">
                <a:solidFill>
                  <a:srgbClr val="F5BA2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850" b="1">
                <a:solidFill>
                  <a:srgbClr val="F5BA2D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5BA2D"/>
                </a:solidFill>
                <a:latin typeface="Arial"/>
                <a:ea typeface="Arial"/>
                <a:cs typeface="Arial"/>
              </a:rPr>
              <a:t>SEQUENCE ĐẶT SÂN VÀ XÁC NHẬN THANH TOÁN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6AA7FB1-5985-4789-88C2-3C4A61F8F3E1}"/>
              </a:ext>
            </a:extLst>
          </p:cNvPr>
          <p:cNvSpPr>
            <a:spLocks noGrp="1"/>
          </p:cNvSpPr>
          <p:nvPr/>
        </p:nvSpPr>
        <p:spPr>
          <a:xfrm>
            <a:off x="523875" y="1190625"/>
            <a:ext cx="1809750" cy="619125"/>
          </a:xfrm>
          <a:prstGeom prst="rect">
            <a:avLst/>
          </a:prstGeom>
          <a:solidFill>
            <a:srgbClr val="F5BA2D"/>
          </a:solidFill>
          <a:ln w="14288">
            <a:solidFill>
              <a:srgbClr val="F5BA2D"/>
            </a:solidFill>
          </a:ln>
        </p:spPr>
        <p:txBody>
          <a:bodyPr wrap="square" lIns="114300" tIns="114300" rIns="114300" bIns="114300" anchor="ctr"/>
          <a:lstStyle>
            <a:defPPr algn="l">
              <a:defRPr sz="1500">
                <a:solidFill>
                  <a:srgbClr val="292929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>
                <a:solidFill>
                  <a:srgbClr val="292929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292929"/>
                </a:solidFill>
                <a:latin typeface="Arial"/>
                <a:ea typeface="Arial"/>
                <a:cs typeface="Arial"/>
              </a:rPr>
              <a:t>Khách hàng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6025CBFD-21B2-49C6-A6D3-CD3EA262AE64}"/>
              </a:ext>
            </a:extLst>
          </p:cNvPr>
          <p:cNvCxnSpPr/>
          <p:nvPr/>
        </p:nvCxnSpPr>
        <p:spPr>
          <a:xfrm>
            <a:off x="1428750" y="1809750"/>
            <a:ext cx="0" cy="4095750"/>
          </a:xfrm>
          <a:prstGeom prst="straightConnector1">
            <a:avLst/>
          </a:prstGeom>
          <a:ln w="16193">
            <a:solidFill>
              <a:srgbClr val="D7D7D7"/>
            </a:solidFill>
            <a:prstDash val="dash"/>
            <a:tailEnd type="none" w="med" len="med"/>
          </a:ln>
        </p:spPr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F281A409-9B46-4080-BE87-5EBF66A49E3F}"/>
              </a:ext>
            </a:extLst>
          </p:cNvPr>
          <p:cNvSpPr>
            <a:spLocks noGrp="1"/>
          </p:cNvSpPr>
          <p:nvPr/>
        </p:nvSpPr>
        <p:spPr>
          <a:xfrm>
            <a:off x="2857500" y="1190625"/>
            <a:ext cx="1809750" cy="619125"/>
          </a:xfrm>
          <a:prstGeom prst="rect">
            <a:avLst/>
          </a:prstGeom>
          <a:solidFill>
            <a:srgbClr val="F5BA2D"/>
          </a:solidFill>
          <a:ln w="14288">
            <a:solidFill>
              <a:srgbClr val="F5BA2D"/>
            </a:solidFill>
          </a:ln>
        </p:spPr>
        <p:txBody>
          <a:bodyPr wrap="square" lIns="114300" tIns="114300" rIns="114300" bIns="114300" anchor="ctr"/>
          <a:lstStyle>
            <a:defPPr algn="l">
              <a:defRPr sz="1500">
                <a:solidFill>
                  <a:srgbClr val="292929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>
                <a:solidFill>
                  <a:srgbClr val="292929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292929"/>
                </a:solidFill>
                <a:latin typeface="Arial"/>
                <a:ea typeface="Arial"/>
                <a:cs typeface="Arial"/>
              </a:rPr>
              <a:t>Giao diện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33B73251-F9A7-42D5-B8AC-7A460AF5A2C4}"/>
              </a:ext>
            </a:extLst>
          </p:cNvPr>
          <p:cNvCxnSpPr/>
          <p:nvPr/>
        </p:nvCxnSpPr>
        <p:spPr>
          <a:xfrm>
            <a:off x="3762375" y="1809750"/>
            <a:ext cx="0" cy="4095750"/>
          </a:xfrm>
          <a:prstGeom prst="straightConnector1">
            <a:avLst/>
          </a:prstGeom>
          <a:ln w="16193">
            <a:solidFill>
              <a:srgbClr val="D7D7D7"/>
            </a:solidFill>
            <a:prstDash val="dash"/>
            <a:tailEnd type="none" w="med" len="med"/>
          </a:ln>
        </p:spPr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564B4E6A-1688-436F-86D3-26015D454EBD}"/>
              </a:ext>
            </a:extLst>
          </p:cNvPr>
          <p:cNvSpPr>
            <a:spLocks noGrp="1"/>
          </p:cNvSpPr>
          <p:nvPr/>
        </p:nvSpPr>
        <p:spPr>
          <a:xfrm>
            <a:off x="5191125" y="1190625"/>
            <a:ext cx="1809750" cy="619125"/>
          </a:xfrm>
          <a:prstGeom prst="rect">
            <a:avLst/>
          </a:prstGeom>
          <a:solidFill>
            <a:srgbClr val="F5BA2D"/>
          </a:solidFill>
          <a:ln w="14288">
            <a:solidFill>
              <a:srgbClr val="F5BA2D"/>
            </a:solidFill>
          </a:ln>
        </p:spPr>
        <p:txBody>
          <a:bodyPr wrap="square" lIns="114300" tIns="114300" rIns="114300" bIns="114300" anchor="ctr"/>
          <a:lstStyle>
            <a:defPPr algn="l">
              <a:defRPr sz="1500">
                <a:solidFill>
                  <a:srgbClr val="292929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>
                <a:solidFill>
                  <a:srgbClr val="292929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292929"/>
                </a:solidFill>
                <a:latin typeface="Arial"/>
                <a:ea typeface="Arial"/>
                <a:cs typeface="Arial"/>
              </a:rPr>
              <a:t>DemoSession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9C3F152-3C72-4594-8286-336D83909A9D}"/>
              </a:ext>
            </a:extLst>
          </p:cNvPr>
          <p:cNvCxnSpPr/>
          <p:nvPr/>
        </p:nvCxnSpPr>
        <p:spPr>
          <a:xfrm>
            <a:off x="6096000" y="1809750"/>
            <a:ext cx="0" cy="4095750"/>
          </a:xfrm>
          <a:prstGeom prst="straightConnector1">
            <a:avLst/>
          </a:prstGeom>
          <a:ln w="16193">
            <a:solidFill>
              <a:srgbClr val="D7D7D7"/>
            </a:solidFill>
            <a:prstDash val="dash"/>
            <a:tailEnd type="none" w="med" len="med"/>
          </a:ln>
        </p:spPr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31413EE0-595A-4A71-955D-5115CCD6ECDA}"/>
              </a:ext>
            </a:extLst>
          </p:cNvPr>
          <p:cNvSpPr>
            <a:spLocks noGrp="1"/>
          </p:cNvSpPr>
          <p:nvPr/>
        </p:nvSpPr>
        <p:spPr>
          <a:xfrm>
            <a:off x="7524750" y="1190625"/>
            <a:ext cx="1809750" cy="619125"/>
          </a:xfrm>
          <a:prstGeom prst="rect">
            <a:avLst/>
          </a:prstGeom>
          <a:solidFill>
            <a:srgbClr val="F5BA2D"/>
          </a:solidFill>
          <a:ln w="14288">
            <a:solidFill>
              <a:srgbClr val="F5BA2D"/>
            </a:solidFill>
          </a:ln>
        </p:spPr>
        <p:txBody>
          <a:bodyPr wrap="square" lIns="114300" tIns="114300" rIns="114300" bIns="114300" anchor="ctr"/>
          <a:lstStyle>
            <a:defPPr algn="l">
              <a:defRPr sz="1500">
                <a:solidFill>
                  <a:srgbClr val="292929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>
                <a:solidFill>
                  <a:srgbClr val="292929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292929"/>
                </a:solidFill>
                <a:latin typeface="Arial"/>
                <a:ea typeface="Arial"/>
                <a:cs typeface="Arial"/>
              </a:rPr>
              <a:t>Kho cục bộ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A42283D-17FD-420C-80C1-BA2E1591D0BE}"/>
              </a:ext>
            </a:extLst>
          </p:cNvPr>
          <p:cNvCxnSpPr/>
          <p:nvPr/>
        </p:nvCxnSpPr>
        <p:spPr>
          <a:xfrm>
            <a:off x="8429625" y="1809750"/>
            <a:ext cx="0" cy="4095750"/>
          </a:xfrm>
          <a:prstGeom prst="straightConnector1">
            <a:avLst/>
          </a:prstGeom>
          <a:ln w="16193">
            <a:solidFill>
              <a:srgbClr val="D7D7D7"/>
            </a:solidFill>
            <a:prstDash val="dash"/>
            <a:tailEnd type="none" w="med" len="med"/>
          </a:ln>
        </p:spPr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814DCFD0-2D9C-43B9-A04D-5C6EFE9443C5}"/>
              </a:ext>
            </a:extLst>
          </p:cNvPr>
          <p:cNvSpPr>
            <a:spLocks noGrp="1"/>
          </p:cNvSpPr>
          <p:nvPr/>
        </p:nvSpPr>
        <p:spPr>
          <a:xfrm>
            <a:off x="9858375" y="1190625"/>
            <a:ext cx="1809750" cy="619125"/>
          </a:xfrm>
          <a:prstGeom prst="rect">
            <a:avLst/>
          </a:prstGeom>
          <a:solidFill>
            <a:srgbClr val="F5BA2D"/>
          </a:solidFill>
          <a:ln w="14288">
            <a:solidFill>
              <a:srgbClr val="F5BA2D"/>
            </a:solidFill>
          </a:ln>
        </p:spPr>
        <p:txBody>
          <a:bodyPr wrap="square" lIns="114300" tIns="114300" rIns="114300" bIns="114300" anchor="ctr"/>
          <a:lstStyle>
            <a:defPPr algn="l">
              <a:defRPr sz="1500">
                <a:solidFill>
                  <a:srgbClr val="292929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>
                <a:solidFill>
                  <a:srgbClr val="292929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292929"/>
                </a:solidFill>
                <a:latin typeface="Arial"/>
                <a:ea typeface="Arial"/>
                <a:cs typeface="Arial"/>
              </a:rPr>
              <a:t>Chủ sân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9013F6D-2A15-43D7-BCD0-0FF4FFC6A7B1}"/>
              </a:ext>
            </a:extLst>
          </p:cNvPr>
          <p:cNvCxnSpPr/>
          <p:nvPr/>
        </p:nvCxnSpPr>
        <p:spPr>
          <a:xfrm>
            <a:off x="10763250" y="1809750"/>
            <a:ext cx="0" cy="4095750"/>
          </a:xfrm>
          <a:prstGeom prst="straightConnector1">
            <a:avLst/>
          </a:prstGeom>
          <a:ln w="16193">
            <a:solidFill>
              <a:srgbClr val="D7D7D7"/>
            </a:solidFill>
            <a:prstDash val="dash"/>
            <a:tailEnd type="none" w="med" len="med"/>
          </a:ln>
        </p:spPr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E4FE172E-66EC-4055-A8EF-B2C0687F4D91}"/>
              </a:ext>
            </a:extLst>
          </p:cNvPr>
          <p:cNvSpPr>
            <a:spLocks noGrp="1"/>
          </p:cNvSpPr>
          <p:nvPr/>
        </p:nvSpPr>
        <p:spPr>
          <a:xfrm>
            <a:off x="1504950" y="1952625"/>
            <a:ext cx="2181225" cy="238125"/>
          </a:xfrm>
          <a:prstGeom prst="rect">
            <a:avLst/>
          </a:prstGeom>
          <a:solidFill>
            <a:srgbClr val="292929"/>
          </a:solidFill>
          <a:ln w="0">
            <a:noFill/>
          </a:ln>
        </p:spPr>
        <p:txBody>
          <a:bodyPr wrap="square" lIns="0" tIns="0" rIns="0" bIns="0" anchor="ctr"/>
          <a:lstStyle>
            <a:defPPr algn="ctr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Chọn giờ và xác nhận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862E2E5-2F71-48CA-9FFA-A62E6CAF0F43}"/>
              </a:ext>
            </a:extLst>
          </p:cNvPr>
          <p:cNvCxnSpPr/>
          <p:nvPr/>
        </p:nvCxnSpPr>
        <p:spPr>
          <a:xfrm>
            <a:off x="1428750" y="2209800"/>
            <a:ext cx="2333625" cy="0"/>
          </a:xfrm>
          <a:prstGeom prst="straightConnector1">
            <a:avLst/>
          </a:prstGeom>
          <a:ln w="16193">
            <a:solidFill>
              <a:srgbClr val="F5BA2D"/>
            </a:solidFill>
            <a:prstDash val="solid"/>
            <a:tailEnd type="triangle" w="med" len="med"/>
          </a:ln>
        </p:spPr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F7F8718A-6488-4383-B530-47A2760AA944}"/>
              </a:ext>
            </a:extLst>
          </p:cNvPr>
          <p:cNvSpPr>
            <a:spLocks noGrp="1"/>
          </p:cNvSpPr>
          <p:nvPr/>
        </p:nvSpPr>
        <p:spPr>
          <a:xfrm>
            <a:off x="3838575" y="2295525"/>
            <a:ext cx="2181225" cy="238125"/>
          </a:xfrm>
          <a:prstGeom prst="rect">
            <a:avLst/>
          </a:prstGeom>
          <a:solidFill>
            <a:srgbClr val="292929"/>
          </a:solidFill>
          <a:ln w="0">
            <a:noFill/>
          </a:ln>
        </p:spPr>
        <p:txBody>
          <a:bodyPr wrap="square" lIns="0" tIns="0" rIns="0" bIns="0" anchor="ctr"/>
          <a:lstStyle>
            <a:defPPr algn="ctr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reserve()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63739CB-8C37-4512-A8D7-BF8F2673DF3B}"/>
              </a:ext>
            </a:extLst>
          </p:cNvPr>
          <p:cNvCxnSpPr/>
          <p:nvPr/>
        </p:nvCxnSpPr>
        <p:spPr>
          <a:xfrm>
            <a:off x="3762375" y="2552700"/>
            <a:ext cx="2333625" cy="0"/>
          </a:xfrm>
          <a:prstGeom prst="straightConnector1">
            <a:avLst/>
          </a:prstGeom>
          <a:ln w="16193">
            <a:solidFill>
              <a:srgbClr val="F5BA2D"/>
            </a:solidFill>
            <a:prstDash val="solid"/>
            <a:tailEnd type="triangle" w="med" len="med"/>
          </a:ln>
        </p:spPr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95767D27-BB01-466A-B3F2-EF14DCA90E48}"/>
              </a:ext>
            </a:extLst>
          </p:cNvPr>
          <p:cNvSpPr>
            <a:spLocks noGrp="1"/>
          </p:cNvSpPr>
          <p:nvPr/>
        </p:nvSpPr>
        <p:spPr>
          <a:xfrm>
            <a:off x="6172200" y="2638425"/>
            <a:ext cx="2181225" cy="238125"/>
          </a:xfrm>
          <a:prstGeom prst="rect">
            <a:avLst/>
          </a:prstGeom>
          <a:solidFill>
            <a:srgbClr val="292929"/>
          </a:solidFill>
          <a:ln w="0">
            <a:noFill/>
          </a:ln>
        </p:spPr>
        <p:txBody>
          <a:bodyPr wrap="square" lIns="0" tIns="0" rIns="0" bIns="0" anchor="ctr"/>
          <a:lstStyle>
            <a:defPPr algn="ctr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Lưu lịch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4C0C6A1-9E7E-445B-BEAB-F05693B4777C}"/>
              </a:ext>
            </a:extLst>
          </p:cNvPr>
          <p:cNvCxnSpPr/>
          <p:nvPr/>
        </p:nvCxnSpPr>
        <p:spPr>
          <a:xfrm>
            <a:off x="6096000" y="2895600"/>
            <a:ext cx="2333625" cy="0"/>
          </a:xfrm>
          <a:prstGeom prst="straightConnector1">
            <a:avLst/>
          </a:prstGeom>
          <a:ln w="16193">
            <a:solidFill>
              <a:srgbClr val="F5BA2D"/>
            </a:solidFill>
            <a:prstDash val="solid"/>
            <a:tailEnd type="triangle" w="med" len="med"/>
          </a:ln>
        </p:spPr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226AC843-A4A9-4F9C-AC67-7A7C96C2633C}"/>
              </a:ext>
            </a:extLst>
          </p:cNvPr>
          <p:cNvSpPr>
            <a:spLocks noGrp="1"/>
          </p:cNvSpPr>
          <p:nvPr/>
        </p:nvSpPr>
        <p:spPr>
          <a:xfrm>
            <a:off x="6172200" y="2981325"/>
            <a:ext cx="2181225" cy="238125"/>
          </a:xfrm>
          <a:prstGeom prst="rect">
            <a:avLst/>
          </a:prstGeom>
          <a:solidFill>
            <a:srgbClr val="292929"/>
          </a:solidFill>
          <a:ln w="0">
            <a:noFill/>
          </a:ln>
        </p:spPr>
        <p:txBody>
          <a:bodyPr wrap="square" lIns="0" tIns="0" rIns="0" bIns="0" anchor="ctr"/>
          <a:lstStyle>
            <a:defPPr algn="ctr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Kết quả lưu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A69F24A1-5AB6-4BC3-8CE0-A61DC27B7E2E}"/>
              </a:ext>
            </a:extLst>
          </p:cNvPr>
          <p:cNvCxnSpPr/>
          <p:nvPr/>
        </p:nvCxnSpPr>
        <p:spPr>
          <a:xfrm flipH="1">
            <a:off x="6096000" y="3238500"/>
            <a:ext cx="2333625" cy="0"/>
          </a:xfrm>
          <a:prstGeom prst="straightConnector1">
            <a:avLst/>
          </a:prstGeom>
          <a:ln w="16193">
            <a:solidFill>
              <a:srgbClr val="F5BA2D"/>
            </a:solidFill>
            <a:prstDash val="dash"/>
            <a:tailEnd type="triangle" w="med" len="med"/>
          </a:ln>
        </p:spPr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3FE52824-5A7F-4212-928B-72AC0E03F719}"/>
              </a:ext>
            </a:extLst>
          </p:cNvPr>
          <p:cNvSpPr>
            <a:spLocks noGrp="1"/>
          </p:cNvSpPr>
          <p:nvPr/>
        </p:nvSpPr>
        <p:spPr>
          <a:xfrm>
            <a:off x="1504950" y="3324225"/>
            <a:ext cx="2181225" cy="238125"/>
          </a:xfrm>
          <a:prstGeom prst="rect">
            <a:avLst/>
          </a:prstGeom>
          <a:solidFill>
            <a:srgbClr val="292929"/>
          </a:solidFill>
          <a:ln w="0">
            <a:noFill/>
          </a:ln>
        </p:spPr>
        <p:txBody>
          <a:bodyPr wrap="square" lIns="0" tIns="0" rIns="0" bIns="0" anchor="ctr"/>
          <a:lstStyle>
            <a:defPPr algn="ctr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Gửi ảnh chứng từ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4FFA2407-7407-4A6D-81A4-A53E0E3FC8B8}"/>
              </a:ext>
            </a:extLst>
          </p:cNvPr>
          <p:cNvCxnSpPr/>
          <p:nvPr/>
        </p:nvCxnSpPr>
        <p:spPr>
          <a:xfrm>
            <a:off x="1428750" y="3581400"/>
            <a:ext cx="2333625" cy="0"/>
          </a:xfrm>
          <a:prstGeom prst="straightConnector1">
            <a:avLst/>
          </a:prstGeom>
          <a:ln w="16193">
            <a:solidFill>
              <a:srgbClr val="F5BA2D"/>
            </a:solidFill>
            <a:prstDash val="solid"/>
            <a:tailEnd type="triangle" w="med" len="med"/>
          </a:ln>
        </p:spPr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72AF2932-4227-41BD-BD19-99764C850874}"/>
              </a:ext>
            </a:extLst>
          </p:cNvPr>
          <p:cNvSpPr>
            <a:spLocks noGrp="1"/>
          </p:cNvSpPr>
          <p:nvPr/>
        </p:nvSpPr>
        <p:spPr>
          <a:xfrm>
            <a:off x="3838575" y="3667125"/>
            <a:ext cx="2181225" cy="238125"/>
          </a:xfrm>
          <a:prstGeom prst="rect">
            <a:avLst/>
          </a:prstGeom>
          <a:solidFill>
            <a:srgbClr val="292929"/>
          </a:solidFill>
          <a:ln w="0">
            <a:noFill/>
          </a:ln>
        </p:spPr>
        <p:txBody>
          <a:bodyPr wrap="square" lIns="0" tIns="0" rIns="0" bIns="0" anchor="ctr"/>
          <a:lstStyle>
            <a:defPPr algn="ctr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Gửi yêu cầu xác nhận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626D5CE1-7308-42E3-BD01-89E25C0B8093}"/>
              </a:ext>
            </a:extLst>
          </p:cNvPr>
          <p:cNvCxnSpPr/>
          <p:nvPr/>
        </p:nvCxnSpPr>
        <p:spPr>
          <a:xfrm>
            <a:off x="3762375" y="3924300"/>
            <a:ext cx="2333625" cy="0"/>
          </a:xfrm>
          <a:prstGeom prst="straightConnector1">
            <a:avLst/>
          </a:prstGeom>
          <a:ln w="16193">
            <a:solidFill>
              <a:srgbClr val="F5BA2D"/>
            </a:solidFill>
            <a:prstDash val="solid"/>
            <a:tailEnd type="triangle" w="med" len="med"/>
          </a:ln>
        </p:spPr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DD637AA4-C341-4F3E-9EC8-3AF0C3F1B0B5}"/>
              </a:ext>
            </a:extLst>
          </p:cNvPr>
          <p:cNvSpPr>
            <a:spLocks noGrp="1"/>
          </p:cNvSpPr>
          <p:nvPr/>
        </p:nvSpPr>
        <p:spPr>
          <a:xfrm>
            <a:off x="6172200" y="4010025"/>
            <a:ext cx="2181225" cy="238125"/>
          </a:xfrm>
          <a:prstGeom prst="rect">
            <a:avLst/>
          </a:prstGeom>
          <a:solidFill>
            <a:srgbClr val="292929"/>
          </a:solidFill>
          <a:ln w="0">
            <a:noFill/>
          </a:ln>
        </p:spPr>
        <p:txBody>
          <a:bodyPr wrap="square" lIns="0" tIns="0" rIns="0" bIns="0" anchor="ctr"/>
          <a:lstStyle>
            <a:defPPr algn="ctr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Lưu pending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D5BD72AB-11AE-4A2F-AB0F-7BA308DFDF7B}"/>
              </a:ext>
            </a:extLst>
          </p:cNvPr>
          <p:cNvCxnSpPr/>
          <p:nvPr/>
        </p:nvCxnSpPr>
        <p:spPr>
          <a:xfrm>
            <a:off x="6096000" y="4267200"/>
            <a:ext cx="2333625" cy="0"/>
          </a:xfrm>
          <a:prstGeom prst="straightConnector1">
            <a:avLst/>
          </a:prstGeom>
          <a:ln w="16193">
            <a:solidFill>
              <a:srgbClr val="F5BA2D"/>
            </a:solidFill>
            <a:prstDash val="solid"/>
            <a:tailEnd type="triangle" w="med" len="med"/>
          </a:ln>
        </p:spPr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431DB4F2-1EF8-418E-9718-3AD3E39B9F6A}"/>
              </a:ext>
            </a:extLst>
          </p:cNvPr>
          <p:cNvSpPr>
            <a:spLocks noGrp="1"/>
          </p:cNvSpPr>
          <p:nvPr/>
        </p:nvSpPr>
        <p:spPr>
          <a:xfrm>
            <a:off x="6172200" y="4352925"/>
            <a:ext cx="4514850" cy="238125"/>
          </a:xfrm>
          <a:prstGeom prst="rect">
            <a:avLst/>
          </a:prstGeom>
          <a:solidFill>
            <a:srgbClr val="292929"/>
          </a:solidFill>
          <a:ln w="0">
            <a:noFill/>
          </a:ln>
        </p:spPr>
        <p:txBody>
          <a:bodyPr wrap="square" lIns="0" tIns="0" rIns="0" bIns="0" anchor="ctr"/>
          <a:lstStyle>
            <a:defPPr algn="ctr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Duyệt chứng từ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940FFF3B-BBA5-4E38-893D-07BF360B514C}"/>
              </a:ext>
            </a:extLst>
          </p:cNvPr>
          <p:cNvCxnSpPr/>
          <p:nvPr/>
        </p:nvCxnSpPr>
        <p:spPr>
          <a:xfrm flipH="1">
            <a:off x="6096000" y="4610100"/>
            <a:ext cx="4667250" cy="0"/>
          </a:xfrm>
          <a:prstGeom prst="straightConnector1">
            <a:avLst/>
          </a:prstGeom>
          <a:ln w="16193">
            <a:solidFill>
              <a:srgbClr val="F5BA2D"/>
            </a:solidFill>
            <a:prstDash val="solid"/>
            <a:tailEnd type="triangle" w="med" len="med"/>
          </a:ln>
        </p:spPr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8957C176-2BEE-41DB-A1E5-582A6BF8BA93}"/>
              </a:ext>
            </a:extLst>
          </p:cNvPr>
          <p:cNvSpPr>
            <a:spLocks noGrp="1"/>
          </p:cNvSpPr>
          <p:nvPr/>
        </p:nvSpPr>
        <p:spPr>
          <a:xfrm>
            <a:off x="6172200" y="4695825"/>
            <a:ext cx="2181225" cy="238125"/>
          </a:xfrm>
          <a:prstGeom prst="rect">
            <a:avLst/>
          </a:prstGeom>
          <a:solidFill>
            <a:srgbClr val="292929"/>
          </a:solidFill>
          <a:ln w="0">
            <a:noFill/>
          </a:ln>
        </p:spPr>
        <p:txBody>
          <a:bodyPr wrap="square" lIns="0" tIns="0" rIns="0" bIns="0" anchor="ctr"/>
          <a:lstStyle>
            <a:defPPr algn="ctr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approved, receivedAt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8DD7C492-B552-4B88-85C6-39C2F5BE4FA8}"/>
              </a:ext>
            </a:extLst>
          </p:cNvPr>
          <p:cNvCxnSpPr/>
          <p:nvPr/>
        </p:nvCxnSpPr>
        <p:spPr>
          <a:xfrm>
            <a:off x="6096000" y="4953000"/>
            <a:ext cx="2333625" cy="0"/>
          </a:xfrm>
          <a:prstGeom prst="straightConnector1">
            <a:avLst/>
          </a:prstGeom>
          <a:ln w="16193">
            <a:solidFill>
              <a:srgbClr val="F5BA2D"/>
            </a:solidFill>
            <a:prstDash val="solid"/>
            <a:tailEnd type="triangle" w="med" len="med"/>
          </a:ln>
        </p:spPr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EFE61F8F-51ED-4EFD-AAD7-A711FD918924}"/>
              </a:ext>
            </a:extLst>
          </p:cNvPr>
          <p:cNvSpPr>
            <a:spLocks noGrp="1"/>
          </p:cNvSpPr>
          <p:nvPr/>
        </p:nvSpPr>
        <p:spPr>
          <a:xfrm>
            <a:off x="3838575" y="5038725"/>
            <a:ext cx="2181225" cy="238125"/>
          </a:xfrm>
          <a:prstGeom prst="rect">
            <a:avLst/>
          </a:prstGeom>
          <a:solidFill>
            <a:srgbClr val="292929"/>
          </a:solidFill>
          <a:ln w="0">
            <a:noFill/>
          </a:ln>
        </p:spPr>
        <p:txBody>
          <a:bodyPr wrap="square" lIns="0" tIns="0" rIns="0" bIns="0" anchor="ctr"/>
          <a:lstStyle>
            <a:defPPr algn="ctr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Trạng thái mới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19146EC6-36F1-4692-BEE7-D1A0C0386FDD}"/>
              </a:ext>
            </a:extLst>
          </p:cNvPr>
          <p:cNvCxnSpPr/>
          <p:nvPr/>
        </p:nvCxnSpPr>
        <p:spPr>
          <a:xfrm flipH="1">
            <a:off x="3762375" y="5295900"/>
            <a:ext cx="2333625" cy="0"/>
          </a:xfrm>
          <a:prstGeom prst="straightConnector1">
            <a:avLst/>
          </a:prstGeom>
          <a:ln w="16193">
            <a:solidFill>
              <a:srgbClr val="F5BA2D"/>
            </a:solidFill>
            <a:prstDash val="dash"/>
            <a:tailEnd type="triangle" w="med" len="med"/>
          </a:ln>
        </p:spPr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252ED1BD-6C7B-40F1-BEE3-216D8017C325}"/>
              </a:ext>
            </a:extLst>
          </p:cNvPr>
          <p:cNvSpPr>
            <a:spLocks noGrp="1"/>
          </p:cNvSpPr>
          <p:nvPr/>
        </p:nvSpPr>
        <p:spPr>
          <a:xfrm>
            <a:off x="1504950" y="5381625"/>
            <a:ext cx="2181225" cy="238125"/>
          </a:xfrm>
          <a:prstGeom prst="rect">
            <a:avLst/>
          </a:prstGeom>
          <a:solidFill>
            <a:srgbClr val="292929"/>
          </a:solidFill>
          <a:ln w="0">
            <a:noFill/>
          </a:ln>
        </p:spPr>
        <p:txBody>
          <a:bodyPr wrap="square" lIns="0" tIns="0" rIns="0" bIns="0" anchor="ctr"/>
          <a:lstStyle>
            <a:defPPr algn="ctr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Hiển thị đã xác nhận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02CAF04A-EBE1-447D-869A-5120525E4811}"/>
              </a:ext>
            </a:extLst>
          </p:cNvPr>
          <p:cNvCxnSpPr/>
          <p:nvPr/>
        </p:nvCxnSpPr>
        <p:spPr>
          <a:xfrm flipH="1">
            <a:off x="1428750" y="5638800"/>
            <a:ext cx="2333625" cy="0"/>
          </a:xfrm>
          <a:prstGeom prst="straightConnector1">
            <a:avLst/>
          </a:prstGeom>
          <a:ln w="16193">
            <a:solidFill>
              <a:srgbClr val="F5BA2D"/>
            </a:solidFill>
            <a:prstDash val="dash"/>
            <a:tailEnd type="triangle" w="med" len="med"/>
          </a:ln>
        </p:spPr>
      </p:cxnSp>
      <p:sp>
        <p:nvSpPr>
          <p:cNvPr id="34" name="Rectangle 33">
            <a:extLst>
              <a:ext uri="{FF2B5EF4-FFF2-40B4-BE49-F238E27FC236}">
                <a16:creationId xmlns:a16="http://schemas.microsoft.com/office/drawing/2014/main" id="{B0CCC4DE-4D96-4B4A-BFD7-29C2FD50F281}"/>
              </a:ext>
            </a:extLst>
          </p:cNvPr>
          <p:cNvSpPr>
            <a:spLocks noGrp="1"/>
          </p:cNvSpPr>
          <p:nvPr/>
        </p:nvSpPr>
        <p:spPr>
          <a:xfrm>
            <a:off x="533400" y="6248400"/>
            <a:ext cx="11049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/>
          <a:lstStyle>
            <a:defPPr algn="l">
              <a:defRPr sz="1350" b="0">
                <a:solidFill>
                  <a:srgbClr val="D7D7D7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350" b="0">
                <a:solidFill>
                  <a:srgbClr val="D7D7D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7D7D7"/>
                </a:solidFill>
                <a:latin typeface="Arial"/>
                <a:ea typeface="Arial"/>
                <a:cs typeface="Arial"/>
              </a:rPr>
              <a:t>Gửi ảnh là chờ xác nhận. Chủ sân duyệt thủ công, ứng dụng chưa đối soát ngân hàng.</a:t>
            </a:r>
          </a:p>
        </p:txBody>
      </p:sp>
    </p:spTree>
    <p:extLst>
      <p:ext uri="{BB962C8B-B14F-4D97-AF65-F5344CB8AC3E}">
        <p14:creationId xmlns:p14="http://schemas.microsoft.com/office/powerpoint/2010/main" val="11905041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25623EE6-8390-413E-99F4-3968921AA9C1}"/>
              </a:ext>
            </a:extLst>
          </p:cNvPr>
          <p:cNvSpPr>
            <a:spLocks noGrp="1"/>
          </p:cNvSpPr>
          <p:nvPr/>
        </p:nvSpPr>
        <p:spPr>
          <a:xfrm>
            <a:off x="533400" y="285750"/>
            <a:ext cx="110490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/>
          <a:lstStyle>
            <a:defPPr algn="l">
              <a:defRPr sz="2850" b="1">
                <a:solidFill>
                  <a:srgbClr val="F5BA2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850" b="1">
                <a:solidFill>
                  <a:srgbClr val="F5BA2D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5BA2D"/>
                </a:solidFill>
                <a:latin typeface="Arial"/>
                <a:ea typeface="Arial"/>
                <a:cs typeface="Arial"/>
              </a:rPr>
              <a:t>SEQUENCE YÊU CẦU HỦY VÀ GHI NHẬN HOÀN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99E336F-4EB6-4FF5-9515-98CC4B6EDE6F}"/>
              </a:ext>
            </a:extLst>
          </p:cNvPr>
          <p:cNvSpPr>
            <a:spLocks noGrp="1"/>
          </p:cNvSpPr>
          <p:nvPr/>
        </p:nvSpPr>
        <p:spPr>
          <a:xfrm>
            <a:off x="523875" y="1190625"/>
            <a:ext cx="1809750" cy="619125"/>
          </a:xfrm>
          <a:prstGeom prst="rect">
            <a:avLst/>
          </a:prstGeom>
          <a:solidFill>
            <a:srgbClr val="F5BA2D"/>
          </a:solidFill>
          <a:ln w="14288">
            <a:solidFill>
              <a:srgbClr val="F5BA2D"/>
            </a:solidFill>
          </a:ln>
        </p:spPr>
        <p:txBody>
          <a:bodyPr wrap="square" lIns="114300" tIns="114300" rIns="114300" bIns="114300" anchor="ctr"/>
          <a:lstStyle>
            <a:defPPr algn="l">
              <a:defRPr sz="1500">
                <a:solidFill>
                  <a:srgbClr val="292929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>
                <a:solidFill>
                  <a:srgbClr val="292929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292929"/>
                </a:solidFill>
                <a:latin typeface="Arial"/>
                <a:ea typeface="Arial"/>
                <a:cs typeface="Arial"/>
              </a:rPr>
              <a:t>Khách hàng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59FCDAE5-C22F-4004-9184-B63F7BC2D45B}"/>
              </a:ext>
            </a:extLst>
          </p:cNvPr>
          <p:cNvCxnSpPr/>
          <p:nvPr/>
        </p:nvCxnSpPr>
        <p:spPr>
          <a:xfrm>
            <a:off x="1428750" y="1809750"/>
            <a:ext cx="0" cy="4095750"/>
          </a:xfrm>
          <a:prstGeom prst="straightConnector1">
            <a:avLst/>
          </a:prstGeom>
          <a:ln w="16193">
            <a:solidFill>
              <a:srgbClr val="D7D7D7"/>
            </a:solidFill>
            <a:prstDash val="dash"/>
            <a:tailEnd type="none" w="med" len="med"/>
          </a:ln>
        </p:spPr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92ACBAD4-C0A7-4CE4-9BD5-92E63CD7E7D7}"/>
              </a:ext>
            </a:extLst>
          </p:cNvPr>
          <p:cNvSpPr>
            <a:spLocks noGrp="1"/>
          </p:cNvSpPr>
          <p:nvPr/>
        </p:nvSpPr>
        <p:spPr>
          <a:xfrm>
            <a:off x="3635375" y="1190625"/>
            <a:ext cx="1809750" cy="619125"/>
          </a:xfrm>
          <a:prstGeom prst="rect">
            <a:avLst/>
          </a:prstGeom>
          <a:solidFill>
            <a:srgbClr val="F5BA2D"/>
          </a:solidFill>
          <a:ln w="14288">
            <a:solidFill>
              <a:srgbClr val="F5BA2D"/>
            </a:solidFill>
          </a:ln>
        </p:spPr>
        <p:txBody>
          <a:bodyPr wrap="square" lIns="114300" tIns="114300" rIns="114300" bIns="114300" anchor="ctr"/>
          <a:lstStyle>
            <a:defPPr algn="l">
              <a:defRPr sz="1500">
                <a:solidFill>
                  <a:srgbClr val="292929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>
                <a:solidFill>
                  <a:srgbClr val="292929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292929"/>
                </a:solidFill>
                <a:latin typeface="Arial"/>
                <a:ea typeface="Arial"/>
                <a:cs typeface="Arial"/>
              </a:rPr>
              <a:t>DemoSession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9FB46594-6FC8-4884-B748-4862A484B4DB}"/>
              </a:ext>
            </a:extLst>
          </p:cNvPr>
          <p:cNvCxnSpPr/>
          <p:nvPr/>
        </p:nvCxnSpPr>
        <p:spPr>
          <a:xfrm>
            <a:off x="4540250" y="1809750"/>
            <a:ext cx="0" cy="4095750"/>
          </a:xfrm>
          <a:prstGeom prst="straightConnector1">
            <a:avLst/>
          </a:prstGeom>
          <a:ln w="16193">
            <a:solidFill>
              <a:srgbClr val="D7D7D7"/>
            </a:solidFill>
            <a:prstDash val="dash"/>
            <a:tailEnd type="none" w="med" len="med"/>
          </a:ln>
        </p:spPr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0694C455-8CA7-4797-86C5-8492773B53AD}"/>
              </a:ext>
            </a:extLst>
          </p:cNvPr>
          <p:cNvSpPr>
            <a:spLocks noGrp="1"/>
          </p:cNvSpPr>
          <p:nvPr/>
        </p:nvSpPr>
        <p:spPr>
          <a:xfrm>
            <a:off x="6746875" y="1190625"/>
            <a:ext cx="1809750" cy="619125"/>
          </a:xfrm>
          <a:prstGeom prst="rect">
            <a:avLst/>
          </a:prstGeom>
          <a:solidFill>
            <a:srgbClr val="F5BA2D"/>
          </a:solidFill>
          <a:ln w="14288">
            <a:solidFill>
              <a:srgbClr val="F5BA2D"/>
            </a:solidFill>
          </a:ln>
        </p:spPr>
        <p:txBody>
          <a:bodyPr wrap="square" lIns="114300" tIns="114300" rIns="114300" bIns="114300" anchor="ctr"/>
          <a:lstStyle>
            <a:defPPr algn="l">
              <a:defRPr sz="1500">
                <a:solidFill>
                  <a:srgbClr val="292929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>
                <a:solidFill>
                  <a:srgbClr val="292929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292929"/>
                </a:solidFill>
                <a:latin typeface="Arial"/>
                <a:ea typeface="Arial"/>
                <a:cs typeface="Arial"/>
              </a:rPr>
              <a:t>Kho cục bộ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05514D8-93BB-4832-9745-4F7560F85279}"/>
              </a:ext>
            </a:extLst>
          </p:cNvPr>
          <p:cNvCxnSpPr/>
          <p:nvPr/>
        </p:nvCxnSpPr>
        <p:spPr>
          <a:xfrm>
            <a:off x="7651750" y="1809750"/>
            <a:ext cx="0" cy="4095750"/>
          </a:xfrm>
          <a:prstGeom prst="straightConnector1">
            <a:avLst/>
          </a:prstGeom>
          <a:ln w="16193">
            <a:solidFill>
              <a:srgbClr val="D7D7D7"/>
            </a:solidFill>
            <a:prstDash val="dash"/>
            <a:tailEnd type="none" w="med" len="med"/>
          </a:ln>
        </p:spPr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9735B6E5-38B6-4DA4-AA2A-C96A79E0FC9C}"/>
              </a:ext>
            </a:extLst>
          </p:cNvPr>
          <p:cNvSpPr>
            <a:spLocks noGrp="1"/>
          </p:cNvSpPr>
          <p:nvPr/>
        </p:nvSpPr>
        <p:spPr>
          <a:xfrm>
            <a:off x="9858375" y="1190625"/>
            <a:ext cx="1809750" cy="619125"/>
          </a:xfrm>
          <a:prstGeom prst="rect">
            <a:avLst/>
          </a:prstGeom>
          <a:solidFill>
            <a:srgbClr val="F5BA2D"/>
          </a:solidFill>
          <a:ln w="14288">
            <a:solidFill>
              <a:srgbClr val="F5BA2D"/>
            </a:solidFill>
          </a:ln>
        </p:spPr>
        <p:txBody>
          <a:bodyPr wrap="square" lIns="114300" tIns="114300" rIns="114300" bIns="114300" anchor="ctr"/>
          <a:lstStyle>
            <a:defPPr algn="l">
              <a:defRPr sz="1500">
                <a:solidFill>
                  <a:srgbClr val="292929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>
                <a:solidFill>
                  <a:srgbClr val="292929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292929"/>
                </a:solidFill>
                <a:latin typeface="Arial"/>
                <a:ea typeface="Arial"/>
                <a:cs typeface="Arial"/>
              </a:rPr>
              <a:t>Chủ sân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27082FF-58FA-4CFA-A055-F15166333E16}"/>
              </a:ext>
            </a:extLst>
          </p:cNvPr>
          <p:cNvCxnSpPr/>
          <p:nvPr/>
        </p:nvCxnSpPr>
        <p:spPr>
          <a:xfrm>
            <a:off x="10763250" y="1809750"/>
            <a:ext cx="0" cy="4095750"/>
          </a:xfrm>
          <a:prstGeom prst="straightConnector1">
            <a:avLst/>
          </a:prstGeom>
          <a:ln w="16193">
            <a:solidFill>
              <a:srgbClr val="D7D7D7"/>
            </a:solidFill>
            <a:prstDash val="dash"/>
            <a:tailEnd type="none" w="med" len="med"/>
          </a:ln>
        </p:spPr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27BB214D-54C6-4DF9-84ED-E43A2E73B272}"/>
              </a:ext>
            </a:extLst>
          </p:cNvPr>
          <p:cNvSpPr>
            <a:spLocks noGrp="1"/>
          </p:cNvSpPr>
          <p:nvPr/>
        </p:nvSpPr>
        <p:spPr>
          <a:xfrm>
            <a:off x="1504950" y="1952625"/>
            <a:ext cx="2959100" cy="238125"/>
          </a:xfrm>
          <a:prstGeom prst="rect">
            <a:avLst/>
          </a:prstGeom>
          <a:solidFill>
            <a:srgbClr val="292929"/>
          </a:solidFill>
          <a:ln w="0">
            <a:noFill/>
          </a:ln>
        </p:spPr>
        <p:txBody>
          <a:bodyPr wrap="square" lIns="0" tIns="0" rIns="0" bIns="0" anchor="ctr"/>
          <a:lstStyle>
            <a:defPPr algn="ctr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Yêu cầu hủy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CDCA99B-1057-4A23-B168-08F02170FE50}"/>
              </a:ext>
            </a:extLst>
          </p:cNvPr>
          <p:cNvCxnSpPr/>
          <p:nvPr/>
        </p:nvCxnSpPr>
        <p:spPr>
          <a:xfrm>
            <a:off x="1428750" y="2209800"/>
            <a:ext cx="3111500" cy="0"/>
          </a:xfrm>
          <a:prstGeom prst="straightConnector1">
            <a:avLst/>
          </a:prstGeom>
          <a:ln w="16193">
            <a:solidFill>
              <a:srgbClr val="F5BA2D"/>
            </a:solidFill>
            <a:prstDash val="solid"/>
            <a:tailEnd type="triangle" w="med" len="med"/>
          </a:ln>
        </p:spPr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FD5AE473-4569-42AD-9262-586FF7C59F76}"/>
              </a:ext>
            </a:extLst>
          </p:cNvPr>
          <p:cNvSpPr>
            <a:spLocks noGrp="1"/>
          </p:cNvSpPr>
          <p:nvPr/>
        </p:nvSpPr>
        <p:spPr>
          <a:xfrm>
            <a:off x="4616450" y="2400300"/>
            <a:ext cx="2959100" cy="238125"/>
          </a:xfrm>
          <a:prstGeom prst="rect">
            <a:avLst/>
          </a:prstGeom>
          <a:solidFill>
            <a:srgbClr val="292929"/>
          </a:solidFill>
          <a:ln w="0">
            <a:noFill/>
          </a:ln>
        </p:spPr>
        <p:txBody>
          <a:bodyPr wrap="square" lIns="0" tIns="0" rIns="0" bIns="0" anchor="ctr"/>
          <a:lstStyle>
            <a:defPPr algn="ctr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Lưu requested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00D869C-AF57-4A49-82B9-14B62CD243CD}"/>
              </a:ext>
            </a:extLst>
          </p:cNvPr>
          <p:cNvCxnSpPr/>
          <p:nvPr/>
        </p:nvCxnSpPr>
        <p:spPr>
          <a:xfrm>
            <a:off x="4540250" y="2657475"/>
            <a:ext cx="3111500" cy="0"/>
          </a:xfrm>
          <a:prstGeom prst="straightConnector1">
            <a:avLst/>
          </a:prstGeom>
          <a:ln w="16193">
            <a:solidFill>
              <a:srgbClr val="F5BA2D"/>
            </a:solidFill>
            <a:prstDash val="solid"/>
            <a:tailEnd type="triangle" w="med" len="med"/>
          </a:ln>
        </p:spPr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242D23A1-93BF-4513-A7B8-8F58D2CD1397}"/>
              </a:ext>
            </a:extLst>
          </p:cNvPr>
          <p:cNvSpPr>
            <a:spLocks noGrp="1"/>
          </p:cNvSpPr>
          <p:nvPr/>
        </p:nvSpPr>
        <p:spPr>
          <a:xfrm>
            <a:off x="1504950" y="2847975"/>
            <a:ext cx="2959100" cy="238125"/>
          </a:xfrm>
          <a:prstGeom prst="rect">
            <a:avLst/>
          </a:prstGeom>
          <a:solidFill>
            <a:srgbClr val="292929"/>
          </a:solidFill>
          <a:ln w="0">
            <a:noFill/>
          </a:ln>
        </p:spPr>
        <p:txBody>
          <a:bodyPr wrap="square" lIns="0" tIns="0" rIns="0" bIns="0" anchor="ctr"/>
          <a:lstStyle>
            <a:defPPr algn="ctr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Chờ phản hồi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36026A7-3CC0-4EE7-93A7-0EA320BA540C}"/>
              </a:ext>
            </a:extLst>
          </p:cNvPr>
          <p:cNvCxnSpPr/>
          <p:nvPr/>
        </p:nvCxnSpPr>
        <p:spPr>
          <a:xfrm flipH="1">
            <a:off x="1428750" y="3105150"/>
            <a:ext cx="3111500" cy="0"/>
          </a:xfrm>
          <a:prstGeom prst="straightConnector1">
            <a:avLst/>
          </a:prstGeom>
          <a:ln w="16193">
            <a:solidFill>
              <a:srgbClr val="F5BA2D"/>
            </a:solidFill>
            <a:prstDash val="dash"/>
            <a:tailEnd type="triangle" w="med" len="med"/>
          </a:ln>
        </p:spPr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0BB4A67E-CCCB-4301-92C6-3FA2DE72BB5F}"/>
              </a:ext>
            </a:extLst>
          </p:cNvPr>
          <p:cNvSpPr>
            <a:spLocks noGrp="1"/>
          </p:cNvSpPr>
          <p:nvPr/>
        </p:nvSpPr>
        <p:spPr>
          <a:xfrm>
            <a:off x="4616450" y="3295650"/>
            <a:ext cx="6070600" cy="238125"/>
          </a:xfrm>
          <a:prstGeom prst="rect">
            <a:avLst/>
          </a:prstGeom>
          <a:solidFill>
            <a:srgbClr val="292929"/>
          </a:solidFill>
          <a:ln w="0">
            <a:noFill/>
          </a:ln>
        </p:spPr>
        <p:txBody>
          <a:bodyPr wrap="square" lIns="0" tIns="0" rIns="0" bIns="0" anchor="ctr"/>
          <a:lstStyle>
            <a:defPPr algn="ctr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Chấp thuận yêu cầu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E29AD66-7B76-473B-BA4E-5F28E25A0C40}"/>
              </a:ext>
            </a:extLst>
          </p:cNvPr>
          <p:cNvCxnSpPr/>
          <p:nvPr/>
        </p:nvCxnSpPr>
        <p:spPr>
          <a:xfrm flipH="1">
            <a:off x="4540250" y="3552825"/>
            <a:ext cx="6223000" cy="0"/>
          </a:xfrm>
          <a:prstGeom prst="straightConnector1">
            <a:avLst/>
          </a:prstGeom>
          <a:ln w="16193">
            <a:solidFill>
              <a:srgbClr val="F5BA2D"/>
            </a:solidFill>
            <a:prstDash val="solid"/>
            <a:tailEnd type="triangle" w="med" len="med"/>
          </a:ln>
        </p:spPr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1CF80F27-7138-450B-A126-004466127037}"/>
              </a:ext>
            </a:extLst>
          </p:cNvPr>
          <p:cNvSpPr>
            <a:spLocks noGrp="1"/>
          </p:cNvSpPr>
          <p:nvPr/>
        </p:nvSpPr>
        <p:spPr>
          <a:xfrm>
            <a:off x="4616450" y="3743325"/>
            <a:ext cx="2959100" cy="238125"/>
          </a:xfrm>
          <a:prstGeom prst="rect">
            <a:avLst/>
          </a:prstGeom>
          <a:solidFill>
            <a:srgbClr val="292929"/>
          </a:solidFill>
          <a:ln w="0">
            <a:noFill/>
          </a:ln>
        </p:spPr>
        <p:txBody>
          <a:bodyPr wrap="square" lIns="0" tIns="0" rIns="0" bIns="0" anchor="ctr"/>
          <a:lstStyle>
            <a:defPPr algn="ctr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Hủy, refund pending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F5ECB79-25FD-475D-A215-6122FEC7BCEE}"/>
              </a:ext>
            </a:extLst>
          </p:cNvPr>
          <p:cNvCxnSpPr/>
          <p:nvPr/>
        </p:nvCxnSpPr>
        <p:spPr>
          <a:xfrm>
            <a:off x="4540250" y="4000500"/>
            <a:ext cx="3111500" cy="0"/>
          </a:xfrm>
          <a:prstGeom prst="straightConnector1">
            <a:avLst/>
          </a:prstGeom>
          <a:ln w="16193">
            <a:solidFill>
              <a:srgbClr val="F5BA2D"/>
            </a:solidFill>
            <a:prstDash val="solid"/>
            <a:tailEnd type="triangle" w="med" len="med"/>
          </a:ln>
        </p:spPr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E6B6102E-D5B7-4E68-8812-0807FF91567B}"/>
              </a:ext>
            </a:extLst>
          </p:cNvPr>
          <p:cNvSpPr>
            <a:spLocks noGrp="1"/>
          </p:cNvSpPr>
          <p:nvPr/>
        </p:nvSpPr>
        <p:spPr>
          <a:xfrm>
            <a:off x="4616450" y="4191000"/>
            <a:ext cx="6070600" cy="238125"/>
          </a:xfrm>
          <a:prstGeom prst="rect">
            <a:avLst/>
          </a:prstGeom>
          <a:solidFill>
            <a:srgbClr val="292929"/>
          </a:solidFill>
          <a:ln w="0">
            <a:noFill/>
          </a:ln>
        </p:spPr>
        <p:txBody>
          <a:bodyPr wrap="square" lIns="0" tIns="0" rIns="0" bIns="0" anchor="ctr"/>
          <a:lstStyle>
            <a:defPPr algn="ctr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Ghi nhận hoàn mẫu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D50CB1DB-3DC9-4FE2-8B3A-37535982EBFC}"/>
              </a:ext>
            </a:extLst>
          </p:cNvPr>
          <p:cNvCxnSpPr/>
          <p:nvPr/>
        </p:nvCxnSpPr>
        <p:spPr>
          <a:xfrm flipH="1">
            <a:off x="4540250" y="4448175"/>
            <a:ext cx="6223000" cy="0"/>
          </a:xfrm>
          <a:prstGeom prst="straightConnector1">
            <a:avLst/>
          </a:prstGeom>
          <a:ln w="16193">
            <a:solidFill>
              <a:srgbClr val="F5BA2D"/>
            </a:solidFill>
            <a:prstDash val="solid"/>
            <a:tailEnd type="triangle" w="med" len="med"/>
          </a:ln>
        </p:spPr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EEC73D73-ADA1-4E72-AB5F-1AB4BFB90934}"/>
              </a:ext>
            </a:extLst>
          </p:cNvPr>
          <p:cNvSpPr>
            <a:spLocks noGrp="1"/>
          </p:cNvSpPr>
          <p:nvPr/>
        </p:nvSpPr>
        <p:spPr>
          <a:xfrm>
            <a:off x="4616450" y="4638675"/>
            <a:ext cx="2959100" cy="238125"/>
          </a:xfrm>
          <a:prstGeom prst="rect">
            <a:avLst/>
          </a:prstGeom>
          <a:solidFill>
            <a:srgbClr val="292929"/>
          </a:solidFill>
          <a:ln w="0">
            <a:noFill/>
          </a:ln>
        </p:spPr>
        <p:txBody>
          <a:bodyPr wrap="square" lIns="0" tIns="0" rIns="0" bIns="0" anchor="ctr"/>
          <a:lstStyle>
            <a:defPPr algn="ctr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refund recorded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29E7E757-A618-493A-A11F-EBEB077D51A6}"/>
              </a:ext>
            </a:extLst>
          </p:cNvPr>
          <p:cNvCxnSpPr/>
          <p:nvPr/>
        </p:nvCxnSpPr>
        <p:spPr>
          <a:xfrm>
            <a:off x="4540250" y="4895850"/>
            <a:ext cx="3111500" cy="0"/>
          </a:xfrm>
          <a:prstGeom prst="straightConnector1">
            <a:avLst/>
          </a:prstGeom>
          <a:ln w="16193">
            <a:solidFill>
              <a:srgbClr val="F5BA2D"/>
            </a:solidFill>
            <a:prstDash val="solid"/>
            <a:tailEnd type="triangle" w="med" len="med"/>
          </a:ln>
        </p:spPr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10AD6629-015D-4404-9330-096309D82425}"/>
              </a:ext>
            </a:extLst>
          </p:cNvPr>
          <p:cNvSpPr>
            <a:spLocks noGrp="1"/>
          </p:cNvSpPr>
          <p:nvPr/>
        </p:nvSpPr>
        <p:spPr>
          <a:xfrm>
            <a:off x="1504950" y="5086350"/>
            <a:ext cx="2959100" cy="238125"/>
          </a:xfrm>
          <a:prstGeom prst="rect">
            <a:avLst/>
          </a:prstGeom>
          <a:solidFill>
            <a:srgbClr val="292929"/>
          </a:solidFill>
          <a:ln w="0">
            <a:noFill/>
          </a:ln>
        </p:spPr>
        <p:txBody>
          <a:bodyPr wrap="square" lIns="0" tIns="0" rIns="0" bIns="0" anchor="ctr"/>
          <a:lstStyle>
            <a:defPPr algn="ctr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Cập nhật trạng thái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CC31E97E-E7CD-4445-864B-DE96A681125D}"/>
              </a:ext>
            </a:extLst>
          </p:cNvPr>
          <p:cNvCxnSpPr/>
          <p:nvPr/>
        </p:nvCxnSpPr>
        <p:spPr>
          <a:xfrm flipH="1">
            <a:off x="1428750" y="5343525"/>
            <a:ext cx="3111500" cy="0"/>
          </a:xfrm>
          <a:prstGeom prst="straightConnector1">
            <a:avLst/>
          </a:prstGeom>
          <a:ln w="16193">
            <a:solidFill>
              <a:srgbClr val="F5BA2D"/>
            </a:solidFill>
            <a:prstDash val="dash"/>
            <a:tailEnd type="triangle" w="med" len="med"/>
          </a:ln>
        </p:spPr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8369878B-FD06-412C-B227-3BFB82C21DF4}"/>
              </a:ext>
            </a:extLst>
          </p:cNvPr>
          <p:cNvSpPr>
            <a:spLocks noGrp="1"/>
          </p:cNvSpPr>
          <p:nvPr/>
        </p:nvSpPr>
        <p:spPr>
          <a:xfrm>
            <a:off x="533400" y="6248400"/>
            <a:ext cx="11049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/>
          <a:lstStyle>
            <a:defPPr algn="l">
              <a:defRPr sz="1350" b="0">
                <a:solidFill>
                  <a:srgbClr val="D7D7D7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350" b="0">
                <a:solidFill>
                  <a:srgbClr val="D7D7D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7D7D7"/>
                </a:solidFill>
                <a:latin typeface="Arial"/>
                <a:ea typeface="Arial"/>
                <a:cs typeface="Arial"/>
              </a:rPr>
              <a:t>Vé social cần trước ít nhất 24 giờ. Lịch sân áp dụng chính sách tại thời điểm đặt.</a:t>
            </a:r>
          </a:p>
        </p:txBody>
      </p:sp>
    </p:spTree>
    <p:extLst>
      <p:ext uri="{BB962C8B-B14F-4D97-AF65-F5344CB8AC3E}">
        <p14:creationId xmlns:p14="http://schemas.microsoft.com/office/powerpoint/2010/main" val="6883547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4AC299EB-4D36-4882-97E7-EC2649F37762}"/>
              </a:ext>
            </a:extLst>
          </p:cNvPr>
          <p:cNvSpPr>
            <a:spLocks noGrp="1"/>
          </p:cNvSpPr>
          <p:nvPr/>
        </p:nvSpPr>
        <p:spPr>
          <a:xfrm>
            <a:off x="533400" y="285750"/>
            <a:ext cx="110490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/>
          <a:lstStyle>
            <a:defPPr algn="l">
              <a:defRPr sz="2850" b="1">
                <a:solidFill>
                  <a:srgbClr val="F5BA2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850" b="1">
                <a:solidFill>
                  <a:srgbClr val="F5BA2D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5BA2D"/>
                </a:solidFill>
                <a:latin typeface="Arial"/>
                <a:ea typeface="Arial"/>
                <a:cs typeface="Arial"/>
              </a:rPr>
              <a:t>SEQUENCE CHỈNH SỬA VÀ KIỂM DUYỆT CƠ SỞ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FE67E8D-151B-4D3F-88D4-7F8C8CA21CA3}"/>
              </a:ext>
            </a:extLst>
          </p:cNvPr>
          <p:cNvSpPr>
            <a:spLocks noGrp="1"/>
          </p:cNvSpPr>
          <p:nvPr/>
        </p:nvSpPr>
        <p:spPr>
          <a:xfrm>
            <a:off x="523875" y="1190625"/>
            <a:ext cx="1809750" cy="619125"/>
          </a:xfrm>
          <a:prstGeom prst="rect">
            <a:avLst/>
          </a:prstGeom>
          <a:solidFill>
            <a:srgbClr val="F5BA2D"/>
          </a:solidFill>
          <a:ln w="14288">
            <a:solidFill>
              <a:srgbClr val="F5BA2D"/>
            </a:solidFill>
          </a:ln>
        </p:spPr>
        <p:txBody>
          <a:bodyPr wrap="square" lIns="114300" tIns="114300" rIns="114300" bIns="114300" anchor="ctr"/>
          <a:lstStyle>
            <a:defPPr algn="l">
              <a:defRPr sz="1500">
                <a:solidFill>
                  <a:srgbClr val="292929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>
                <a:solidFill>
                  <a:srgbClr val="292929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292929"/>
                </a:solidFill>
                <a:latin typeface="Arial"/>
                <a:ea typeface="Arial"/>
                <a:cs typeface="Arial"/>
              </a:rPr>
              <a:t>Chủ sân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EB0ED130-F7EF-449D-8B2B-6FF9731CF6A6}"/>
              </a:ext>
            </a:extLst>
          </p:cNvPr>
          <p:cNvCxnSpPr/>
          <p:nvPr/>
        </p:nvCxnSpPr>
        <p:spPr>
          <a:xfrm>
            <a:off x="1428750" y="1809750"/>
            <a:ext cx="0" cy="4095750"/>
          </a:xfrm>
          <a:prstGeom prst="straightConnector1">
            <a:avLst/>
          </a:prstGeom>
          <a:ln w="16193">
            <a:solidFill>
              <a:srgbClr val="D7D7D7"/>
            </a:solidFill>
            <a:prstDash val="dash"/>
            <a:tailEnd type="none" w="med" len="med"/>
          </a:ln>
        </p:spPr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350660A2-CBCC-41E4-9458-766DAE24EBC9}"/>
              </a:ext>
            </a:extLst>
          </p:cNvPr>
          <p:cNvSpPr>
            <a:spLocks noGrp="1"/>
          </p:cNvSpPr>
          <p:nvPr/>
        </p:nvSpPr>
        <p:spPr>
          <a:xfrm>
            <a:off x="3635375" y="1190625"/>
            <a:ext cx="1809750" cy="619125"/>
          </a:xfrm>
          <a:prstGeom prst="rect">
            <a:avLst/>
          </a:prstGeom>
          <a:solidFill>
            <a:srgbClr val="F5BA2D"/>
          </a:solidFill>
          <a:ln w="14288">
            <a:solidFill>
              <a:srgbClr val="F5BA2D"/>
            </a:solidFill>
          </a:ln>
        </p:spPr>
        <p:txBody>
          <a:bodyPr wrap="square" lIns="114300" tIns="114300" rIns="114300" bIns="114300" anchor="ctr"/>
          <a:lstStyle>
            <a:defPPr algn="l">
              <a:defRPr sz="1500">
                <a:solidFill>
                  <a:srgbClr val="292929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>
                <a:solidFill>
                  <a:srgbClr val="292929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292929"/>
                </a:solidFill>
                <a:latin typeface="Arial"/>
                <a:ea typeface="Arial"/>
                <a:cs typeface="Arial"/>
              </a:rPr>
              <a:t>DemoSession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796918B2-71FF-409B-82DC-25EB328FA3A1}"/>
              </a:ext>
            </a:extLst>
          </p:cNvPr>
          <p:cNvCxnSpPr/>
          <p:nvPr/>
        </p:nvCxnSpPr>
        <p:spPr>
          <a:xfrm>
            <a:off x="4540250" y="1809750"/>
            <a:ext cx="0" cy="4095750"/>
          </a:xfrm>
          <a:prstGeom prst="straightConnector1">
            <a:avLst/>
          </a:prstGeom>
          <a:ln w="16193">
            <a:solidFill>
              <a:srgbClr val="D7D7D7"/>
            </a:solidFill>
            <a:prstDash val="dash"/>
            <a:tailEnd type="none" w="med" len="med"/>
          </a:ln>
        </p:spPr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DAA735D4-7C47-4EC8-A48C-F697E94E0A76}"/>
              </a:ext>
            </a:extLst>
          </p:cNvPr>
          <p:cNvSpPr>
            <a:spLocks noGrp="1"/>
          </p:cNvSpPr>
          <p:nvPr/>
        </p:nvSpPr>
        <p:spPr>
          <a:xfrm>
            <a:off x="6746875" y="1190625"/>
            <a:ext cx="1809750" cy="619125"/>
          </a:xfrm>
          <a:prstGeom prst="rect">
            <a:avLst/>
          </a:prstGeom>
          <a:solidFill>
            <a:srgbClr val="F5BA2D"/>
          </a:solidFill>
          <a:ln w="14288">
            <a:solidFill>
              <a:srgbClr val="F5BA2D"/>
            </a:solidFill>
          </a:ln>
        </p:spPr>
        <p:txBody>
          <a:bodyPr wrap="square" lIns="114300" tIns="114300" rIns="114300" bIns="114300" anchor="ctr"/>
          <a:lstStyle>
            <a:defPPr algn="l">
              <a:defRPr sz="1500">
                <a:solidFill>
                  <a:srgbClr val="292929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>
                <a:solidFill>
                  <a:srgbClr val="292929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292929"/>
                </a:solidFill>
                <a:latin typeface="Arial"/>
                <a:ea typeface="Arial"/>
                <a:cs typeface="Arial"/>
              </a:rPr>
              <a:t>Kho cục bộ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B1D2E401-CA14-4FB7-AC7F-009793FE3C29}"/>
              </a:ext>
            </a:extLst>
          </p:cNvPr>
          <p:cNvCxnSpPr/>
          <p:nvPr/>
        </p:nvCxnSpPr>
        <p:spPr>
          <a:xfrm>
            <a:off x="7651750" y="1809750"/>
            <a:ext cx="0" cy="4095750"/>
          </a:xfrm>
          <a:prstGeom prst="straightConnector1">
            <a:avLst/>
          </a:prstGeom>
          <a:ln w="16193">
            <a:solidFill>
              <a:srgbClr val="D7D7D7"/>
            </a:solidFill>
            <a:prstDash val="dash"/>
            <a:tailEnd type="none" w="med" len="med"/>
          </a:ln>
        </p:spPr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1B700990-A0C7-4DA9-9A6C-8A748F873160}"/>
              </a:ext>
            </a:extLst>
          </p:cNvPr>
          <p:cNvSpPr>
            <a:spLocks noGrp="1"/>
          </p:cNvSpPr>
          <p:nvPr/>
        </p:nvSpPr>
        <p:spPr>
          <a:xfrm>
            <a:off x="9858375" y="1190625"/>
            <a:ext cx="1809750" cy="619125"/>
          </a:xfrm>
          <a:prstGeom prst="rect">
            <a:avLst/>
          </a:prstGeom>
          <a:solidFill>
            <a:srgbClr val="F5BA2D"/>
          </a:solidFill>
          <a:ln w="14288">
            <a:solidFill>
              <a:srgbClr val="F5BA2D"/>
            </a:solidFill>
          </a:ln>
        </p:spPr>
        <p:txBody>
          <a:bodyPr wrap="square" lIns="114300" tIns="114300" rIns="114300" bIns="114300" anchor="ctr"/>
          <a:lstStyle>
            <a:defPPr algn="l">
              <a:defRPr sz="1500">
                <a:solidFill>
                  <a:srgbClr val="292929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>
                <a:solidFill>
                  <a:srgbClr val="292929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292929"/>
                </a:solidFill>
                <a:latin typeface="Arial"/>
                <a:ea typeface="Arial"/>
                <a:cs typeface="Arial"/>
              </a:rPr>
              <a:t>Admin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6EC2045-F105-4983-BC5E-E5C146C208B7}"/>
              </a:ext>
            </a:extLst>
          </p:cNvPr>
          <p:cNvCxnSpPr/>
          <p:nvPr/>
        </p:nvCxnSpPr>
        <p:spPr>
          <a:xfrm>
            <a:off x="10763250" y="1809750"/>
            <a:ext cx="0" cy="4095750"/>
          </a:xfrm>
          <a:prstGeom prst="straightConnector1">
            <a:avLst/>
          </a:prstGeom>
          <a:ln w="16193">
            <a:solidFill>
              <a:srgbClr val="D7D7D7"/>
            </a:solidFill>
            <a:prstDash val="dash"/>
            <a:tailEnd type="none" w="med" len="med"/>
          </a:ln>
        </p:spPr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44F7D57C-772A-4DEF-9965-7F8D64DFE920}"/>
              </a:ext>
            </a:extLst>
          </p:cNvPr>
          <p:cNvSpPr>
            <a:spLocks noGrp="1"/>
          </p:cNvSpPr>
          <p:nvPr/>
        </p:nvSpPr>
        <p:spPr>
          <a:xfrm>
            <a:off x="1504950" y="1952625"/>
            <a:ext cx="2959100" cy="238125"/>
          </a:xfrm>
          <a:prstGeom prst="rect">
            <a:avLst/>
          </a:prstGeom>
          <a:solidFill>
            <a:srgbClr val="292929"/>
          </a:solidFill>
          <a:ln w="0">
            <a:noFill/>
          </a:ln>
        </p:spPr>
        <p:txBody>
          <a:bodyPr wrap="square" lIns="0" tIns="0" rIns="0" bIns="0" anchor="ctr"/>
          <a:lstStyle>
            <a:defPPr algn="ctr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Lưu và gửi hồ sơ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23ABC75-45ED-4A1D-B7F9-367F868C0627}"/>
              </a:ext>
            </a:extLst>
          </p:cNvPr>
          <p:cNvCxnSpPr/>
          <p:nvPr/>
        </p:nvCxnSpPr>
        <p:spPr>
          <a:xfrm>
            <a:off x="1428750" y="2209800"/>
            <a:ext cx="3111500" cy="0"/>
          </a:xfrm>
          <a:prstGeom prst="straightConnector1">
            <a:avLst/>
          </a:prstGeom>
          <a:ln w="16193">
            <a:solidFill>
              <a:srgbClr val="F5BA2D"/>
            </a:solidFill>
            <a:prstDash val="solid"/>
            <a:tailEnd type="triangle" w="med" len="med"/>
          </a:ln>
        </p:spPr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698F7F99-6F80-43CA-8479-5081399E7040}"/>
              </a:ext>
            </a:extLst>
          </p:cNvPr>
          <p:cNvSpPr>
            <a:spLocks noGrp="1"/>
          </p:cNvSpPr>
          <p:nvPr/>
        </p:nvSpPr>
        <p:spPr>
          <a:xfrm>
            <a:off x="4616450" y="2400300"/>
            <a:ext cx="2959100" cy="238125"/>
          </a:xfrm>
          <a:prstGeom prst="rect">
            <a:avLst/>
          </a:prstGeom>
          <a:solidFill>
            <a:srgbClr val="292929"/>
          </a:solidFill>
          <a:ln w="0">
            <a:noFill/>
          </a:ln>
        </p:spPr>
        <p:txBody>
          <a:bodyPr wrap="square" lIns="0" tIns="0" rIns="0" bIns="0" anchor="ctr"/>
          <a:lstStyle>
            <a:defPPr algn="ctr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draft, pending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6BC1B37-E9E9-4971-8860-91C4D4C8BDCC}"/>
              </a:ext>
            </a:extLst>
          </p:cNvPr>
          <p:cNvCxnSpPr/>
          <p:nvPr/>
        </p:nvCxnSpPr>
        <p:spPr>
          <a:xfrm>
            <a:off x="4540250" y="2657475"/>
            <a:ext cx="3111500" cy="0"/>
          </a:xfrm>
          <a:prstGeom prst="straightConnector1">
            <a:avLst/>
          </a:prstGeom>
          <a:ln w="16193">
            <a:solidFill>
              <a:srgbClr val="F5BA2D"/>
            </a:solidFill>
            <a:prstDash val="solid"/>
            <a:tailEnd type="triangle" w="med" len="med"/>
          </a:ln>
        </p:spPr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EE64CBED-43CD-4373-8163-8C45B5BEF9B9}"/>
              </a:ext>
            </a:extLst>
          </p:cNvPr>
          <p:cNvSpPr>
            <a:spLocks noGrp="1"/>
          </p:cNvSpPr>
          <p:nvPr/>
        </p:nvSpPr>
        <p:spPr>
          <a:xfrm>
            <a:off x="4616450" y="2847975"/>
            <a:ext cx="6070600" cy="238125"/>
          </a:xfrm>
          <a:prstGeom prst="rect">
            <a:avLst/>
          </a:prstGeom>
          <a:solidFill>
            <a:srgbClr val="292929"/>
          </a:solidFill>
          <a:ln w="0">
            <a:noFill/>
          </a:ln>
        </p:spPr>
        <p:txBody>
          <a:bodyPr wrap="square" lIns="0" tIns="0" rIns="0" bIns="0" anchor="ctr"/>
          <a:lstStyle>
            <a:defPPr algn="ctr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Mở hồ sơ chờ duyệt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556771A-B926-4AE2-8E39-A85293B8D523}"/>
              </a:ext>
            </a:extLst>
          </p:cNvPr>
          <p:cNvCxnSpPr/>
          <p:nvPr/>
        </p:nvCxnSpPr>
        <p:spPr>
          <a:xfrm flipH="1">
            <a:off x="4540250" y="3105150"/>
            <a:ext cx="6223000" cy="0"/>
          </a:xfrm>
          <a:prstGeom prst="straightConnector1">
            <a:avLst/>
          </a:prstGeom>
          <a:ln w="16193">
            <a:solidFill>
              <a:srgbClr val="F5BA2D"/>
            </a:solidFill>
            <a:prstDash val="solid"/>
            <a:tailEnd type="triangle" w="med" len="med"/>
          </a:ln>
        </p:spPr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8D19FD0E-D190-4B51-B91E-F548F3A2B020}"/>
              </a:ext>
            </a:extLst>
          </p:cNvPr>
          <p:cNvSpPr>
            <a:spLocks noGrp="1"/>
          </p:cNvSpPr>
          <p:nvPr/>
        </p:nvSpPr>
        <p:spPr>
          <a:xfrm>
            <a:off x="4616450" y="3295650"/>
            <a:ext cx="6070600" cy="238125"/>
          </a:xfrm>
          <a:prstGeom prst="rect">
            <a:avLst/>
          </a:prstGeom>
          <a:solidFill>
            <a:srgbClr val="292929"/>
          </a:solidFill>
          <a:ln w="0">
            <a:noFill/>
          </a:ln>
        </p:spPr>
        <p:txBody>
          <a:bodyPr wrap="square" lIns="0" tIns="0" rIns="0" bIns="0" anchor="ctr"/>
          <a:lstStyle>
            <a:defPPr algn="ctr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Hồ sơ và revision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49A53581-0584-4733-A688-1A74595EDCD4}"/>
              </a:ext>
            </a:extLst>
          </p:cNvPr>
          <p:cNvCxnSpPr/>
          <p:nvPr/>
        </p:nvCxnSpPr>
        <p:spPr>
          <a:xfrm>
            <a:off x="4540250" y="3552825"/>
            <a:ext cx="6223000" cy="0"/>
          </a:xfrm>
          <a:prstGeom prst="straightConnector1">
            <a:avLst/>
          </a:prstGeom>
          <a:ln w="16193">
            <a:solidFill>
              <a:srgbClr val="F5BA2D"/>
            </a:solidFill>
            <a:prstDash val="dash"/>
            <a:tailEnd type="triangle" w="med" len="med"/>
          </a:ln>
        </p:spPr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89723273-EE95-404B-BB8E-BED2F8A43BE0}"/>
              </a:ext>
            </a:extLst>
          </p:cNvPr>
          <p:cNvSpPr>
            <a:spLocks noGrp="1"/>
          </p:cNvSpPr>
          <p:nvPr/>
        </p:nvSpPr>
        <p:spPr>
          <a:xfrm>
            <a:off x="4616450" y="3743325"/>
            <a:ext cx="6070600" cy="238125"/>
          </a:xfrm>
          <a:prstGeom prst="rect">
            <a:avLst/>
          </a:prstGeom>
          <a:solidFill>
            <a:srgbClr val="292929"/>
          </a:solidFill>
          <a:ln w="0">
            <a:noFill/>
          </a:ln>
        </p:spPr>
        <p:txBody>
          <a:bodyPr wrap="square" lIns="0" tIns="0" rIns="0" bIns="0" anchor="ctr"/>
          <a:lstStyle>
            <a:defPPr algn="ctr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Duyệt đúng revision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696B4963-2CE4-478A-BD4E-E95471A7F0BB}"/>
              </a:ext>
            </a:extLst>
          </p:cNvPr>
          <p:cNvCxnSpPr/>
          <p:nvPr/>
        </p:nvCxnSpPr>
        <p:spPr>
          <a:xfrm flipH="1">
            <a:off x="4540250" y="4000500"/>
            <a:ext cx="6223000" cy="0"/>
          </a:xfrm>
          <a:prstGeom prst="straightConnector1">
            <a:avLst/>
          </a:prstGeom>
          <a:ln w="16193">
            <a:solidFill>
              <a:srgbClr val="F5BA2D"/>
            </a:solidFill>
            <a:prstDash val="solid"/>
            <a:tailEnd type="triangle" w="med" len="med"/>
          </a:ln>
        </p:spPr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64AEDD12-72CA-495C-A4E6-484BC2455CE1}"/>
              </a:ext>
            </a:extLst>
          </p:cNvPr>
          <p:cNvSpPr>
            <a:spLocks noGrp="1"/>
          </p:cNvSpPr>
          <p:nvPr/>
        </p:nvSpPr>
        <p:spPr>
          <a:xfrm>
            <a:off x="4616450" y="4191000"/>
            <a:ext cx="2959100" cy="238125"/>
          </a:xfrm>
          <a:prstGeom prst="rect">
            <a:avLst/>
          </a:prstGeom>
          <a:solidFill>
            <a:srgbClr val="292929"/>
          </a:solidFill>
          <a:ln w="0">
            <a:noFill/>
          </a:ln>
        </p:spPr>
        <p:txBody>
          <a:bodyPr wrap="square" lIns="0" tIns="0" rIns="0" bIns="0" anchor="ctr"/>
          <a:lstStyle>
            <a:defPPr algn="ctr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Cập nhật published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CF3C046-BE8B-4889-9B83-FB48E2AEA497}"/>
              </a:ext>
            </a:extLst>
          </p:cNvPr>
          <p:cNvCxnSpPr/>
          <p:nvPr/>
        </p:nvCxnSpPr>
        <p:spPr>
          <a:xfrm>
            <a:off x="4540250" y="4448175"/>
            <a:ext cx="3111500" cy="0"/>
          </a:xfrm>
          <a:prstGeom prst="straightConnector1">
            <a:avLst/>
          </a:prstGeom>
          <a:ln w="16193">
            <a:solidFill>
              <a:srgbClr val="F5BA2D"/>
            </a:solidFill>
            <a:prstDash val="solid"/>
            <a:tailEnd type="triangle" w="med" len="med"/>
          </a:ln>
        </p:spPr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35408904-6D76-4CC0-8AC8-F53875679884}"/>
              </a:ext>
            </a:extLst>
          </p:cNvPr>
          <p:cNvSpPr>
            <a:spLocks noGrp="1"/>
          </p:cNvSpPr>
          <p:nvPr/>
        </p:nvSpPr>
        <p:spPr>
          <a:xfrm>
            <a:off x="1504950" y="4638675"/>
            <a:ext cx="2959100" cy="238125"/>
          </a:xfrm>
          <a:prstGeom prst="rect">
            <a:avLst/>
          </a:prstGeom>
          <a:solidFill>
            <a:srgbClr val="292929"/>
          </a:solidFill>
          <a:ln w="0">
            <a:noFill/>
          </a:ln>
        </p:spPr>
        <p:txBody>
          <a:bodyPr wrap="square" lIns="0" tIns="0" rIns="0" bIns="0" anchor="ctr"/>
          <a:lstStyle>
            <a:defPPr algn="ctr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Thông báo quyết định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7D8D3A84-D168-4023-A6D1-E65EC5AF2048}"/>
              </a:ext>
            </a:extLst>
          </p:cNvPr>
          <p:cNvCxnSpPr/>
          <p:nvPr/>
        </p:nvCxnSpPr>
        <p:spPr>
          <a:xfrm flipH="1">
            <a:off x="1428750" y="4895850"/>
            <a:ext cx="3111500" cy="0"/>
          </a:xfrm>
          <a:prstGeom prst="straightConnector1">
            <a:avLst/>
          </a:prstGeom>
          <a:ln w="16193">
            <a:solidFill>
              <a:srgbClr val="F5BA2D"/>
            </a:solidFill>
            <a:prstDash val="dash"/>
            <a:tailEnd type="triangle" w="med" len="med"/>
          </a:ln>
        </p:spPr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7D5814BE-2660-4E7E-A43A-72E812B27F2E}"/>
              </a:ext>
            </a:extLst>
          </p:cNvPr>
          <p:cNvSpPr>
            <a:spLocks noGrp="1"/>
          </p:cNvSpPr>
          <p:nvPr/>
        </p:nvSpPr>
        <p:spPr>
          <a:xfrm>
            <a:off x="533400" y="6248400"/>
            <a:ext cx="11049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/>
          <a:lstStyle>
            <a:defPPr algn="l">
              <a:defRPr sz="1350" b="0">
                <a:solidFill>
                  <a:srgbClr val="D7D7D7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350" b="0">
                <a:solidFill>
                  <a:srgbClr val="D7D7D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7D7D7"/>
                </a:solidFill>
                <a:latin typeface="Arial"/>
                <a:ea typeface="Arial"/>
                <a:cs typeface="Arial"/>
              </a:rPr>
              <a:t>Nội dung đang sửa chưa thay bản công khai. Sai phiên bản cần tải lại hồ sơ.</a:t>
            </a:r>
          </a:p>
        </p:txBody>
      </p:sp>
    </p:spTree>
    <p:extLst>
      <p:ext uri="{BB962C8B-B14F-4D97-AF65-F5344CB8AC3E}">
        <p14:creationId xmlns:p14="http://schemas.microsoft.com/office/powerpoint/2010/main" val="7766188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839C25E6-5B7C-4267-9EFB-BCFFC6D6BC92}"/>
              </a:ext>
            </a:extLst>
          </p:cNvPr>
          <p:cNvSpPr>
            <a:spLocks noGrp="1"/>
          </p:cNvSpPr>
          <p:nvPr/>
        </p:nvSpPr>
        <p:spPr>
          <a:xfrm>
            <a:off x="533400" y="285750"/>
            <a:ext cx="110490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/>
          <a:lstStyle>
            <a:defPPr algn="l">
              <a:defRPr sz="2850" b="1">
                <a:solidFill>
                  <a:srgbClr val="F5BA2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850" b="1">
                <a:solidFill>
                  <a:srgbClr val="F5BA2D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5BA2D"/>
                </a:solidFill>
                <a:latin typeface="Arial"/>
                <a:ea typeface="Arial"/>
                <a:cs typeface="Arial"/>
              </a:rPr>
              <a:t>ERD ĐẶT SÂN VÀ TÀI CHÍNH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94A058F-570B-4174-BDF8-EAA988C960B4}"/>
              </a:ext>
            </a:extLst>
          </p:cNvPr>
          <p:cNvSpPr>
            <a:spLocks noGrp="1"/>
          </p:cNvSpPr>
          <p:nvPr/>
        </p:nvSpPr>
        <p:spPr>
          <a:xfrm>
            <a:off x="533400" y="1381125"/>
            <a:ext cx="2762250" cy="1285875"/>
          </a:xfrm>
          <a:prstGeom prst="rect">
            <a:avLst/>
          </a:prstGeom>
          <a:solidFill>
            <a:srgbClr val="F5F5F5"/>
          </a:solidFill>
          <a:ln w="14288">
            <a:solidFill>
              <a:srgbClr val="F5BA2D"/>
            </a:solidFill>
          </a:ln>
        </p:spPr>
        <p:txBody>
          <a:bodyPr wrap="square" lIns="114300" tIns="114300" rIns="114300" bIns="114300" anchor="ctr"/>
          <a:lstStyle>
            <a:defPPr algn="l">
              <a:defRPr sz="1725">
                <a:solidFill>
                  <a:srgbClr val="292929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725">
                <a:solidFill>
                  <a:srgbClr val="292929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292929"/>
                </a:solidFill>
                <a:latin typeface="Arial"/>
                <a:ea typeface="Arial"/>
                <a:cs typeface="Arial"/>
              </a:rPr>
              <a:t>users</a:t>
            </a:r>
          </a:p>
          <a:p>
            <a:pPr algn="l">
              <a:defRPr sz="1725">
                <a:solidFill>
                  <a:srgbClr val="292929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292929"/>
                </a:solidFill>
                <a:latin typeface="Arial"/>
                <a:ea typeface="Arial"/>
                <a:cs typeface="Arial"/>
              </a:rPr>
              <a:t>PK id</a:t>
            </a:r>
          </a:p>
          <a:p>
            <a:pPr algn="l">
              <a:defRPr sz="1725">
                <a:solidFill>
                  <a:srgbClr val="292929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292929"/>
                </a:solidFill>
                <a:latin typeface="Arial"/>
                <a:ea typeface="Arial"/>
                <a:cs typeface="Arial"/>
              </a:rPr>
              <a:t>display_name, identifier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08D5776-390D-4B17-BBE6-98EFD5A3F658}"/>
              </a:ext>
            </a:extLst>
          </p:cNvPr>
          <p:cNvSpPr>
            <a:spLocks noGrp="1"/>
          </p:cNvSpPr>
          <p:nvPr/>
        </p:nvSpPr>
        <p:spPr>
          <a:xfrm>
            <a:off x="4714875" y="1381125"/>
            <a:ext cx="2762250" cy="1285875"/>
          </a:xfrm>
          <a:prstGeom prst="rect">
            <a:avLst/>
          </a:prstGeom>
          <a:solidFill>
            <a:srgbClr val="F5F5F5"/>
          </a:solidFill>
          <a:ln w="14288">
            <a:solidFill>
              <a:srgbClr val="F5BA2D"/>
            </a:solidFill>
          </a:ln>
        </p:spPr>
        <p:txBody>
          <a:bodyPr wrap="square" lIns="114300" tIns="114300" rIns="114300" bIns="114300" anchor="ctr"/>
          <a:lstStyle>
            <a:defPPr algn="l">
              <a:defRPr sz="1725">
                <a:solidFill>
                  <a:srgbClr val="292929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725">
                <a:solidFill>
                  <a:srgbClr val="292929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292929"/>
                </a:solidFill>
                <a:latin typeface="Arial"/>
                <a:ea typeface="Arial"/>
                <a:cs typeface="Arial"/>
              </a:rPr>
              <a:t>orders</a:t>
            </a:r>
          </a:p>
          <a:p>
            <a:pPr algn="l">
              <a:defRPr sz="1725">
                <a:solidFill>
                  <a:srgbClr val="292929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292929"/>
                </a:solidFill>
                <a:latin typeface="Arial"/>
                <a:ea typeface="Arial"/>
                <a:cs typeface="Arial"/>
              </a:rPr>
              <a:t>PK id, FK customer_id</a:t>
            </a:r>
          </a:p>
          <a:p>
            <a:pPr algn="l">
              <a:defRPr sz="1725">
                <a:solidFill>
                  <a:srgbClr val="292929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292929"/>
                </a:solidFill>
                <a:latin typeface="Arial"/>
                <a:ea typeface="Arial"/>
                <a:cs typeface="Arial"/>
              </a:rPr>
              <a:t>kind, amount_vnd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75AEF63-6E1E-460E-89E9-58B4964B4882}"/>
              </a:ext>
            </a:extLst>
          </p:cNvPr>
          <p:cNvSpPr>
            <a:spLocks noGrp="1"/>
          </p:cNvSpPr>
          <p:nvPr/>
        </p:nvSpPr>
        <p:spPr>
          <a:xfrm>
            <a:off x="8896350" y="1381125"/>
            <a:ext cx="2762250" cy="1285875"/>
          </a:xfrm>
          <a:prstGeom prst="rect">
            <a:avLst/>
          </a:prstGeom>
          <a:solidFill>
            <a:srgbClr val="F5F5F5"/>
          </a:solidFill>
          <a:ln w="14288">
            <a:solidFill>
              <a:srgbClr val="F5BA2D"/>
            </a:solidFill>
          </a:ln>
        </p:spPr>
        <p:txBody>
          <a:bodyPr wrap="square" lIns="114300" tIns="114300" rIns="114300" bIns="114300" anchor="ctr"/>
          <a:lstStyle>
            <a:defPPr algn="l">
              <a:defRPr sz="1725">
                <a:solidFill>
                  <a:srgbClr val="292929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725">
                <a:solidFill>
                  <a:srgbClr val="292929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292929"/>
                </a:solidFill>
                <a:latin typeface="Arial"/>
                <a:ea typeface="Arial"/>
                <a:cs typeface="Arial"/>
              </a:rPr>
              <a:t>bookings</a:t>
            </a:r>
          </a:p>
          <a:p>
            <a:pPr algn="l">
              <a:defRPr sz="1725">
                <a:solidFill>
                  <a:srgbClr val="292929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292929"/>
                </a:solidFill>
                <a:latin typeface="Arial"/>
                <a:ea typeface="Arial"/>
                <a:cs typeface="Arial"/>
              </a:rPr>
              <a:t>PK/FK order_id</a:t>
            </a:r>
          </a:p>
          <a:p>
            <a:pPr algn="l">
              <a:defRPr sz="1725">
                <a:solidFill>
                  <a:srgbClr val="292929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292929"/>
                </a:solidFill>
                <a:latin typeface="Arial"/>
                <a:ea typeface="Arial"/>
                <a:cs typeface="Arial"/>
              </a:rPr>
              <a:t>FK court_id, starts_at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4C1B340-190B-4831-B980-27AD70D76586}"/>
              </a:ext>
            </a:extLst>
          </p:cNvPr>
          <p:cNvSpPr>
            <a:spLocks noGrp="1"/>
          </p:cNvSpPr>
          <p:nvPr/>
        </p:nvSpPr>
        <p:spPr>
          <a:xfrm>
            <a:off x="533400" y="4238625"/>
            <a:ext cx="2762250" cy="1381125"/>
          </a:xfrm>
          <a:prstGeom prst="rect">
            <a:avLst/>
          </a:prstGeom>
          <a:solidFill>
            <a:srgbClr val="F5F5F5"/>
          </a:solidFill>
          <a:ln w="14288">
            <a:solidFill>
              <a:srgbClr val="F5BA2D"/>
            </a:solidFill>
          </a:ln>
        </p:spPr>
        <p:txBody>
          <a:bodyPr wrap="square" lIns="114300" tIns="114300" rIns="114300" bIns="114300" anchor="ctr"/>
          <a:lstStyle>
            <a:defPPr algn="l">
              <a:defRPr sz="1725">
                <a:solidFill>
                  <a:srgbClr val="292929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725">
                <a:solidFill>
                  <a:srgbClr val="292929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292929"/>
                </a:solidFill>
                <a:latin typeface="Arial"/>
                <a:ea typeface="Arial"/>
                <a:cs typeface="Arial"/>
              </a:rPr>
              <a:t>payments</a:t>
            </a:r>
          </a:p>
          <a:p>
            <a:pPr algn="l">
              <a:defRPr sz="1725">
                <a:solidFill>
                  <a:srgbClr val="292929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292929"/>
                </a:solidFill>
                <a:latin typeface="Arial"/>
                <a:ea typeface="Arial"/>
                <a:cs typeface="Arial"/>
              </a:rPr>
              <a:t>PK id, FK order_id UNIQUE</a:t>
            </a:r>
          </a:p>
          <a:p>
            <a:pPr algn="l">
              <a:defRPr sz="1725">
                <a:solidFill>
                  <a:srgbClr val="292929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292929"/>
                </a:solidFill>
                <a:latin typeface="Arial"/>
                <a:ea typeface="Arial"/>
                <a:cs typeface="Arial"/>
              </a:rPr>
              <a:t>state, deadline, proof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3FFFD50-0358-4CC4-9AE2-1D86A38C8C68}"/>
              </a:ext>
            </a:extLst>
          </p:cNvPr>
          <p:cNvSpPr>
            <a:spLocks noGrp="1"/>
          </p:cNvSpPr>
          <p:nvPr/>
        </p:nvSpPr>
        <p:spPr>
          <a:xfrm>
            <a:off x="4714875" y="4238625"/>
            <a:ext cx="2762250" cy="1381125"/>
          </a:xfrm>
          <a:prstGeom prst="rect">
            <a:avLst/>
          </a:prstGeom>
          <a:solidFill>
            <a:srgbClr val="F5F5F5"/>
          </a:solidFill>
          <a:ln w="14288">
            <a:solidFill>
              <a:srgbClr val="F5BA2D"/>
            </a:solidFill>
          </a:ln>
        </p:spPr>
        <p:txBody>
          <a:bodyPr wrap="square" lIns="114300" tIns="114300" rIns="114300" bIns="114300" anchor="ctr"/>
          <a:lstStyle>
            <a:defPPr algn="l">
              <a:defRPr sz="1575">
                <a:solidFill>
                  <a:srgbClr val="292929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75">
                <a:solidFill>
                  <a:srgbClr val="292929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292929"/>
                </a:solidFill>
                <a:latin typeface="Arial"/>
                <a:ea typeface="Arial"/>
                <a:cs typeface="Arial"/>
              </a:rPr>
              <a:t>cancellation_requests</a:t>
            </a:r>
          </a:p>
          <a:p>
            <a:pPr algn="l">
              <a:defRPr sz="1575">
                <a:solidFill>
                  <a:srgbClr val="292929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292929"/>
                </a:solidFill>
                <a:latin typeface="Arial"/>
                <a:ea typeface="Arial"/>
                <a:cs typeface="Arial"/>
              </a:rPr>
              <a:t>PK id, FK order_id</a:t>
            </a:r>
          </a:p>
          <a:p>
            <a:pPr algn="l">
              <a:defRPr sz="1575">
                <a:solidFill>
                  <a:srgbClr val="292929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292929"/>
                </a:solidFill>
                <a:latin typeface="Arial"/>
                <a:ea typeface="Arial"/>
                <a:cs typeface="Arial"/>
              </a:rPr>
              <a:t>state, reason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D4B4D10-8B93-4961-B2DE-64679F32CD99}"/>
              </a:ext>
            </a:extLst>
          </p:cNvPr>
          <p:cNvSpPr>
            <a:spLocks noGrp="1"/>
          </p:cNvSpPr>
          <p:nvPr/>
        </p:nvSpPr>
        <p:spPr>
          <a:xfrm>
            <a:off x="8896350" y="4238625"/>
            <a:ext cx="2762250" cy="1381125"/>
          </a:xfrm>
          <a:prstGeom prst="rect">
            <a:avLst/>
          </a:prstGeom>
          <a:solidFill>
            <a:srgbClr val="F5F5F5"/>
          </a:solidFill>
          <a:ln w="14288">
            <a:solidFill>
              <a:srgbClr val="F5BA2D"/>
            </a:solidFill>
          </a:ln>
        </p:spPr>
        <p:txBody>
          <a:bodyPr wrap="square" lIns="114300" tIns="114300" rIns="114300" bIns="114300" anchor="ctr"/>
          <a:lstStyle>
            <a:defPPr algn="l">
              <a:defRPr sz="1725">
                <a:solidFill>
                  <a:srgbClr val="292929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725">
                <a:solidFill>
                  <a:srgbClr val="292929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292929"/>
                </a:solidFill>
                <a:latin typeface="Arial"/>
                <a:ea typeface="Arial"/>
                <a:cs typeface="Arial"/>
              </a:rPr>
              <a:t>refunds</a:t>
            </a:r>
          </a:p>
          <a:p>
            <a:pPr algn="l">
              <a:defRPr sz="1725">
                <a:solidFill>
                  <a:srgbClr val="292929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292929"/>
                </a:solidFill>
                <a:latin typeface="Arial"/>
                <a:ea typeface="Arial"/>
                <a:cs typeface="Arial"/>
              </a:rPr>
              <a:t>PK id, FK cancellation_id</a:t>
            </a:r>
          </a:p>
          <a:p>
            <a:pPr algn="l">
              <a:defRPr sz="1725">
                <a:solidFill>
                  <a:srgbClr val="292929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292929"/>
                </a:solidFill>
                <a:latin typeface="Arial"/>
                <a:ea typeface="Arial"/>
                <a:cs typeface="Arial"/>
              </a:rPr>
              <a:t>state, amount_vnd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27CF752-C154-45E2-9DFF-0FDBFB47F16D}"/>
              </a:ext>
            </a:extLst>
          </p:cNvPr>
          <p:cNvCxnSpPr/>
          <p:nvPr/>
        </p:nvCxnSpPr>
        <p:spPr>
          <a:xfrm>
            <a:off x="3295650" y="2019300"/>
            <a:ext cx="1419225" cy="0"/>
          </a:xfrm>
          <a:prstGeom prst="straightConnector1">
            <a:avLst/>
          </a:prstGeom>
          <a:ln w="16193">
            <a:solidFill>
              <a:srgbClr val="D7D7D7"/>
            </a:solidFill>
            <a:prstDash val="solid"/>
            <a:tailEnd type="none" w="med" len="med"/>
          </a:ln>
        </p:spPr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654D3CF4-CF2C-4765-9BD9-1FAD3DD4ADCB}"/>
              </a:ext>
            </a:extLst>
          </p:cNvPr>
          <p:cNvSpPr>
            <a:spLocks noGrp="1"/>
          </p:cNvSpPr>
          <p:nvPr/>
        </p:nvSpPr>
        <p:spPr>
          <a:xfrm>
            <a:off x="3429000" y="1666875"/>
            <a:ext cx="11430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/>
          <a:lstStyle>
            <a:defPPr algn="ctr">
              <a:defRPr sz="1425" b="0">
                <a:solidFill>
                  <a:srgbClr val="F5BA2D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425" b="0">
                <a:solidFill>
                  <a:srgbClr val="F5BA2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5BA2D"/>
                </a:solidFill>
                <a:latin typeface="Arial"/>
                <a:ea typeface="Arial"/>
                <a:cs typeface="Arial"/>
              </a:rPr>
              <a:t>1 : N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AEA7F3E-A3B3-429C-B9E2-ED6BDDCE9A43}"/>
              </a:ext>
            </a:extLst>
          </p:cNvPr>
          <p:cNvCxnSpPr/>
          <p:nvPr/>
        </p:nvCxnSpPr>
        <p:spPr>
          <a:xfrm>
            <a:off x="7477125" y="2019300"/>
            <a:ext cx="1419225" cy="0"/>
          </a:xfrm>
          <a:prstGeom prst="straightConnector1">
            <a:avLst/>
          </a:prstGeom>
          <a:ln w="16193">
            <a:solidFill>
              <a:srgbClr val="D7D7D7"/>
            </a:solidFill>
            <a:prstDash val="solid"/>
            <a:tailEnd type="none" w="med" len="med"/>
          </a:ln>
        </p:spPr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5F9872DB-A3F0-46F4-A37A-08303C8171B9}"/>
              </a:ext>
            </a:extLst>
          </p:cNvPr>
          <p:cNvSpPr>
            <a:spLocks noGrp="1"/>
          </p:cNvSpPr>
          <p:nvPr/>
        </p:nvSpPr>
        <p:spPr>
          <a:xfrm>
            <a:off x="7524750" y="1666875"/>
            <a:ext cx="13335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/>
          <a:lstStyle>
            <a:defPPr algn="ctr">
              <a:defRPr sz="1425" b="0">
                <a:solidFill>
                  <a:srgbClr val="F5BA2D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425" b="0">
                <a:solidFill>
                  <a:srgbClr val="F5BA2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5BA2D"/>
                </a:solidFill>
                <a:latin typeface="Arial"/>
                <a:ea typeface="Arial"/>
                <a:cs typeface="Arial"/>
              </a:rPr>
              <a:t>1 : 0..1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1EF0FCA-8A57-4E70-8E59-D106D10D74C1}"/>
              </a:ext>
            </a:extLst>
          </p:cNvPr>
          <p:cNvCxnSpPr/>
          <p:nvPr/>
        </p:nvCxnSpPr>
        <p:spPr>
          <a:xfrm>
            <a:off x="6096000" y="2667000"/>
            <a:ext cx="0" cy="590550"/>
          </a:xfrm>
          <a:prstGeom prst="straightConnector1">
            <a:avLst/>
          </a:prstGeom>
          <a:ln w="16193">
            <a:solidFill>
              <a:srgbClr val="D7D7D7"/>
            </a:solidFill>
            <a:prstDash val="solid"/>
            <a:tailEnd type="none" w="med" len="med"/>
          </a:ln>
        </p:spPr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75F7117-A850-4053-880C-545E486D1267}"/>
              </a:ext>
            </a:extLst>
          </p:cNvPr>
          <p:cNvCxnSpPr/>
          <p:nvPr/>
        </p:nvCxnSpPr>
        <p:spPr>
          <a:xfrm flipH="1">
            <a:off x="1914525" y="3257550"/>
            <a:ext cx="4181475" cy="0"/>
          </a:xfrm>
          <a:prstGeom prst="straightConnector1">
            <a:avLst/>
          </a:prstGeom>
          <a:ln w="16193">
            <a:solidFill>
              <a:srgbClr val="D7D7D7"/>
            </a:solidFill>
            <a:prstDash val="solid"/>
            <a:tailEnd type="none" w="med" len="med"/>
          </a:ln>
        </p:spPr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89E3F58-0BC5-497E-9A5A-4D707C18B644}"/>
              </a:ext>
            </a:extLst>
          </p:cNvPr>
          <p:cNvCxnSpPr/>
          <p:nvPr/>
        </p:nvCxnSpPr>
        <p:spPr>
          <a:xfrm>
            <a:off x="1914525" y="3257550"/>
            <a:ext cx="0" cy="981075"/>
          </a:xfrm>
          <a:prstGeom prst="straightConnector1">
            <a:avLst/>
          </a:prstGeom>
          <a:ln w="16193">
            <a:solidFill>
              <a:srgbClr val="D7D7D7"/>
            </a:solidFill>
            <a:prstDash val="solid"/>
            <a:tailEnd type="none" w="med" len="med"/>
          </a:ln>
        </p:spPr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F8BB4E28-A00F-47B1-9757-572478203959}"/>
              </a:ext>
            </a:extLst>
          </p:cNvPr>
          <p:cNvSpPr>
            <a:spLocks noGrp="1"/>
          </p:cNvSpPr>
          <p:nvPr/>
        </p:nvSpPr>
        <p:spPr>
          <a:xfrm>
            <a:off x="2238375" y="2952750"/>
            <a:ext cx="16192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/>
          <a:lstStyle>
            <a:defPPr algn="l">
              <a:defRPr sz="1425" b="0">
                <a:solidFill>
                  <a:srgbClr val="F5BA2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425" b="0">
                <a:solidFill>
                  <a:srgbClr val="F5BA2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5BA2D"/>
                </a:solidFill>
                <a:latin typeface="Arial"/>
                <a:ea typeface="Arial"/>
                <a:cs typeface="Arial"/>
              </a:rPr>
              <a:t>1 : 0..1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8B4689CF-EB04-41F7-B440-F9B4C05ACA34}"/>
              </a:ext>
            </a:extLst>
          </p:cNvPr>
          <p:cNvCxnSpPr/>
          <p:nvPr/>
        </p:nvCxnSpPr>
        <p:spPr>
          <a:xfrm>
            <a:off x="6096000" y="3257550"/>
            <a:ext cx="0" cy="981075"/>
          </a:xfrm>
          <a:prstGeom prst="straightConnector1">
            <a:avLst/>
          </a:prstGeom>
          <a:ln w="16193">
            <a:solidFill>
              <a:srgbClr val="D7D7D7"/>
            </a:solidFill>
            <a:prstDash val="solid"/>
            <a:tailEnd type="none" w="med" len="med"/>
          </a:ln>
        </p:spPr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C4F39497-7AB5-4A72-BDE9-A1EC71577ECC}"/>
              </a:ext>
            </a:extLst>
          </p:cNvPr>
          <p:cNvSpPr>
            <a:spLocks noGrp="1"/>
          </p:cNvSpPr>
          <p:nvPr/>
        </p:nvSpPr>
        <p:spPr>
          <a:xfrm>
            <a:off x="6229350" y="3609975"/>
            <a:ext cx="1047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/>
          <a:lstStyle>
            <a:defPPr algn="l">
              <a:defRPr sz="1425" b="0">
                <a:solidFill>
                  <a:srgbClr val="F5BA2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425" b="0">
                <a:solidFill>
                  <a:srgbClr val="F5BA2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5BA2D"/>
                </a:solidFill>
                <a:latin typeface="Arial"/>
                <a:ea typeface="Arial"/>
                <a:cs typeface="Arial"/>
              </a:rPr>
              <a:t>1 : N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5456E71-0FC7-47F4-9CBE-B705306C0260}"/>
              </a:ext>
            </a:extLst>
          </p:cNvPr>
          <p:cNvCxnSpPr/>
          <p:nvPr/>
        </p:nvCxnSpPr>
        <p:spPr>
          <a:xfrm>
            <a:off x="7477125" y="4933950"/>
            <a:ext cx="1419225" cy="0"/>
          </a:xfrm>
          <a:prstGeom prst="straightConnector1">
            <a:avLst/>
          </a:prstGeom>
          <a:ln w="16193">
            <a:solidFill>
              <a:srgbClr val="D7D7D7"/>
            </a:solidFill>
            <a:prstDash val="solid"/>
            <a:tailEnd type="none" w="med" len="med"/>
          </a:ln>
        </p:spPr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8627E504-2C2C-4220-88F9-03135D9642F9}"/>
              </a:ext>
            </a:extLst>
          </p:cNvPr>
          <p:cNvSpPr>
            <a:spLocks noGrp="1"/>
          </p:cNvSpPr>
          <p:nvPr/>
        </p:nvSpPr>
        <p:spPr>
          <a:xfrm>
            <a:off x="7505700" y="4552950"/>
            <a:ext cx="138112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/>
          <a:lstStyle>
            <a:defPPr algn="ctr">
              <a:defRPr sz="1425" b="0">
                <a:solidFill>
                  <a:srgbClr val="F5BA2D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425" b="0">
                <a:solidFill>
                  <a:srgbClr val="F5BA2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5BA2D"/>
                </a:solidFill>
                <a:latin typeface="Arial"/>
                <a:ea typeface="Arial"/>
                <a:cs typeface="Arial"/>
              </a:rPr>
              <a:t>1 : 0..1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8BF77D7-5687-477F-9835-2B763F9EACA1}"/>
              </a:ext>
            </a:extLst>
          </p:cNvPr>
          <p:cNvSpPr>
            <a:spLocks noGrp="1"/>
          </p:cNvSpPr>
          <p:nvPr/>
        </p:nvSpPr>
        <p:spPr>
          <a:xfrm>
            <a:off x="533400" y="6248400"/>
            <a:ext cx="11049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/>
          <a:lstStyle>
            <a:defPPr algn="l">
              <a:defRPr sz="1350" b="0">
                <a:solidFill>
                  <a:srgbClr val="D7D7D7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350" b="0">
                <a:solidFill>
                  <a:srgbClr val="D7D7D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7D7D7"/>
                </a:solidFill>
                <a:latin typeface="Arial"/>
                <a:ea typeface="Arial"/>
                <a:cs typeface="Arial"/>
              </a:rPr>
              <a:t>Thiết kế DB đề xuất. Phiên bản hiện tại lưu JSON, chưa kết nối các bảng SQL.</a:t>
            </a:r>
          </a:p>
        </p:txBody>
      </p:sp>
    </p:spTree>
    <p:extLst>
      <p:ext uri="{BB962C8B-B14F-4D97-AF65-F5344CB8AC3E}">
        <p14:creationId xmlns:p14="http://schemas.microsoft.com/office/powerpoint/2010/main" val="15254084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338467B9-3201-478C-A001-48F0402047A5}"/>
              </a:ext>
            </a:extLst>
          </p:cNvPr>
          <p:cNvSpPr>
            <a:spLocks noGrp="1"/>
          </p:cNvSpPr>
          <p:nvPr/>
        </p:nvSpPr>
        <p:spPr>
          <a:xfrm>
            <a:off x="533400" y="285750"/>
            <a:ext cx="110490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/>
          <a:lstStyle>
            <a:defPPr algn="l">
              <a:defRPr sz="2850" b="1">
                <a:solidFill>
                  <a:srgbClr val="F5BA2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850" b="1">
                <a:solidFill>
                  <a:srgbClr val="F5BA2D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5BA2D"/>
                </a:solidFill>
                <a:latin typeface="Arial"/>
                <a:ea typeface="Arial"/>
                <a:cs typeface="Arial"/>
              </a:rPr>
              <a:t>ERD HOẠT ĐỘNG VÀ VÉ THAM GIA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B7CB7E4-71FE-4B1D-9D7C-44C9B126938A}"/>
              </a:ext>
            </a:extLst>
          </p:cNvPr>
          <p:cNvSpPr>
            <a:spLocks noGrp="1"/>
          </p:cNvSpPr>
          <p:nvPr/>
        </p:nvSpPr>
        <p:spPr>
          <a:xfrm>
            <a:off x="533400" y="1524000"/>
            <a:ext cx="2762250" cy="1428750"/>
          </a:xfrm>
          <a:prstGeom prst="rect">
            <a:avLst/>
          </a:prstGeom>
          <a:solidFill>
            <a:srgbClr val="F5F5F5"/>
          </a:solidFill>
          <a:ln w="14288">
            <a:solidFill>
              <a:srgbClr val="F5BA2D"/>
            </a:solidFill>
          </a:ln>
        </p:spPr>
        <p:txBody>
          <a:bodyPr wrap="square" lIns="114300" tIns="114300" rIns="114300" bIns="114300" anchor="ctr"/>
          <a:lstStyle>
            <a:defPPr algn="l">
              <a:defRPr sz="1575">
                <a:solidFill>
                  <a:srgbClr val="292929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75">
                <a:solidFill>
                  <a:srgbClr val="292929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292929"/>
                </a:solidFill>
                <a:latin typeface="Arial"/>
                <a:ea typeface="Arial"/>
                <a:cs typeface="Arial"/>
              </a:rPr>
              <a:t>events</a:t>
            </a:r>
          </a:p>
          <a:p>
            <a:pPr algn="l">
              <a:defRPr sz="1575">
                <a:solidFill>
                  <a:srgbClr val="292929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292929"/>
                </a:solidFill>
                <a:latin typeface="Arial"/>
                <a:ea typeface="Arial"/>
                <a:cs typeface="Arial"/>
              </a:rPr>
              <a:t>PK id</a:t>
            </a:r>
          </a:p>
          <a:p>
            <a:pPr algn="l">
              <a:defRPr sz="1575">
                <a:solidFill>
                  <a:srgbClr val="292929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292929"/>
                </a:solidFill>
                <a:latin typeface="Arial"/>
                <a:ea typeface="Arial"/>
                <a:cs typeface="Arial"/>
              </a:rPr>
              <a:t>kind, title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83BB6AD-0F9F-4308-9571-B805608DDAEA}"/>
              </a:ext>
            </a:extLst>
          </p:cNvPr>
          <p:cNvSpPr>
            <a:spLocks noGrp="1"/>
          </p:cNvSpPr>
          <p:nvPr/>
        </p:nvSpPr>
        <p:spPr>
          <a:xfrm>
            <a:off x="4705350" y="1524000"/>
            <a:ext cx="2762250" cy="1428750"/>
          </a:xfrm>
          <a:prstGeom prst="rect">
            <a:avLst/>
          </a:prstGeom>
          <a:solidFill>
            <a:srgbClr val="F5F5F5"/>
          </a:solidFill>
          <a:ln w="14288">
            <a:solidFill>
              <a:srgbClr val="F5BA2D"/>
            </a:solidFill>
          </a:ln>
        </p:spPr>
        <p:txBody>
          <a:bodyPr wrap="square" lIns="114300" tIns="114300" rIns="114300" bIns="114300" anchor="ctr"/>
          <a:lstStyle>
            <a:defPPr algn="l">
              <a:defRPr sz="1575">
                <a:solidFill>
                  <a:srgbClr val="292929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75">
                <a:solidFill>
                  <a:srgbClr val="292929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292929"/>
                </a:solidFill>
                <a:latin typeface="Arial"/>
                <a:ea typeface="Arial"/>
                <a:cs typeface="Arial"/>
              </a:rPr>
              <a:t>event_occurrences</a:t>
            </a:r>
          </a:p>
          <a:p>
            <a:pPr algn="l">
              <a:defRPr sz="1575">
                <a:solidFill>
                  <a:srgbClr val="292929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292929"/>
                </a:solidFill>
                <a:latin typeface="Arial"/>
                <a:ea typeface="Arial"/>
                <a:cs typeface="Arial"/>
              </a:rPr>
              <a:t>PK id, FK event_id</a:t>
            </a:r>
          </a:p>
          <a:p>
            <a:pPr algn="l">
              <a:defRPr sz="1575">
                <a:solidFill>
                  <a:srgbClr val="292929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292929"/>
                </a:solidFill>
                <a:latin typeface="Arial"/>
                <a:ea typeface="Arial"/>
                <a:cs typeface="Arial"/>
              </a:rPr>
              <a:t>starts_at, capacity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B6C92CB-D54C-4320-B9A6-3F2BB29381B8}"/>
              </a:ext>
            </a:extLst>
          </p:cNvPr>
          <p:cNvSpPr>
            <a:spLocks noGrp="1"/>
          </p:cNvSpPr>
          <p:nvPr/>
        </p:nvSpPr>
        <p:spPr>
          <a:xfrm>
            <a:off x="8877300" y="1524000"/>
            <a:ext cx="2762250" cy="1428750"/>
          </a:xfrm>
          <a:prstGeom prst="rect">
            <a:avLst/>
          </a:prstGeom>
          <a:solidFill>
            <a:srgbClr val="F5F5F5"/>
          </a:solidFill>
          <a:ln w="14288">
            <a:solidFill>
              <a:srgbClr val="F5BA2D"/>
            </a:solidFill>
          </a:ln>
        </p:spPr>
        <p:txBody>
          <a:bodyPr wrap="square" lIns="114300" tIns="114300" rIns="114300" bIns="114300" anchor="ctr"/>
          <a:lstStyle>
            <a:defPPr algn="l">
              <a:defRPr sz="1575">
                <a:solidFill>
                  <a:srgbClr val="292929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75">
                <a:solidFill>
                  <a:srgbClr val="292929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292929"/>
                </a:solidFill>
                <a:latin typeface="Arial"/>
                <a:ea typeface="Arial"/>
                <a:cs typeface="Arial"/>
              </a:rPr>
              <a:t>registrations</a:t>
            </a:r>
          </a:p>
          <a:p>
            <a:pPr algn="l">
              <a:defRPr sz="1575">
                <a:solidFill>
                  <a:srgbClr val="292929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292929"/>
                </a:solidFill>
                <a:latin typeface="Arial"/>
                <a:ea typeface="Arial"/>
                <a:cs typeface="Arial"/>
              </a:rPr>
              <a:t>PK/FK order_id</a:t>
            </a:r>
          </a:p>
          <a:p>
            <a:pPr algn="l">
              <a:defRPr sz="1575">
                <a:solidFill>
                  <a:srgbClr val="292929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292929"/>
                </a:solidFill>
                <a:latin typeface="Arial"/>
                <a:ea typeface="Arial"/>
                <a:cs typeface="Arial"/>
              </a:rPr>
              <a:t>FK occurrence_id, quantity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C29C304D-74F8-4A1D-BF59-50D8B4FF2E5D}"/>
              </a:ext>
            </a:extLst>
          </p:cNvPr>
          <p:cNvCxnSpPr/>
          <p:nvPr/>
        </p:nvCxnSpPr>
        <p:spPr>
          <a:xfrm>
            <a:off x="3295650" y="2238375"/>
            <a:ext cx="1409700" cy="0"/>
          </a:xfrm>
          <a:prstGeom prst="straightConnector1">
            <a:avLst/>
          </a:prstGeom>
          <a:ln w="16193">
            <a:solidFill>
              <a:srgbClr val="D7D7D7"/>
            </a:solidFill>
            <a:prstDash val="solid"/>
            <a:tailEnd type="none" w="med" len="med"/>
          </a:ln>
        </p:spPr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3978C2D2-CA27-4E74-8800-25AE23DE3DEF}"/>
              </a:ext>
            </a:extLst>
          </p:cNvPr>
          <p:cNvSpPr>
            <a:spLocks noGrp="1"/>
          </p:cNvSpPr>
          <p:nvPr/>
        </p:nvSpPr>
        <p:spPr>
          <a:xfrm>
            <a:off x="3429000" y="1876425"/>
            <a:ext cx="1143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/>
          <a:lstStyle>
            <a:defPPr algn="ctr">
              <a:defRPr sz="1500" b="0">
                <a:solidFill>
                  <a:srgbClr val="F5BA2D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500" b="0">
                <a:solidFill>
                  <a:srgbClr val="F5BA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5BA2D"/>
                </a:solidFill>
                <a:latin typeface="Arial"/>
                <a:ea typeface="Arial"/>
                <a:cs typeface="Arial"/>
              </a:rPr>
              <a:t>1 : N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773EF4D-D357-4DFE-A7B8-5DC9A4FCE6AA}"/>
              </a:ext>
            </a:extLst>
          </p:cNvPr>
          <p:cNvCxnSpPr/>
          <p:nvPr/>
        </p:nvCxnSpPr>
        <p:spPr>
          <a:xfrm>
            <a:off x="7467600" y="2238375"/>
            <a:ext cx="1409700" cy="0"/>
          </a:xfrm>
          <a:prstGeom prst="straightConnector1">
            <a:avLst/>
          </a:prstGeom>
          <a:ln w="16193">
            <a:solidFill>
              <a:srgbClr val="D7D7D7"/>
            </a:solidFill>
            <a:prstDash val="solid"/>
            <a:tailEnd type="none" w="med" len="med"/>
          </a:ln>
        </p:spPr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92ABBE3A-6662-48D0-A925-A1C11E7504B9}"/>
              </a:ext>
            </a:extLst>
          </p:cNvPr>
          <p:cNvSpPr>
            <a:spLocks noGrp="1"/>
          </p:cNvSpPr>
          <p:nvPr/>
        </p:nvSpPr>
        <p:spPr>
          <a:xfrm>
            <a:off x="7620000" y="1876425"/>
            <a:ext cx="1143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/>
          <a:lstStyle>
            <a:defPPr algn="ctr">
              <a:defRPr sz="1500" b="0">
                <a:solidFill>
                  <a:srgbClr val="F5BA2D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500" b="0">
                <a:solidFill>
                  <a:srgbClr val="F5BA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5BA2D"/>
                </a:solidFill>
                <a:latin typeface="Arial"/>
                <a:ea typeface="Arial"/>
                <a:cs typeface="Arial"/>
              </a:rPr>
              <a:t>1 : 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E6915D0-AF10-45C6-8417-D5B0A97E1B33}"/>
              </a:ext>
            </a:extLst>
          </p:cNvPr>
          <p:cNvSpPr>
            <a:spLocks noGrp="1"/>
          </p:cNvSpPr>
          <p:nvPr/>
        </p:nvSpPr>
        <p:spPr>
          <a:xfrm>
            <a:off x="8877300" y="4238625"/>
            <a:ext cx="2762250" cy="1381125"/>
          </a:xfrm>
          <a:prstGeom prst="rect">
            <a:avLst/>
          </a:prstGeom>
          <a:solidFill>
            <a:srgbClr val="F5F5F5"/>
          </a:solidFill>
          <a:ln w="14288">
            <a:solidFill>
              <a:srgbClr val="F5BA2D"/>
            </a:solidFill>
          </a:ln>
        </p:spPr>
        <p:txBody>
          <a:bodyPr wrap="square" lIns="114300" tIns="114300" rIns="114300" bIns="114300" anchor="ctr"/>
          <a:lstStyle>
            <a:defPPr algn="l">
              <a:defRPr sz="1575">
                <a:solidFill>
                  <a:srgbClr val="292929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75">
                <a:solidFill>
                  <a:srgbClr val="292929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292929"/>
                </a:solidFill>
                <a:latin typeface="Arial"/>
                <a:ea typeface="Arial"/>
                <a:cs typeface="Arial"/>
              </a:rPr>
              <a:t>orders</a:t>
            </a:r>
          </a:p>
          <a:p>
            <a:pPr algn="l">
              <a:defRPr sz="1575">
                <a:solidFill>
                  <a:srgbClr val="292929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292929"/>
                </a:solidFill>
                <a:latin typeface="Arial"/>
                <a:ea typeface="Arial"/>
                <a:cs typeface="Arial"/>
              </a:rPr>
              <a:t>PK id, FK customer_id</a:t>
            </a:r>
          </a:p>
          <a:p>
            <a:pPr algn="l">
              <a:defRPr sz="1575">
                <a:solidFill>
                  <a:srgbClr val="292929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292929"/>
                </a:solidFill>
                <a:latin typeface="Arial"/>
                <a:ea typeface="Arial"/>
                <a:cs typeface="Arial"/>
              </a:rPr>
              <a:t>kind = registration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49926C6-A34D-4321-82C0-43A6681C45F3}"/>
              </a:ext>
            </a:extLst>
          </p:cNvPr>
          <p:cNvCxnSpPr/>
          <p:nvPr/>
        </p:nvCxnSpPr>
        <p:spPr>
          <a:xfrm>
            <a:off x="10258425" y="2952750"/>
            <a:ext cx="0" cy="1285875"/>
          </a:xfrm>
          <a:prstGeom prst="straightConnector1">
            <a:avLst/>
          </a:prstGeom>
          <a:ln w="16193">
            <a:solidFill>
              <a:srgbClr val="D7D7D7"/>
            </a:solidFill>
            <a:prstDash val="solid"/>
            <a:tailEnd type="none" w="med" len="med"/>
          </a:ln>
        </p:spPr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A19F93CD-E887-4251-9B73-D762D061DB74}"/>
              </a:ext>
            </a:extLst>
          </p:cNvPr>
          <p:cNvSpPr>
            <a:spLocks noGrp="1"/>
          </p:cNvSpPr>
          <p:nvPr/>
        </p:nvSpPr>
        <p:spPr>
          <a:xfrm>
            <a:off x="10429875" y="3448050"/>
            <a:ext cx="100012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/>
          <a:lstStyle>
            <a:defPPr algn="l">
              <a:defRPr sz="1500" b="0">
                <a:solidFill>
                  <a:srgbClr val="F5BA2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0">
                <a:solidFill>
                  <a:srgbClr val="F5BA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5BA2D"/>
                </a:solidFill>
                <a:latin typeface="Arial"/>
                <a:ea typeface="Arial"/>
                <a:cs typeface="Arial"/>
              </a:rPr>
              <a:t>1 : 1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DCE6BEF-9F2D-4C21-8041-FF693602821C}"/>
              </a:ext>
            </a:extLst>
          </p:cNvPr>
          <p:cNvSpPr>
            <a:spLocks noGrp="1"/>
          </p:cNvSpPr>
          <p:nvPr/>
        </p:nvSpPr>
        <p:spPr>
          <a:xfrm>
            <a:off x="533400" y="3886200"/>
            <a:ext cx="7429500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/>
          <a:lstStyle>
            <a:defPPr algn="l"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Vé liên kết đúng buổi, người mua và đơn thanh toán.</a:t>
            </a:r>
          </a:p>
          <a:p>
            <a:pPr algn="l"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Giữ chỗ và trả chỗ cần giao dịch nguyên tử khi có backend.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DCEFF04-3644-4F4C-BDAA-7AB9F41DE2AD}"/>
              </a:ext>
            </a:extLst>
          </p:cNvPr>
          <p:cNvSpPr>
            <a:spLocks noGrp="1"/>
          </p:cNvSpPr>
          <p:nvPr/>
        </p:nvSpPr>
        <p:spPr>
          <a:xfrm>
            <a:off x="533400" y="6248400"/>
            <a:ext cx="11049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/>
          <a:lstStyle>
            <a:defPPr algn="l">
              <a:defRPr sz="1350" b="0">
                <a:solidFill>
                  <a:srgbClr val="D7D7D7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350" b="0">
                <a:solidFill>
                  <a:srgbClr val="D7D7D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7D7D7"/>
                </a:solidFill>
                <a:latin typeface="Arial"/>
                <a:ea typeface="Arial"/>
                <a:cs typeface="Arial"/>
              </a:rPr>
              <a:t>Social mới có thêm ghi chú, nguồn checkout và ưu đãi snapshot cần đưa vào migration DB.</a:t>
            </a:r>
          </a:p>
        </p:txBody>
      </p:sp>
    </p:spTree>
    <p:extLst>
      <p:ext uri="{BB962C8B-B14F-4D97-AF65-F5344CB8AC3E}">
        <p14:creationId xmlns:p14="http://schemas.microsoft.com/office/powerpoint/2010/main" val="10190624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52E14440-90C4-4034-B39E-482FC45730B3}"/>
              </a:ext>
            </a:extLst>
          </p:cNvPr>
          <p:cNvSpPr>
            <a:spLocks noGrp="1"/>
          </p:cNvSpPr>
          <p:nvPr/>
        </p:nvSpPr>
        <p:spPr>
          <a:xfrm>
            <a:off x="533400" y="285750"/>
            <a:ext cx="110490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/>
          <a:lstStyle>
            <a:defPPr algn="l">
              <a:defRPr sz="2850" b="1">
                <a:solidFill>
                  <a:srgbClr val="F5BA2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850" b="1">
                <a:solidFill>
                  <a:srgbClr val="F5BA2D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5BA2D"/>
                </a:solidFill>
                <a:latin typeface="Arial"/>
                <a:ea typeface="Arial"/>
                <a:cs typeface="Arial"/>
              </a:rPr>
              <a:t>CLASS DIAGRAM MÃ NGUỒN HIỆN TẠI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BFB7C20-DB07-48A5-8B38-066C0FD24AE1}"/>
              </a:ext>
            </a:extLst>
          </p:cNvPr>
          <p:cNvSpPr>
            <a:spLocks noGrp="1"/>
          </p:cNvSpPr>
          <p:nvPr/>
        </p:nvSpPr>
        <p:spPr>
          <a:xfrm>
            <a:off x="533400" y="1333500"/>
            <a:ext cx="3333750" cy="1571625"/>
          </a:xfrm>
          <a:prstGeom prst="rect">
            <a:avLst/>
          </a:prstGeom>
          <a:solidFill>
            <a:srgbClr val="F5F5F5"/>
          </a:solidFill>
          <a:ln w="14288">
            <a:solidFill>
              <a:srgbClr val="F5BA2D"/>
            </a:solidFill>
          </a:ln>
        </p:spPr>
        <p:txBody>
          <a:bodyPr wrap="square" lIns="114300" tIns="114300" rIns="114300" bIns="114300" anchor="ctr"/>
          <a:lstStyle>
            <a:defPPr algn="l">
              <a:defRPr sz="1725">
                <a:solidFill>
                  <a:srgbClr val="292929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725">
                <a:solidFill>
                  <a:srgbClr val="292929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292929"/>
                </a:solidFill>
                <a:latin typeface="Arial"/>
                <a:ea typeface="Arial"/>
                <a:cs typeface="Arial"/>
              </a:rPr>
              <a:t>DemoSession</a:t>
            </a:r>
          </a:p>
          <a:p>
            <a:pPr algn="l">
              <a:defRPr sz="1725">
                <a:solidFill>
                  <a:srgbClr val="292929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292929"/>
                </a:solidFill>
                <a:latin typeface="Arial"/>
                <a:ea typeface="Arial"/>
                <a:cs typeface="Arial"/>
              </a:rPr>
              <a:t>user, participations</a:t>
            </a:r>
          </a:p>
          <a:p>
            <a:pPr algn="l">
              <a:defRPr sz="1725">
                <a:solidFill>
                  <a:srgbClr val="292929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292929"/>
                </a:solidFill>
                <a:latin typeface="Arial"/>
                <a:ea typeface="Arial"/>
                <a:cs typeface="Arial"/>
              </a:rPr>
              <a:t>joinEvent(), workflowPayment()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749AB68-109C-4641-85D6-1A0F67D709FF}"/>
              </a:ext>
            </a:extLst>
          </p:cNvPr>
          <p:cNvSpPr>
            <a:spLocks noGrp="1"/>
          </p:cNvSpPr>
          <p:nvPr/>
        </p:nvSpPr>
        <p:spPr>
          <a:xfrm>
            <a:off x="7858125" y="1333500"/>
            <a:ext cx="3762375" cy="1571625"/>
          </a:xfrm>
          <a:prstGeom prst="rect">
            <a:avLst/>
          </a:prstGeom>
          <a:solidFill>
            <a:srgbClr val="F5F5F5"/>
          </a:solidFill>
          <a:ln w="14288">
            <a:solidFill>
              <a:srgbClr val="F5BA2D"/>
            </a:solidFill>
          </a:ln>
        </p:spPr>
        <p:txBody>
          <a:bodyPr wrap="square" lIns="114300" tIns="114300" rIns="114300" bIns="114300" anchor="ctr"/>
          <a:lstStyle>
            <a:defPPr algn="l">
              <a:defRPr sz="1725">
                <a:solidFill>
                  <a:srgbClr val="292929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725">
                <a:solidFill>
                  <a:srgbClr val="292929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292929"/>
                </a:solidFill>
                <a:latin typeface="Arial"/>
                <a:ea typeface="Arial"/>
                <a:cs typeface="Arial"/>
              </a:rPr>
              <a:t>SessionStore</a:t>
            </a:r>
          </a:p>
          <a:p>
            <a:pPr algn="l">
              <a:defRPr sz="1725">
                <a:solidFill>
                  <a:srgbClr val="292929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292929"/>
                </a:solidFill>
                <a:latin typeface="Arial"/>
                <a:ea typeface="Arial"/>
                <a:cs typeface="Arial"/>
              </a:rPr>
              <a:t>read(): Future&lt;String?&gt;</a:t>
            </a:r>
          </a:p>
          <a:p>
            <a:pPr algn="l">
              <a:defRPr sz="1725">
                <a:solidFill>
                  <a:srgbClr val="292929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292929"/>
                </a:solidFill>
                <a:latin typeface="Arial"/>
                <a:ea typeface="Arial"/>
                <a:cs typeface="Arial"/>
              </a:rPr>
              <a:t>write(value): Future&lt;void&gt;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22B5100B-2FD4-4609-8350-A239D8D12BEB}"/>
              </a:ext>
            </a:extLst>
          </p:cNvPr>
          <p:cNvCxnSpPr/>
          <p:nvPr/>
        </p:nvCxnSpPr>
        <p:spPr>
          <a:xfrm>
            <a:off x="3867150" y="2114550"/>
            <a:ext cx="3990975" cy="0"/>
          </a:xfrm>
          <a:prstGeom prst="straightConnector1">
            <a:avLst/>
          </a:prstGeom>
          <a:ln w="16193">
            <a:solidFill>
              <a:srgbClr val="D7D7D7"/>
            </a:solidFill>
            <a:prstDash val="dash"/>
            <a:tailEnd type="triangle" w="med" len="med"/>
          </a:ln>
        </p:spPr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1E883A0B-05A5-47CC-AD5B-8168FFF0571B}"/>
              </a:ext>
            </a:extLst>
          </p:cNvPr>
          <p:cNvSpPr>
            <a:spLocks noGrp="1"/>
          </p:cNvSpPr>
          <p:nvPr/>
        </p:nvSpPr>
        <p:spPr>
          <a:xfrm>
            <a:off x="5048250" y="1714500"/>
            <a:ext cx="1714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/>
          <a:lstStyle>
            <a:defPPr algn="ctr">
              <a:defRPr sz="1650" b="0">
                <a:solidFill>
                  <a:srgbClr val="F5BA2D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650" b="0">
                <a:solidFill>
                  <a:srgbClr val="F5BA2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BA2D"/>
                </a:solidFill>
                <a:latin typeface="Arial"/>
                <a:ea typeface="Arial"/>
                <a:cs typeface="Arial"/>
              </a:rPr>
              <a:t>sử dụng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E23A6B0-6FB8-48EA-A657-4BD1E97F77A2}"/>
              </a:ext>
            </a:extLst>
          </p:cNvPr>
          <p:cNvSpPr>
            <a:spLocks noGrp="1"/>
          </p:cNvSpPr>
          <p:nvPr/>
        </p:nvSpPr>
        <p:spPr>
          <a:xfrm>
            <a:off x="533400" y="4191000"/>
            <a:ext cx="3333750" cy="1571625"/>
          </a:xfrm>
          <a:prstGeom prst="rect">
            <a:avLst/>
          </a:prstGeom>
          <a:solidFill>
            <a:srgbClr val="F5F5F5"/>
          </a:solidFill>
          <a:ln w="14288">
            <a:solidFill>
              <a:srgbClr val="F5BA2D"/>
            </a:solidFill>
          </a:ln>
        </p:spPr>
        <p:txBody>
          <a:bodyPr wrap="square" lIns="114300" tIns="114300" rIns="114300" bIns="114300" anchor="ctr"/>
          <a:lstStyle>
            <a:defPPr algn="l">
              <a:defRPr sz="1650">
                <a:solidFill>
                  <a:srgbClr val="292929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>
                <a:solidFill>
                  <a:srgbClr val="292929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292929"/>
                </a:solidFill>
                <a:latin typeface="Arial"/>
                <a:ea typeface="Arial"/>
                <a:cs typeface="Arial"/>
              </a:rPr>
              <a:t>DemoParticipation</a:t>
            </a:r>
          </a:p>
          <a:p>
            <a:pPr algn="l">
              <a:defRPr sz="1650">
                <a:solidFill>
                  <a:srgbClr val="292929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292929"/>
                </a:solidFill>
                <a:latin typeface="Arial"/>
                <a:ea typeface="Arial"/>
                <a:cs typeface="Arial"/>
              </a:rPr>
              <a:t>quantity, socialCheckout, note</a:t>
            </a:r>
          </a:p>
          <a:p>
            <a:pPr algn="l">
              <a:defRPr sz="1650">
                <a:solidFill>
                  <a:srgbClr val="292929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292929"/>
                </a:solidFill>
                <a:latin typeface="Arial"/>
                <a:ea typeface="Arial"/>
                <a:cs typeface="Arial"/>
              </a:rPr>
              <a:t>discount, total, qrPayload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857A415-0216-4052-BD0B-E51BDC93BE9F}"/>
              </a:ext>
            </a:extLst>
          </p:cNvPr>
          <p:cNvSpPr>
            <a:spLocks noGrp="1"/>
          </p:cNvSpPr>
          <p:nvPr/>
        </p:nvSpPr>
        <p:spPr>
          <a:xfrm>
            <a:off x="4524375" y="4191000"/>
            <a:ext cx="3095625" cy="1571625"/>
          </a:xfrm>
          <a:prstGeom prst="rect">
            <a:avLst/>
          </a:prstGeom>
          <a:solidFill>
            <a:srgbClr val="F5F5F5"/>
          </a:solidFill>
          <a:ln w="14288">
            <a:solidFill>
              <a:srgbClr val="F5BA2D"/>
            </a:solidFill>
          </a:ln>
        </p:spPr>
        <p:txBody>
          <a:bodyPr wrap="square" lIns="114300" tIns="114300" rIns="114300" bIns="114300" anchor="ctr"/>
          <a:lstStyle>
            <a:defPPr algn="l">
              <a:defRPr sz="1650">
                <a:solidFill>
                  <a:srgbClr val="292929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>
                <a:solidFill>
                  <a:srgbClr val="292929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292929"/>
                </a:solidFill>
                <a:latin typeface="Arial"/>
                <a:ea typeface="Arial"/>
                <a:cs typeface="Arial"/>
              </a:rPr>
              <a:t>DemoPayment</a:t>
            </a:r>
          </a:p>
          <a:p>
            <a:pPr algn="l">
              <a:defRPr sz="1650">
                <a:solidFill>
                  <a:srgbClr val="292929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292929"/>
                </a:solidFill>
                <a:latin typeface="Arial"/>
                <a:ea typeface="Arial"/>
                <a:cs typeface="Arial"/>
              </a:rPr>
              <a:t>state, deadline, proof</a:t>
            </a:r>
          </a:p>
          <a:p>
            <a:pPr algn="l">
              <a:defRPr sz="1650">
                <a:solidFill>
                  <a:srgbClr val="292929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292929"/>
                </a:solidFill>
                <a:latin typeface="Arial"/>
                <a:ea typeface="Arial"/>
                <a:cs typeface="Arial"/>
              </a:rPr>
              <a:t>cancellation, refund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AE41EB1-7442-45D8-8F29-7BEADAC51BBF}"/>
              </a:ext>
            </a:extLst>
          </p:cNvPr>
          <p:cNvSpPr>
            <a:spLocks noGrp="1"/>
          </p:cNvSpPr>
          <p:nvPr/>
        </p:nvSpPr>
        <p:spPr>
          <a:xfrm>
            <a:off x="8334375" y="4191000"/>
            <a:ext cx="3286125" cy="1571625"/>
          </a:xfrm>
          <a:prstGeom prst="rect">
            <a:avLst/>
          </a:prstGeom>
          <a:solidFill>
            <a:srgbClr val="F5F5F5"/>
          </a:solidFill>
          <a:ln w="14288">
            <a:solidFill>
              <a:srgbClr val="F5BA2D"/>
            </a:solidFill>
          </a:ln>
        </p:spPr>
        <p:txBody>
          <a:bodyPr wrap="square" lIns="114300" tIns="114300" rIns="114300" bIns="114300" anchor="ctr"/>
          <a:lstStyle>
            <a:defPPr algn="l">
              <a:defRPr sz="1650">
                <a:solidFill>
                  <a:srgbClr val="292929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>
                <a:solidFill>
                  <a:srgbClr val="292929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292929"/>
                </a:solidFill>
                <a:latin typeface="Arial"/>
                <a:ea typeface="Arial"/>
                <a:cs typeface="Arial"/>
              </a:rPr>
              <a:t>SecureSessionStore</a:t>
            </a:r>
          </a:p>
          <a:p>
            <a:pPr algn="l">
              <a:defRPr sz="1650">
                <a:solidFill>
                  <a:srgbClr val="292929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292929"/>
                </a:solidFill>
                <a:latin typeface="Arial"/>
                <a:ea typeface="Arial"/>
                <a:cs typeface="Arial"/>
              </a:rPr>
              <a:t>implements SessionStore</a:t>
            </a:r>
          </a:p>
          <a:p>
            <a:pPr algn="l">
              <a:defRPr sz="1650">
                <a:solidFill>
                  <a:srgbClr val="292929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292929"/>
                </a:solidFill>
                <a:latin typeface="Arial"/>
                <a:ea typeface="Arial"/>
                <a:cs typeface="Arial"/>
              </a:rPr>
              <a:t>FlutterSecureStorage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467A13E-3827-4C90-ABFD-5C18960BB77E}"/>
              </a:ext>
            </a:extLst>
          </p:cNvPr>
          <p:cNvCxnSpPr/>
          <p:nvPr/>
        </p:nvCxnSpPr>
        <p:spPr>
          <a:xfrm>
            <a:off x="2190750" y="2905125"/>
            <a:ext cx="0" cy="1285875"/>
          </a:xfrm>
          <a:prstGeom prst="straightConnector1">
            <a:avLst/>
          </a:prstGeom>
          <a:ln w="16193">
            <a:solidFill>
              <a:srgbClr val="D7D7D7"/>
            </a:solidFill>
            <a:prstDash val="solid"/>
            <a:tailEnd type="triangle" w="med" len="med"/>
          </a:ln>
        </p:spPr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140B6851-C341-41ED-A300-973E2B265BFC}"/>
              </a:ext>
            </a:extLst>
          </p:cNvPr>
          <p:cNvSpPr>
            <a:spLocks noGrp="1"/>
          </p:cNvSpPr>
          <p:nvPr/>
        </p:nvSpPr>
        <p:spPr>
          <a:xfrm>
            <a:off x="2333625" y="33909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/>
          <a:lstStyle>
            <a:defPPr algn="l">
              <a:defRPr sz="1425" b="0">
                <a:solidFill>
                  <a:srgbClr val="F5BA2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425" b="0">
                <a:solidFill>
                  <a:srgbClr val="F5BA2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5BA2D"/>
                </a:solidFill>
                <a:latin typeface="Arial"/>
                <a:ea typeface="Arial"/>
                <a:cs typeface="Arial"/>
              </a:rPr>
              <a:t>quản lý vé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5A6FD6B-4EF8-42D5-A85E-E961A41CD88D}"/>
              </a:ext>
            </a:extLst>
          </p:cNvPr>
          <p:cNvCxnSpPr/>
          <p:nvPr/>
        </p:nvCxnSpPr>
        <p:spPr>
          <a:xfrm>
            <a:off x="3867150" y="2619375"/>
            <a:ext cx="2200275" cy="0"/>
          </a:xfrm>
          <a:prstGeom prst="straightConnector1">
            <a:avLst/>
          </a:prstGeom>
          <a:ln w="16193">
            <a:solidFill>
              <a:srgbClr val="D7D7D7"/>
            </a:solidFill>
            <a:prstDash val="solid"/>
            <a:tailEnd type="none" w="med" len="med"/>
          </a:ln>
        </p:spPr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668CADC-9DE2-4B15-8E89-A4B553E17E1C}"/>
              </a:ext>
            </a:extLst>
          </p:cNvPr>
          <p:cNvCxnSpPr/>
          <p:nvPr/>
        </p:nvCxnSpPr>
        <p:spPr>
          <a:xfrm>
            <a:off x="6067425" y="2619375"/>
            <a:ext cx="0" cy="1571625"/>
          </a:xfrm>
          <a:prstGeom prst="straightConnector1">
            <a:avLst/>
          </a:prstGeom>
          <a:ln w="16193">
            <a:solidFill>
              <a:srgbClr val="D7D7D7"/>
            </a:solidFill>
            <a:prstDash val="solid"/>
            <a:tailEnd type="triangle" w="med" len="med"/>
          </a:ln>
        </p:spPr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463326CC-31A0-48A2-9DFB-97D55CBE4C2E}"/>
              </a:ext>
            </a:extLst>
          </p:cNvPr>
          <p:cNvSpPr>
            <a:spLocks noGrp="1"/>
          </p:cNvSpPr>
          <p:nvPr/>
        </p:nvSpPr>
        <p:spPr>
          <a:xfrm>
            <a:off x="4333875" y="3095625"/>
            <a:ext cx="2857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/>
          <a:lstStyle>
            <a:defPPr algn="l">
              <a:defRPr sz="1500" b="0">
                <a:solidFill>
                  <a:srgbClr val="F5BA2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0">
                <a:solidFill>
                  <a:srgbClr val="F5BA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5BA2D"/>
                </a:solidFill>
                <a:latin typeface="Arial"/>
                <a:ea typeface="Arial"/>
                <a:cs typeface="Arial"/>
              </a:rPr>
              <a:t>quản lý thanh toán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2F4C3DA-6D82-438E-8184-9B09DC1D73A6}"/>
              </a:ext>
            </a:extLst>
          </p:cNvPr>
          <p:cNvCxnSpPr/>
          <p:nvPr/>
        </p:nvCxnSpPr>
        <p:spPr>
          <a:xfrm flipV="1">
            <a:off x="9972675" y="2905125"/>
            <a:ext cx="0" cy="1285875"/>
          </a:xfrm>
          <a:prstGeom prst="straightConnector1">
            <a:avLst/>
          </a:prstGeom>
          <a:ln w="16193">
            <a:solidFill>
              <a:srgbClr val="D7D7D7"/>
            </a:solidFill>
            <a:prstDash val="dash"/>
            <a:tailEnd type="triangle" w="med" len="med"/>
          </a:ln>
        </p:spPr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F0A3FF50-4802-464F-87A8-B15B42EC7018}"/>
              </a:ext>
            </a:extLst>
          </p:cNvPr>
          <p:cNvSpPr>
            <a:spLocks noGrp="1"/>
          </p:cNvSpPr>
          <p:nvPr/>
        </p:nvSpPr>
        <p:spPr>
          <a:xfrm>
            <a:off x="533400" y="6248400"/>
            <a:ext cx="11049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/>
          <a:lstStyle>
            <a:defPPr algn="l">
              <a:defRPr sz="1350" b="0">
                <a:solidFill>
                  <a:srgbClr val="D7D7D7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350" b="0">
                <a:solidFill>
                  <a:srgbClr val="D7D7D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7D7D7"/>
                </a:solidFill>
                <a:latin typeface="Arial"/>
                <a:ea typeface="Arial"/>
                <a:cs typeface="Arial"/>
              </a:rPr>
              <a:t>DemoSocialSession.expireSocialTickets() xử lý đơn social chưa gửi chứng từ quá hạn.</a:t>
            </a:r>
          </a:p>
        </p:txBody>
      </p:sp>
    </p:spTree>
    <p:extLst>
      <p:ext uri="{BB962C8B-B14F-4D97-AF65-F5344CB8AC3E}">
        <p14:creationId xmlns:p14="http://schemas.microsoft.com/office/powerpoint/2010/main" val="177262876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F3DFF27-A082-4169-A85D-F5B397E030E0}"/>
              </a:ext>
            </a:extLst>
          </p:cNvPr>
          <p:cNvSpPr>
            <a:spLocks noGrp="1"/>
          </p:cNvSpPr>
          <p:nvPr/>
        </p:nvSpPr>
        <p:spPr>
          <a:xfrm>
            <a:off x="533400" y="285750"/>
            <a:ext cx="110490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/>
          <a:lstStyle>
            <a:defPPr algn="l">
              <a:defRPr sz="2850" b="1">
                <a:solidFill>
                  <a:srgbClr val="F5BA2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850" b="1">
                <a:solidFill>
                  <a:srgbClr val="F5BA2D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5BA2D"/>
                </a:solidFill>
                <a:latin typeface="Arial"/>
                <a:ea typeface="Arial"/>
                <a:cs typeface="Arial"/>
              </a:rPr>
              <a:t>DEPLOYMENT PHIÊN BẢN HIỆN TẠI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FBE8B7A-DEE3-4AF6-9DA2-0FE4C6B3F651}"/>
              </a:ext>
            </a:extLst>
          </p:cNvPr>
          <p:cNvSpPr>
            <a:spLocks noGrp="1"/>
          </p:cNvSpPr>
          <p:nvPr/>
        </p:nvSpPr>
        <p:spPr>
          <a:xfrm>
            <a:off x="533400" y="1381125"/>
            <a:ext cx="4762500" cy="1238250"/>
          </a:xfrm>
          <a:prstGeom prst="rect">
            <a:avLst/>
          </a:prstGeom>
          <a:solidFill>
            <a:srgbClr val="F5F5F5"/>
          </a:solidFill>
          <a:ln w="14288">
            <a:solidFill>
              <a:srgbClr val="F5BA2D"/>
            </a:solidFill>
          </a:ln>
        </p:spPr>
        <p:txBody>
          <a:bodyPr wrap="square" lIns="114300" tIns="114300" rIns="114300" bIns="114300" anchor="ctr"/>
          <a:lstStyle>
            <a:defPPr algn="l">
              <a:defRPr sz="2100">
                <a:solidFill>
                  <a:srgbClr val="292929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100">
                <a:solidFill>
                  <a:srgbClr val="292929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292929"/>
                </a:solidFill>
                <a:latin typeface="Arial"/>
                <a:ea typeface="Arial"/>
                <a:cs typeface="Arial"/>
              </a:rPr>
              <a:t>«device» Thiết bị Android</a:t>
            </a:r>
          </a:p>
          <a:p>
            <a:pPr algn="l">
              <a:defRPr sz="2100">
                <a:solidFill>
                  <a:srgbClr val="292929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292929"/>
                </a:solidFill>
                <a:latin typeface="Arial"/>
                <a:ea typeface="Arial"/>
                <a:cs typeface="Arial"/>
              </a:rPr>
              <a:t>Flutter UI theo vai trò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DF29C8A-1100-4F61-8BD5-5F34E6E2AE0C}"/>
              </a:ext>
            </a:extLst>
          </p:cNvPr>
          <p:cNvSpPr>
            <a:spLocks noGrp="1"/>
          </p:cNvSpPr>
          <p:nvPr/>
        </p:nvSpPr>
        <p:spPr>
          <a:xfrm>
            <a:off x="533400" y="3381375"/>
            <a:ext cx="4762500" cy="1238250"/>
          </a:xfrm>
          <a:prstGeom prst="rect">
            <a:avLst/>
          </a:prstGeom>
          <a:solidFill>
            <a:srgbClr val="F5F5F5"/>
          </a:solidFill>
          <a:ln w="14288">
            <a:solidFill>
              <a:srgbClr val="F5BA2D"/>
            </a:solidFill>
          </a:ln>
        </p:spPr>
        <p:txBody>
          <a:bodyPr wrap="square" lIns="114300" tIns="114300" rIns="114300" bIns="114300" anchor="ctr"/>
          <a:lstStyle>
            <a:defPPr algn="l">
              <a:defRPr sz="1950">
                <a:solidFill>
                  <a:srgbClr val="292929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950">
                <a:solidFill>
                  <a:srgbClr val="292929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292929"/>
                </a:solidFill>
                <a:latin typeface="Arial"/>
                <a:ea typeface="Arial"/>
                <a:cs typeface="Arial"/>
              </a:rPr>
              <a:t>DemoSession và extension</a:t>
            </a:r>
          </a:p>
          <a:p>
            <a:pPr algn="l">
              <a:defRPr sz="1950">
                <a:solidFill>
                  <a:srgbClr val="292929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292929"/>
                </a:solidFill>
                <a:latin typeface="Arial"/>
                <a:ea typeface="Arial"/>
                <a:cs typeface="Arial"/>
              </a:rPr>
              <a:t>Nghiệp vụ, quyền, kiểm tra lịch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F0399A3-38CD-4907-A1B6-1456844C7CE4}"/>
              </a:ext>
            </a:extLst>
          </p:cNvPr>
          <p:cNvSpPr>
            <a:spLocks noGrp="1"/>
          </p:cNvSpPr>
          <p:nvPr/>
        </p:nvSpPr>
        <p:spPr>
          <a:xfrm>
            <a:off x="7124700" y="3381375"/>
            <a:ext cx="4533900" cy="1238250"/>
          </a:xfrm>
          <a:prstGeom prst="rect">
            <a:avLst/>
          </a:prstGeom>
          <a:solidFill>
            <a:srgbClr val="F5F5F5"/>
          </a:solidFill>
          <a:ln w="14288">
            <a:solidFill>
              <a:srgbClr val="F5BA2D"/>
            </a:solidFill>
          </a:ln>
        </p:spPr>
        <p:txBody>
          <a:bodyPr wrap="square" lIns="114300" tIns="114300" rIns="114300" bIns="114300" anchor="ctr"/>
          <a:lstStyle>
            <a:defPPr algn="l">
              <a:defRPr sz="1950">
                <a:solidFill>
                  <a:srgbClr val="292929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950">
                <a:solidFill>
                  <a:srgbClr val="292929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292929"/>
                </a:solidFill>
                <a:latin typeface="Arial"/>
                <a:ea typeface="Arial"/>
                <a:cs typeface="Arial"/>
              </a:rPr>
              <a:t>FlutterSecureStorage</a:t>
            </a:r>
          </a:p>
          <a:p>
            <a:pPr algn="l">
              <a:defRPr sz="1950">
                <a:solidFill>
                  <a:srgbClr val="292929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292929"/>
                </a:solidFill>
                <a:latin typeface="Arial"/>
                <a:ea typeface="Arial"/>
                <a:cs typeface="Arial"/>
              </a:rPr>
              <a:t>Snapshot JSON trên thiết bị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5DC4C7CF-9F1D-417A-8625-BF36ACCD1213}"/>
              </a:ext>
            </a:extLst>
          </p:cNvPr>
          <p:cNvCxnSpPr/>
          <p:nvPr/>
        </p:nvCxnSpPr>
        <p:spPr>
          <a:xfrm>
            <a:off x="2914650" y="2619375"/>
            <a:ext cx="0" cy="762000"/>
          </a:xfrm>
          <a:prstGeom prst="straightConnector1">
            <a:avLst/>
          </a:prstGeom>
          <a:ln w="16193">
            <a:solidFill>
              <a:srgbClr val="D7D7D7"/>
            </a:solidFill>
            <a:prstDash val="solid"/>
            <a:tailEnd type="triangle" w="med" len="med"/>
          </a:ln>
        </p:spPr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6F22508-CC2A-42A0-A958-C1722A3CB4A5}"/>
              </a:ext>
            </a:extLst>
          </p:cNvPr>
          <p:cNvCxnSpPr/>
          <p:nvPr/>
        </p:nvCxnSpPr>
        <p:spPr>
          <a:xfrm>
            <a:off x="5295900" y="4000500"/>
            <a:ext cx="1828800" cy="0"/>
          </a:xfrm>
          <a:prstGeom prst="straightConnector1">
            <a:avLst/>
          </a:prstGeom>
          <a:ln w="16193">
            <a:solidFill>
              <a:srgbClr val="D7D7D7"/>
            </a:solidFill>
            <a:prstDash val="solid"/>
            <a:tailEnd type="triangle" w="med" len="med"/>
          </a:ln>
        </p:spPr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C6F9D45F-0A87-40C2-99FD-38A3A7D7CE35}"/>
              </a:ext>
            </a:extLst>
          </p:cNvPr>
          <p:cNvSpPr>
            <a:spLocks noGrp="1"/>
          </p:cNvSpPr>
          <p:nvPr/>
        </p:nvSpPr>
        <p:spPr>
          <a:xfrm>
            <a:off x="533400" y="5143500"/>
            <a:ext cx="1104900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/>
          <a:lstStyle>
            <a:defPPr algn="l"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Bản đồ và chỉ đường có thể cần mạng, GPS và dịch vụ ngoài.</a:t>
            </a:r>
          </a:p>
          <a:p>
            <a:pPr algn="l"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Chưa có backend đồng bộ nhiều thiết bị, push thật hoặc ngân hàng thật.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1A7AC85-AD37-4ADE-A72C-17A7B6F87A1E}"/>
              </a:ext>
            </a:extLst>
          </p:cNvPr>
          <p:cNvSpPr>
            <a:spLocks noGrp="1"/>
          </p:cNvSpPr>
          <p:nvPr/>
        </p:nvSpPr>
        <p:spPr>
          <a:xfrm>
            <a:off x="533400" y="6248400"/>
            <a:ext cx="11049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/>
          <a:lstStyle>
            <a:defPPr algn="l">
              <a:defRPr sz="1350" b="0">
                <a:solidFill>
                  <a:srgbClr val="D7D7D7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350" b="0">
                <a:solidFill>
                  <a:srgbClr val="D7D7D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7D7D7"/>
                </a:solidFill>
                <a:latin typeface="Arial"/>
                <a:ea typeface="Arial"/>
                <a:cs typeface="Arial"/>
              </a:rPr>
              <a:t>build bundle thành công. APK mới chưa build được do lỗi loopback Java/Gradle khi kiểm tra.</a:t>
            </a:r>
          </a:p>
        </p:txBody>
      </p:sp>
    </p:spTree>
    <p:extLst>
      <p:ext uri="{BB962C8B-B14F-4D97-AF65-F5344CB8AC3E}">
        <p14:creationId xmlns:p14="http://schemas.microsoft.com/office/powerpoint/2010/main" val="207062076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79C48B1B-E281-4831-B26D-A52C3308240B}"/>
              </a:ext>
            </a:extLst>
          </p:cNvPr>
          <p:cNvSpPr>
            <a:spLocks noGrp="1"/>
          </p:cNvSpPr>
          <p:nvPr/>
        </p:nvSpPr>
        <p:spPr>
          <a:xfrm>
            <a:off x="533400" y="285750"/>
            <a:ext cx="110490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/>
          <a:lstStyle>
            <a:defPPr algn="l">
              <a:defRPr sz="2850" b="1">
                <a:solidFill>
                  <a:srgbClr val="F5BA2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850" b="1">
                <a:solidFill>
                  <a:srgbClr val="F5BA2D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5BA2D"/>
                </a:solidFill>
                <a:latin typeface="Arial"/>
                <a:ea typeface="Arial"/>
                <a:cs typeface="Arial"/>
              </a:rPr>
              <a:t>DEPLOYMENT BACKEND DỰ KIẾN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385454E-DE95-48BA-810C-71B775AD00CC}"/>
              </a:ext>
            </a:extLst>
          </p:cNvPr>
          <p:cNvSpPr>
            <a:spLocks noGrp="1"/>
          </p:cNvSpPr>
          <p:nvPr/>
        </p:nvSpPr>
        <p:spPr>
          <a:xfrm>
            <a:off x="533400" y="1524000"/>
            <a:ext cx="3619500" cy="1333500"/>
          </a:xfrm>
          <a:prstGeom prst="rect">
            <a:avLst/>
          </a:prstGeom>
          <a:solidFill>
            <a:srgbClr val="F5F5F5"/>
          </a:solidFill>
          <a:ln w="14288">
            <a:solidFill>
              <a:srgbClr val="F5BA2D"/>
            </a:solidFill>
          </a:ln>
        </p:spPr>
        <p:txBody>
          <a:bodyPr wrap="square" lIns="114300" tIns="114300" rIns="114300" bIns="114300" anchor="ctr"/>
          <a:lstStyle>
            <a:defPPr algn="l">
              <a:defRPr sz="1950">
                <a:solidFill>
                  <a:srgbClr val="292929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950">
                <a:solidFill>
                  <a:srgbClr val="292929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292929"/>
                </a:solidFill>
                <a:latin typeface="Arial"/>
                <a:ea typeface="Arial"/>
                <a:cs typeface="Arial"/>
              </a:rPr>
              <a:t>Flutter client</a:t>
            </a:r>
          </a:p>
          <a:p>
            <a:pPr algn="l">
              <a:defRPr sz="1950">
                <a:solidFill>
                  <a:srgbClr val="292929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292929"/>
                </a:solidFill>
                <a:latin typeface="Arial"/>
                <a:ea typeface="Arial"/>
                <a:cs typeface="Arial"/>
              </a:rPr>
              <a:t>Khách, chủ sân, nhân viên, admin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E47CC49-8C5E-482F-8B5D-88EFBE464A8F}"/>
              </a:ext>
            </a:extLst>
          </p:cNvPr>
          <p:cNvSpPr>
            <a:spLocks noGrp="1"/>
          </p:cNvSpPr>
          <p:nvPr/>
        </p:nvSpPr>
        <p:spPr>
          <a:xfrm>
            <a:off x="7410450" y="1524000"/>
            <a:ext cx="4248150" cy="1333500"/>
          </a:xfrm>
          <a:prstGeom prst="rect">
            <a:avLst/>
          </a:prstGeom>
          <a:solidFill>
            <a:srgbClr val="F5F5F5"/>
          </a:solidFill>
          <a:ln w="14288">
            <a:solidFill>
              <a:srgbClr val="F5BA2D"/>
            </a:solidFill>
          </a:ln>
        </p:spPr>
        <p:txBody>
          <a:bodyPr wrap="square" lIns="114300" tIns="114300" rIns="114300" bIns="114300" anchor="ctr"/>
          <a:lstStyle>
            <a:defPPr algn="l">
              <a:defRPr sz="1950">
                <a:solidFill>
                  <a:srgbClr val="292929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950">
                <a:solidFill>
                  <a:srgbClr val="292929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292929"/>
                </a:solidFill>
                <a:latin typeface="Arial"/>
                <a:ea typeface="Arial"/>
                <a:cs typeface="Arial"/>
              </a:rPr>
              <a:t>Backend có xác thực</a:t>
            </a:r>
          </a:p>
          <a:p>
            <a:pPr algn="l">
              <a:defRPr sz="1950">
                <a:solidFill>
                  <a:srgbClr val="292929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292929"/>
                </a:solidFill>
                <a:latin typeface="Arial"/>
                <a:ea typeface="Arial"/>
                <a:cs typeface="Arial"/>
              </a:rPr>
              <a:t>Kiểm tra quyền và giao dịch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76E0ABF9-E2A7-427B-B500-8CC6264EE580}"/>
              </a:ext>
            </a:extLst>
          </p:cNvPr>
          <p:cNvCxnSpPr/>
          <p:nvPr/>
        </p:nvCxnSpPr>
        <p:spPr>
          <a:xfrm>
            <a:off x="4152900" y="2190750"/>
            <a:ext cx="3257550" cy="0"/>
          </a:xfrm>
          <a:prstGeom prst="straightConnector1">
            <a:avLst/>
          </a:prstGeom>
          <a:ln w="16193">
            <a:solidFill>
              <a:srgbClr val="D7D7D7"/>
            </a:solidFill>
            <a:prstDash val="solid"/>
            <a:tailEnd type="triangle" w="med" len="med"/>
          </a:ln>
        </p:spPr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7679D3DE-CED8-42E4-98C2-CDF39A07F002}"/>
              </a:ext>
            </a:extLst>
          </p:cNvPr>
          <p:cNvSpPr>
            <a:spLocks noGrp="1"/>
          </p:cNvSpPr>
          <p:nvPr/>
        </p:nvSpPr>
        <p:spPr>
          <a:xfrm>
            <a:off x="5095875" y="1752600"/>
            <a:ext cx="15240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/>
          <a:lstStyle>
            <a:defPPr algn="ctr">
              <a:defRPr sz="1800" b="0">
                <a:solidFill>
                  <a:srgbClr val="F5BA2D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800" b="0">
                <a:solidFill>
                  <a:srgbClr val="F5BA2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5BA2D"/>
                </a:solidFill>
                <a:latin typeface="Arial"/>
                <a:ea typeface="Arial"/>
                <a:cs typeface="Arial"/>
              </a:rPr>
              <a:t>HTTPS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9F68AC4-5DF2-4366-9A46-02F470522F10}"/>
              </a:ext>
            </a:extLst>
          </p:cNvPr>
          <p:cNvSpPr>
            <a:spLocks noGrp="1"/>
          </p:cNvSpPr>
          <p:nvPr/>
        </p:nvSpPr>
        <p:spPr>
          <a:xfrm>
            <a:off x="533400" y="4238625"/>
            <a:ext cx="3333750" cy="1285875"/>
          </a:xfrm>
          <a:prstGeom prst="rect">
            <a:avLst/>
          </a:prstGeom>
          <a:solidFill>
            <a:srgbClr val="F5F5F5"/>
          </a:solidFill>
          <a:ln w="14288">
            <a:solidFill>
              <a:srgbClr val="F5BA2D"/>
            </a:solidFill>
          </a:ln>
        </p:spPr>
        <p:txBody>
          <a:bodyPr wrap="square" lIns="114300" tIns="114300" rIns="114300" bIns="114300" anchor="ctr"/>
          <a:lstStyle>
            <a:defPPr algn="l">
              <a:defRPr sz="1875">
                <a:solidFill>
                  <a:srgbClr val="292929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75">
                <a:solidFill>
                  <a:srgbClr val="292929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292929"/>
                </a:solidFill>
                <a:latin typeface="Arial"/>
                <a:ea typeface="Arial"/>
                <a:cs typeface="Arial"/>
              </a:rPr>
              <a:t>Database</a:t>
            </a:r>
          </a:p>
          <a:p>
            <a:pPr algn="l">
              <a:defRPr sz="1875">
                <a:solidFill>
                  <a:srgbClr val="292929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292929"/>
                </a:solidFill>
                <a:latin typeface="Arial"/>
                <a:ea typeface="Arial"/>
                <a:cs typeface="Arial"/>
              </a:rPr>
              <a:t>Lịch, vé, giao dịch, quyền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2168DAF-48D9-4EBB-A879-6F3464BD0E68}"/>
              </a:ext>
            </a:extLst>
          </p:cNvPr>
          <p:cNvSpPr>
            <a:spLocks noGrp="1"/>
          </p:cNvSpPr>
          <p:nvPr/>
        </p:nvSpPr>
        <p:spPr>
          <a:xfrm>
            <a:off x="4533900" y="4238625"/>
            <a:ext cx="3095625" cy="1285875"/>
          </a:xfrm>
          <a:prstGeom prst="rect">
            <a:avLst/>
          </a:prstGeom>
          <a:solidFill>
            <a:srgbClr val="F5F5F5"/>
          </a:solidFill>
          <a:ln w="14288">
            <a:solidFill>
              <a:srgbClr val="F5BA2D"/>
            </a:solidFill>
          </a:ln>
        </p:spPr>
        <p:txBody>
          <a:bodyPr wrap="square" lIns="114300" tIns="114300" rIns="114300" bIns="114300" anchor="ctr"/>
          <a:lstStyle>
            <a:defPPr algn="l">
              <a:defRPr sz="1875">
                <a:solidFill>
                  <a:srgbClr val="292929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75">
                <a:solidFill>
                  <a:srgbClr val="292929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292929"/>
                </a:solidFill>
                <a:latin typeface="Arial"/>
                <a:ea typeface="Arial"/>
                <a:cs typeface="Arial"/>
              </a:rPr>
              <a:t>Object storage</a:t>
            </a:r>
          </a:p>
          <a:p>
            <a:pPr algn="l">
              <a:defRPr sz="1875">
                <a:solidFill>
                  <a:srgbClr val="292929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292929"/>
                </a:solidFill>
                <a:latin typeface="Arial"/>
                <a:ea typeface="Arial"/>
                <a:cs typeface="Arial"/>
              </a:rPr>
              <a:t>Ảnh và chứng từ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0A5194F-C732-4833-98B4-17B21ED620C5}"/>
              </a:ext>
            </a:extLst>
          </p:cNvPr>
          <p:cNvSpPr>
            <a:spLocks noGrp="1"/>
          </p:cNvSpPr>
          <p:nvPr/>
        </p:nvSpPr>
        <p:spPr>
          <a:xfrm>
            <a:off x="8296275" y="4238625"/>
            <a:ext cx="3362325" cy="1285875"/>
          </a:xfrm>
          <a:prstGeom prst="rect">
            <a:avLst/>
          </a:prstGeom>
          <a:solidFill>
            <a:srgbClr val="F5F5F5"/>
          </a:solidFill>
          <a:ln w="14288">
            <a:solidFill>
              <a:srgbClr val="F5BA2D"/>
            </a:solidFill>
          </a:ln>
        </p:spPr>
        <p:txBody>
          <a:bodyPr wrap="square" lIns="114300" tIns="114300" rIns="114300" bIns="114300" anchor="ctr"/>
          <a:lstStyle>
            <a:defPPr algn="l">
              <a:defRPr sz="1800">
                <a:solidFill>
                  <a:srgbClr val="292929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>
                <a:solidFill>
                  <a:srgbClr val="292929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292929"/>
                </a:solidFill>
                <a:latin typeface="Arial"/>
                <a:ea typeface="Arial"/>
                <a:cs typeface="Arial"/>
              </a:rPr>
              <a:t>Worker và thông báo</a:t>
            </a:r>
          </a:p>
          <a:p>
            <a:pPr algn="l">
              <a:defRPr sz="1800">
                <a:solidFill>
                  <a:srgbClr val="292929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292929"/>
                </a:solidFill>
                <a:latin typeface="Arial"/>
                <a:ea typeface="Arial"/>
                <a:cs typeface="Arial"/>
              </a:rPr>
              <a:t>Deadline, email hoặc push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3CEE466-4463-4FAB-AD4D-2AF462BA9265}"/>
              </a:ext>
            </a:extLst>
          </p:cNvPr>
          <p:cNvCxnSpPr/>
          <p:nvPr/>
        </p:nvCxnSpPr>
        <p:spPr>
          <a:xfrm>
            <a:off x="9534525" y="2857500"/>
            <a:ext cx="0" cy="666750"/>
          </a:xfrm>
          <a:prstGeom prst="straightConnector1">
            <a:avLst/>
          </a:prstGeom>
          <a:ln w="16193">
            <a:solidFill>
              <a:srgbClr val="D7D7D7"/>
            </a:solidFill>
            <a:prstDash val="solid"/>
            <a:tailEnd type="none" w="med" len="med"/>
          </a:ln>
        </p:spPr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566560C-26EE-499B-887D-EAF94069C714}"/>
              </a:ext>
            </a:extLst>
          </p:cNvPr>
          <p:cNvCxnSpPr/>
          <p:nvPr/>
        </p:nvCxnSpPr>
        <p:spPr>
          <a:xfrm flipH="1">
            <a:off x="2200275" y="3524250"/>
            <a:ext cx="7334250" cy="0"/>
          </a:xfrm>
          <a:prstGeom prst="straightConnector1">
            <a:avLst/>
          </a:prstGeom>
          <a:ln w="16193">
            <a:solidFill>
              <a:srgbClr val="D7D7D7"/>
            </a:solidFill>
            <a:prstDash val="solid"/>
            <a:tailEnd type="none" w="med" len="med"/>
          </a:ln>
        </p:spPr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407CF05-871B-4396-90A7-5B7942932409}"/>
              </a:ext>
            </a:extLst>
          </p:cNvPr>
          <p:cNvCxnSpPr/>
          <p:nvPr/>
        </p:nvCxnSpPr>
        <p:spPr>
          <a:xfrm>
            <a:off x="2200275" y="3524250"/>
            <a:ext cx="0" cy="714375"/>
          </a:xfrm>
          <a:prstGeom prst="straightConnector1">
            <a:avLst/>
          </a:prstGeom>
          <a:ln w="16193">
            <a:solidFill>
              <a:srgbClr val="D7D7D7"/>
            </a:solidFill>
            <a:prstDash val="solid"/>
            <a:tailEnd type="triangle" w="med" len="med"/>
          </a:ln>
        </p:spPr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6978E50-4FAC-45BA-A31A-CBBA02B2E844}"/>
              </a:ext>
            </a:extLst>
          </p:cNvPr>
          <p:cNvCxnSpPr/>
          <p:nvPr/>
        </p:nvCxnSpPr>
        <p:spPr>
          <a:xfrm flipH="1">
            <a:off x="6086475" y="3524250"/>
            <a:ext cx="3448050" cy="0"/>
          </a:xfrm>
          <a:prstGeom prst="straightConnector1">
            <a:avLst/>
          </a:prstGeom>
          <a:ln w="16193">
            <a:solidFill>
              <a:srgbClr val="D7D7D7"/>
            </a:solidFill>
            <a:prstDash val="solid"/>
            <a:tailEnd type="none" w="med" len="med"/>
          </a:ln>
        </p:spPr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6197CD1-4F6A-49B8-A447-687443721F7D}"/>
              </a:ext>
            </a:extLst>
          </p:cNvPr>
          <p:cNvCxnSpPr/>
          <p:nvPr/>
        </p:nvCxnSpPr>
        <p:spPr>
          <a:xfrm>
            <a:off x="6086475" y="3524250"/>
            <a:ext cx="0" cy="714375"/>
          </a:xfrm>
          <a:prstGeom prst="straightConnector1">
            <a:avLst/>
          </a:prstGeom>
          <a:ln w="16193">
            <a:solidFill>
              <a:srgbClr val="D7D7D7"/>
            </a:solidFill>
            <a:prstDash val="solid"/>
            <a:tailEnd type="triangle" w="med" len="med"/>
          </a:ln>
        </p:spPr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DC9006A-295E-4DD9-AEBD-072FE8FF9AEE}"/>
              </a:ext>
            </a:extLst>
          </p:cNvPr>
          <p:cNvCxnSpPr/>
          <p:nvPr/>
        </p:nvCxnSpPr>
        <p:spPr>
          <a:xfrm>
            <a:off x="9534525" y="3524250"/>
            <a:ext cx="438150" cy="0"/>
          </a:xfrm>
          <a:prstGeom prst="straightConnector1">
            <a:avLst/>
          </a:prstGeom>
          <a:ln w="16193">
            <a:solidFill>
              <a:srgbClr val="D7D7D7"/>
            </a:solidFill>
            <a:prstDash val="solid"/>
            <a:tailEnd type="none" w="med" len="med"/>
          </a:ln>
        </p:spPr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5B90C23-E8DC-44E8-A03E-626C97B8A04B}"/>
              </a:ext>
            </a:extLst>
          </p:cNvPr>
          <p:cNvCxnSpPr/>
          <p:nvPr/>
        </p:nvCxnSpPr>
        <p:spPr>
          <a:xfrm>
            <a:off x="9972675" y="3524250"/>
            <a:ext cx="0" cy="714375"/>
          </a:xfrm>
          <a:prstGeom prst="straightConnector1">
            <a:avLst/>
          </a:prstGeom>
          <a:ln w="16193">
            <a:solidFill>
              <a:srgbClr val="D7D7D7"/>
            </a:solidFill>
            <a:prstDash val="solid"/>
            <a:tailEnd type="triangle" w="med" len="med"/>
          </a:ln>
        </p:spPr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15433FE4-1005-49A2-A0A2-46529CB2CFD4}"/>
              </a:ext>
            </a:extLst>
          </p:cNvPr>
          <p:cNvSpPr>
            <a:spLocks noGrp="1"/>
          </p:cNvSpPr>
          <p:nvPr/>
        </p:nvSpPr>
        <p:spPr>
          <a:xfrm>
            <a:off x="533400" y="6248400"/>
            <a:ext cx="11049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/>
          <a:lstStyle>
            <a:defPPr algn="l">
              <a:defRPr sz="1350" b="0">
                <a:solidFill>
                  <a:srgbClr val="D7D7D7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350" b="0">
                <a:solidFill>
                  <a:srgbClr val="D7D7D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7D7D7"/>
                </a:solidFill>
                <a:latin typeface="Arial"/>
                <a:ea typeface="Arial"/>
                <a:cs typeface="Arial"/>
              </a:rPr>
              <a:t>Đây là phương án thiết kế, chưa triển khai. Firebase là lựa chọn cần đánh giá khi tích hợp.</a:t>
            </a:r>
          </a:p>
        </p:txBody>
      </p:sp>
    </p:spTree>
    <p:extLst>
      <p:ext uri="{BB962C8B-B14F-4D97-AF65-F5344CB8AC3E}">
        <p14:creationId xmlns:p14="http://schemas.microsoft.com/office/powerpoint/2010/main" val="18896158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02B531B-5DC4-44E6-A7B1-60A4B8C32924}"/>
              </a:ext>
            </a:extLst>
          </p:cNvPr>
          <p:cNvSpPr>
            <a:spLocks noGrp="1"/>
          </p:cNvSpPr>
          <p:nvPr/>
        </p:nvSpPr>
        <p:spPr>
          <a:xfrm>
            <a:off x="533400" y="285750"/>
            <a:ext cx="110490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/>
          <a:lstStyle>
            <a:defPPr algn="l">
              <a:defRPr sz="2850" b="1">
                <a:solidFill>
                  <a:srgbClr val="F5BA2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850" b="1">
                <a:solidFill>
                  <a:srgbClr val="F5BA2D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5BA2D"/>
                </a:solidFill>
                <a:latin typeface="Arial"/>
                <a:ea typeface="Arial"/>
                <a:cs typeface="Arial"/>
              </a:rPr>
              <a:t>URD GIAO DIỆN VÀ LUỒNG VÉ SOCIAL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650CF7F-A8E6-430E-87C9-2F072AE0B0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33498" y="1200150"/>
            <a:ext cx="2095305" cy="458152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0E7F0A8-ADFA-4D09-AAFD-B8ACA03C30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2867123" y="1200150"/>
            <a:ext cx="2095305" cy="458152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E52862E-8B44-4079-BFF6-BB7C1D3D851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5200748" y="1200150"/>
            <a:ext cx="2095305" cy="458152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E7DAAC2E-9A48-4870-995B-6BC76E6D0B42}"/>
              </a:ext>
            </a:extLst>
          </p:cNvPr>
          <p:cNvSpPr>
            <a:spLocks noGrp="1"/>
          </p:cNvSpPr>
          <p:nvPr/>
        </p:nvSpPr>
        <p:spPr>
          <a:xfrm>
            <a:off x="7762875" y="1314450"/>
            <a:ext cx="3762375" cy="409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/>
          <a:lstStyle>
            <a:defPPr algn="l"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Chọn sự kiện và 1–2 vé</a:t>
            </a:r>
          </a:p>
          <a:p>
            <a:endParaRPr sz="1875" b="0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>
            <a:pPr algn="l"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Xác nhận người mua và điều khoản</a:t>
            </a:r>
          </a:p>
          <a:p>
            <a:endParaRPr sz="1875" b="0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>
            <a:pPr algn="l"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Gửi chứng từ trong 15 phút</a:t>
            </a:r>
          </a:p>
          <a:p>
            <a:endParaRPr sz="1875" b="0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>
            <a:pPr algn="l"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Chưa gửi: tự hủy và trả chỗ</a:t>
            </a:r>
          </a:p>
          <a:p>
            <a:endParaRPr sz="1875" b="0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>
            <a:pPr algn="l"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Đã gửi: chờ chủ sân xác nhận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9BFB557-D40F-4E5C-9019-AB3A268E0670}"/>
              </a:ext>
            </a:extLst>
          </p:cNvPr>
          <p:cNvSpPr>
            <a:spLocks noGrp="1"/>
          </p:cNvSpPr>
          <p:nvPr/>
        </p:nvSpPr>
        <p:spPr>
          <a:xfrm>
            <a:off x="533400" y="6248400"/>
            <a:ext cx="11049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/>
          <a:lstStyle>
            <a:defPPr algn="l">
              <a:defRPr sz="1350" b="0">
                <a:solidFill>
                  <a:srgbClr val="D7D7D7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350" b="0">
                <a:solidFill>
                  <a:srgbClr val="D7D7D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7D7D7"/>
                </a:solidFill>
                <a:latin typeface="Arial"/>
                <a:ea typeface="Arial"/>
                <a:cs typeface="Arial"/>
              </a:rPr>
              <a:t>Ảnh từ các ca kiểm thử độc lập. UI cần tổng tiền đúng, trạng thái rõ, cuộn được ở 320/402 px.</a:t>
            </a:r>
          </a:p>
        </p:txBody>
      </p:sp>
    </p:spTree>
    <p:extLst>
      <p:ext uri="{BB962C8B-B14F-4D97-AF65-F5344CB8AC3E}">
        <p14:creationId xmlns:p14="http://schemas.microsoft.com/office/powerpoint/2010/main" val="201811073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B6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83136FB-A837-4D4E-8F92-832967745490}"/>
              </a:ext>
            </a:extLst>
          </p:cNvPr>
          <p:cNvSpPr>
            <a:spLocks noGrp="1"/>
          </p:cNvSpPr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400" b="1">
                <a:solidFill>
                  <a:srgbClr val="2B2B2B"/>
                </a:solidFill>
                <a:latin typeface="Arial"/>
                <a:ea typeface="Arial"/>
                <a:cs typeface="Arial"/>
              </a:rPr>
              <a:t>KẾ HOẠCH &amp; PHÂN CÔNG</a:t>
            </a:r>
            <a:endParaRPr sz="3400"/>
          </a:p>
        </p:txBody>
      </p:sp>
      <p:sp>
        <p:nvSpPr>
          <p:cNvPr id="3" name="ph0">
            <a:extLst>
              <a:ext uri="{FF2B5EF4-FFF2-40B4-BE49-F238E27FC236}">
                <a16:creationId xmlns:a16="http://schemas.microsoft.com/office/drawing/2014/main" id="{111427E6-D802-473B-BAAF-89B55289B0F6}"/>
              </a:ext>
            </a:extLst>
          </p:cNvPr>
          <p:cNvSpPr>
            <a:spLocks noGrp="1"/>
          </p:cNvSpPr>
          <p:nvPr/>
        </p:nvSpPr>
        <p:spPr>
          <a:xfrm>
            <a:off x="548640" y="1371600"/>
            <a:ext cx="2057400" cy="1554480"/>
          </a:xfrm>
          <a:prstGeom prst="roundRect">
            <a:avLst>
              <a:gd name="adj" fmla="val 7059"/>
            </a:avLst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CDD6123-BEB1-44AC-9F39-23097BF947E9}"/>
              </a:ext>
            </a:extLst>
          </p:cNvPr>
          <p:cNvSpPr>
            <a:spLocks noGrp="1"/>
          </p:cNvSpPr>
          <p:nvPr/>
        </p:nvSpPr>
        <p:spPr>
          <a:xfrm>
            <a:off x="685800" y="1508760"/>
            <a:ext cx="1783080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Phân tích &amp; thiết kế</a:t>
            </a:r>
            <a:endParaRPr sz="16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09E64711-95B0-4309-9139-A8BA08770846}"/>
              </a:ext>
            </a:extLst>
          </p:cNvPr>
          <p:cNvSpPr>
            <a:spLocks noGrp="1"/>
          </p:cNvSpPr>
          <p:nvPr/>
        </p:nvSpPr>
        <p:spPr>
          <a:xfrm>
            <a:off x="685800" y="2331720"/>
            <a:ext cx="178308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500" b="1">
                <a:solidFill>
                  <a:srgbClr val="F2B632"/>
                </a:solidFill>
                <a:latin typeface="Arial"/>
                <a:ea typeface="Arial"/>
                <a:cs typeface="Arial"/>
              </a:rPr>
              <a:t>05/09 – 13/09</a:t>
            </a:r>
            <a:endParaRPr sz="1500"/>
          </a:p>
        </p:txBody>
      </p:sp>
      <p:sp>
        <p:nvSpPr>
          <p:cNvPr id="6" name="ph1">
            <a:extLst>
              <a:ext uri="{FF2B5EF4-FFF2-40B4-BE49-F238E27FC236}">
                <a16:creationId xmlns:a16="http://schemas.microsoft.com/office/drawing/2014/main" id="{B5F1AD30-553E-4019-A4D0-B20F62ECFDF1}"/>
              </a:ext>
            </a:extLst>
          </p:cNvPr>
          <p:cNvSpPr>
            <a:spLocks noGrp="1"/>
          </p:cNvSpPr>
          <p:nvPr/>
        </p:nvSpPr>
        <p:spPr>
          <a:xfrm>
            <a:off x="2788920" y="1371600"/>
            <a:ext cx="2057400" cy="1554480"/>
          </a:xfrm>
          <a:prstGeom prst="roundRect">
            <a:avLst>
              <a:gd name="adj" fmla="val 7059"/>
            </a:avLst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FB84BD62-81A0-4E5F-830C-3443297B10C4}"/>
              </a:ext>
            </a:extLst>
          </p:cNvPr>
          <p:cNvSpPr>
            <a:spLocks noGrp="1"/>
          </p:cNvSpPr>
          <p:nvPr/>
        </p:nvSpPr>
        <p:spPr>
          <a:xfrm>
            <a:off x="2926080" y="1508760"/>
            <a:ext cx="1783080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Thiết kế hệ thống</a:t>
            </a:r>
            <a:endParaRPr sz="160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C257B18A-F9CF-4A16-822D-5BA3886EF337}"/>
              </a:ext>
            </a:extLst>
          </p:cNvPr>
          <p:cNvSpPr>
            <a:spLocks noGrp="1"/>
          </p:cNvSpPr>
          <p:nvPr/>
        </p:nvSpPr>
        <p:spPr>
          <a:xfrm>
            <a:off x="2926080" y="2331720"/>
            <a:ext cx="178308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500" b="1">
                <a:solidFill>
                  <a:srgbClr val="F2B632"/>
                </a:solidFill>
                <a:latin typeface="Arial"/>
                <a:ea typeface="Arial"/>
                <a:cs typeface="Arial"/>
              </a:rPr>
              <a:t>14/09 – 20/09</a:t>
            </a:r>
            <a:endParaRPr sz="1500"/>
          </a:p>
        </p:txBody>
      </p:sp>
      <p:sp>
        <p:nvSpPr>
          <p:cNvPr id="9" name="ph2">
            <a:extLst>
              <a:ext uri="{FF2B5EF4-FFF2-40B4-BE49-F238E27FC236}">
                <a16:creationId xmlns:a16="http://schemas.microsoft.com/office/drawing/2014/main" id="{58DF5500-1DF9-4F70-AF79-ADDF794D7A41}"/>
              </a:ext>
            </a:extLst>
          </p:cNvPr>
          <p:cNvSpPr>
            <a:spLocks noGrp="1"/>
          </p:cNvSpPr>
          <p:nvPr/>
        </p:nvSpPr>
        <p:spPr>
          <a:xfrm>
            <a:off x="5029200" y="1371600"/>
            <a:ext cx="2057400" cy="1554480"/>
          </a:xfrm>
          <a:prstGeom prst="roundRect">
            <a:avLst>
              <a:gd name="adj" fmla="val 7059"/>
            </a:avLst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536E65EC-718F-437A-9E0A-B386EA6A42BF}"/>
              </a:ext>
            </a:extLst>
          </p:cNvPr>
          <p:cNvSpPr>
            <a:spLocks noGrp="1"/>
          </p:cNvSpPr>
          <p:nvPr/>
        </p:nvSpPr>
        <p:spPr>
          <a:xfrm>
            <a:off x="5166360" y="1508760"/>
            <a:ext cx="1783080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Phát triển giao diện</a:t>
            </a:r>
            <a:endParaRPr sz="160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F20EDDFB-EE4E-4E1F-8855-890E2A60DA33}"/>
              </a:ext>
            </a:extLst>
          </p:cNvPr>
          <p:cNvSpPr>
            <a:spLocks noGrp="1"/>
          </p:cNvSpPr>
          <p:nvPr/>
        </p:nvSpPr>
        <p:spPr>
          <a:xfrm>
            <a:off x="5166360" y="2331720"/>
            <a:ext cx="178308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500" b="1">
                <a:solidFill>
                  <a:srgbClr val="F2B632"/>
                </a:solidFill>
                <a:latin typeface="Arial"/>
                <a:ea typeface="Arial"/>
                <a:cs typeface="Arial"/>
              </a:rPr>
              <a:t>21/09 – 29/09</a:t>
            </a:r>
            <a:endParaRPr sz="1500"/>
          </a:p>
        </p:txBody>
      </p:sp>
      <p:sp>
        <p:nvSpPr>
          <p:cNvPr id="12" name="ph3">
            <a:extLst>
              <a:ext uri="{FF2B5EF4-FFF2-40B4-BE49-F238E27FC236}">
                <a16:creationId xmlns:a16="http://schemas.microsoft.com/office/drawing/2014/main" id="{38276C6B-3403-4D6A-B7D1-6C1BB4D14755}"/>
              </a:ext>
            </a:extLst>
          </p:cNvPr>
          <p:cNvSpPr>
            <a:spLocks noGrp="1"/>
          </p:cNvSpPr>
          <p:nvPr/>
        </p:nvSpPr>
        <p:spPr>
          <a:xfrm>
            <a:off x="7269480" y="1371600"/>
            <a:ext cx="2057400" cy="1554480"/>
          </a:xfrm>
          <a:prstGeom prst="roundRect">
            <a:avLst>
              <a:gd name="adj" fmla="val 7059"/>
            </a:avLst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399A10E8-31D2-460D-B9E2-1CEAC571038F}"/>
              </a:ext>
            </a:extLst>
          </p:cNvPr>
          <p:cNvSpPr>
            <a:spLocks noGrp="1"/>
          </p:cNvSpPr>
          <p:nvPr/>
        </p:nvSpPr>
        <p:spPr>
          <a:xfrm>
            <a:off x="7406640" y="1508760"/>
            <a:ext cx="1783080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Kết nối dữ liệu</a:t>
            </a:r>
            <a:endParaRPr sz="160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B98C5622-993D-4616-A9A0-17F0227C2811}"/>
              </a:ext>
            </a:extLst>
          </p:cNvPr>
          <p:cNvSpPr>
            <a:spLocks noGrp="1"/>
          </p:cNvSpPr>
          <p:nvPr/>
        </p:nvSpPr>
        <p:spPr>
          <a:xfrm>
            <a:off x="7406640" y="2331720"/>
            <a:ext cx="178308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500" b="1">
                <a:solidFill>
                  <a:srgbClr val="F2B632"/>
                </a:solidFill>
                <a:latin typeface="Arial"/>
                <a:ea typeface="Arial"/>
                <a:cs typeface="Arial"/>
              </a:rPr>
              <a:t>27/09 – 04/10</a:t>
            </a:r>
            <a:endParaRPr sz="1500"/>
          </a:p>
        </p:txBody>
      </p:sp>
      <p:sp>
        <p:nvSpPr>
          <p:cNvPr id="15" name="ph4">
            <a:extLst>
              <a:ext uri="{FF2B5EF4-FFF2-40B4-BE49-F238E27FC236}">
                <a16:creationId xmlns:a16="http://schemas.microsoft.com/office/drawing/2014/main" id="{EAA9162E-4D6A-4455-8528-5C6CBFEF989A}"/>
              </a:ext>
            </a:extLst>
          </p:cNvPr>
          <p:cNvSpPr>
            <a:spLocks noGrp="1"/>
          </p:cNvSpPr>
          <p:nvPr/>
        </p:nvSpPr>
        <p:spPr>
          <a:xfrm>
            <a:off x="9509760" y="1371600"/>
            <a:ext cx="2057400" cy="1554480"/>
          </a:xfrm>
          <a:prstGeom prst="roundRect">
            <a:avLst>
              <a:gd name="adj" fmla="val 7059"/>
            </a:avLst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519FCE28-C7A3-4014-9449-B6426AF9B49F}"/>
              </a:ext>
            </a:extLst>
          </p:cNvPr>
          <p:cNvSpPr>
            <a:spLocks noGrp="1"/>
          </p:cNvSpPr>
          <p:nvPr/>
        </p:nvSpPr>
        <p:spPr>
          <a:xfrm>
            <a:off x="9646920" y="1508760"/>
            <a:ext cx="1783080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Kiểm thử &amp; báo cáo</a:t>
            </a:r>
            <a:endParaRPr sz="160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4E1F9BE7-A4CC-4D9F-903F-820E7EDC4180}"/>
              </a:ext>
            </a:extLst>
          </p:cNvPr>
          <p:cNvSpPr>
            <a:spLocks noGrp="1"/>
          </p:cNvSpPr>
          <p:nvPr/>
        </p:nvSpPr>
        <p:spPr>
          <a:xfrm>
            <a:off x="9646920" y="2331720"/>
            <a:ext cx="178308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500" b="1">
                <a:solidFill>
                  <a:srgbClr val="F2B632"/>
                </a:solidFill>
                <a:latin typeface="Arial"/>
                <a:ea typeface="Arial"/>
                <a:cs typeface="Arial"/>
              </a:rPr>
              <a:t>05/10 – 10/10</a:t>
            </a:r>
            <a:endParaRPr sz="1500"/>
          </a:p>
        </p:txBody>
      </p:sp>
      <p:sp>
        <p:nvSpPr>
          <p:cNvPr id="18" name="m0">
            <a:extLst>
              <a:ext uri="{FF2B5EF4-FFF2-40B4-BE49-F238E27FC236}">
                <a16:creationId xmlns:a16="http://schemas.microsoft.com/office/drawing/2014/main" id="{7936CC76-C488-4FF1-A456-351DA2FB5BB1}"/>
              </a:ext>
            </a:extLst>
          </p:cNvPr>
          <p:cNvSpPr>
            <a:spLocks noGrp="1"/>
          </p:cNvSpPr>
          <p:nvPr/>
        </p:nvSpPr>
        <p:spPr>
          <a:xfrm>
            <a:off x="548640" y="3337560"/>
            <a:ext cx="3566160" cy="288036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DD733C2E-45FD-46C1-9D2B-B9AF0FC7D632}"/>
              </a:ext>
            </a:extLst>
          </p:cNvPr>
          <p:cNvSpPr>
            <a:spLocks noGrp="1"/>
          </p:cNvSpPr>
          <p:nvPr/>
        </p:nvSpPr>
        <p:spPr>
          <a:xfrm>
            <a:off x="822960" y="3520440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2000" b="1">
                <a:solidFill>
                  <a:srgbClr val="2B2B2B"/>
                </a:solidFill>
                <a:latin typeface="Arial"/>
                <a:ea typeface="Arial"/>
                <a:cs typeface="Arial"/>
              </a:rPr>
              <a:t>Lê Minh Phát</a:t>
            </a:r>
            <a:endParaRPr sz="200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7CB11D29-700D-4EB6-A56B-85357217899A}"/>
              </a:ext>
            </a:extLst>
          </p:cNvPr>
          <p:cNvSpPr>
            <a:spLocks noGrp="1"/>
          </p:cNvSpPr>
          <p:nvPr/>
        </p:nvSpPr>
        <p:spPr>
          <a:xfrm>
            <a:off x="822960" y="4114800"/>
            <a:ext cx="3017520" cy="19202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500">
                <a:solidFill>
                  <a:srgbClr val="333333"/>
                </a:solidFill>
                <a:latin typeface="Arial"/>
                <a:ea typeface="Arial"/>
                <a:cs typeface="Arial"/>
              </a:rPr>
              <a:t>Tìm kiếm sân, xem thông tin sân, sân yêu thích, quản lý Chủ sân</a:t>
            </a:r>
            <a:endParaRPr sz="1500"/>
          </a:p>
        </p:txBody>
      </p:sp>
      <p:sp>
        <p:nvSpPr>
          <p:cNvPr id="21" name="m1">
            <a:extLst>
              <a:ext uri="{FF2B5EF4-FFF2-40B4-BE49-F238E27FC236}">
                <a16:creationId xmlns:a16="http://schemas.microsoft.com/office/drawing/2014/main" id="{C75E6CB3-5C26-4840-AA98-508DAA2B59D1}"/>
              </a:ext>
            </a:extLst>
          </p:cNvPr>
          <p:cNvSpPr>
            <a:spLocks noGrp="1"/>
          </p:cNvSpPr>
          <p:nvPr/>
        </p:nvSpPr>
        <p:spPr>
          <a:xfrm>
            <a:off x="4297680" y="3337560"/>
            <a:ext cx="3566160" cy="288036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6CFD3E9A-D1FC-40E2-8B38-80D0DB326001}"/>
              </a:ext>
            </a:extLst>
          </p:cNvPr>
          <p:cNvSpPr>
            <a:spLocks noGrp="1"/>
          </p:cNvSpPr>
          <p:nvPr/>
        </p:nvSpPr>
        <p:spPr>
          <a:xfrm>
            <a:off x="4572000" y="3520440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2000" b="1">
                <a:solidFill>
                  <a:srgbClr val="2B2B2B"/>
                </a:solidFill>
                <a:latin typeface="Arial"/>
                <a:ea typeface="Arial"/>
                <a:cs typeface="Arial"/>
              </a:rPr>
              <a:t>Nguyễn Văn Hùng</a:t>
            </a:r>
            <a:endParaRPr sz="200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DC62E53D-E175-49B5-B361-85B685389D64}"/>
              </a:ext>
            </a:extLst>
          </p:cNvPr>
          <p:cNvSpPr>
            <a:spLocks noGrp="1"/>
          </p:cNvSpPr>
          <p:nvPr/>
        </p:nvSpPr>
        <p:spPr>
          <a:xfrm>
            <a:off x="4572000" y="4114800"/>
            <a:ext cx="3017520" cy="19202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500">
                <a:solidFill>
                  <a:srgbClr val="333333"/>
                </a:solidFill>
                <a:latin typeface="Arial"/>
                <a:ea typeface="Arial"/>
                <a:cs typeface="Arial"/>
              </a:rPr>
              <a:t>Đặt sân, quản lý lịch đặt, thanh toán, thống kê doanh thu</a:t>
            </a:r>
            <a:endParaRPr sz="1500"/>
          </a:p>
        </p:txBody>
      </p:sp>
      <p:sp>
        <p:nvSpPr>
          <p:cNvPr id="24" name="m2">
            <a:extLst>
              <a:ext uri="{FF2B5EF4-FFF2-40B4-BE49-F238E27FC236}">
                <a16:creationId xmlns:a16="http://schemas.microsoft.com/office/drawing/2014/main" id="{3C556F08-7B7C-4BBB-A0CE-6ADF3A8D8570}"/>
              </a:ext>
            </a:extLst>
          </p:cNvPr>
          <p:cNvSpPr>
            <a:spLocks noGrp="1"/>
          </p:cNvSpPr>
          <p:nvPr/>
        </p:nvSpPr>
        <p:spPr>
          <a:xfrm>
            <a:off x="8046720" y="3337560"/>
            <a:ext cx="3566160" cy="288036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01B62725-ED69-434A-91F2-DE5D74AA8B10}"/>
              </a:ext>
            </a:extLst>
          </p:cNvPr>
          <p:cNvSpPr>
            <a:spLocks noGrp="1"/>
          </p:cNvSpPr>
          <p:nvPr/>
        </p:nvSpPr>
        <p:spPr>
          <a:xfrm>
            <a:off x="8321040" y="3520440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2000" b="1">
                <a:solidFill>
                  <a:srgbClr val="2B2B2B"/>
                </a:solidFill>
                <a:latin typeface="Arial"/>
                <a:ea typeface="Arial"/>
                <a:cs typeface="Arial"/>
              </a:rPr>
              <a:t>Đặng Tấn Đạt</a:t>
            </a:r>
            <a:endParaRPr sz="200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A8173688-70DA-4BE6-AE32-6F4E4BE4B0DB}"/>
              </a:ext>
            </a:extLst>
          </p:cNvPr>
          <p:cNvSpPr>
            <a:spLocks noGrp="1"/>
          </p:cNvSpPr>
          <p:nvPr/>
        </p:nvSpPr>
        <p:spPr>
          <a:xfrm>
            <a:off x="8321040" y="4114800"/>
            <a:ext cx="3017520" cy="19202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500">
                <a:solidFill>
                  <a:srgbClr val="333333"/>
                </a:solidFill>
                <a:latin typeface="Arial"/>
                <a:ea typeface="Arial"/>
                <a:cs typeface="Arial"/>
              </a:rPr>
              <a:t>Tài khoản, đăng nhập/đăng ký, thông báo, Firebase, giao diện Quản trị viên</a:t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46592937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2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6BD9E13-B3B1-4CF5-AF15-BE31DCC2565B}"/>
              </a:ext>
            </a:extLst>
          </p:cNvPr>
          <p:cNvSpPr>
            <a:spLocks noGrp="1"/>
          </p:cNvSpPr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400" b="1">
                <a:solidFill>
                  <a:srgbClr val="F2B632"/>
                </a:solidFill>
                <a:latin typeface="Arial"/>
                <a:ea typeface="Arial"/>
                <a:cs typeface="Arial"/>
              </a:rPr>
              <a:t>KẾT QUẢ MONG ĐỢI &amp; HƯỚNG MỞ RỘNG</a:t>
            </a:r>
            <a:endParaRPr sz="3400"/>
          </a:p>
        </p:txBody>
      </p:sp>
      <p:sp>
        <p:nvSpPr>
          <p:cNvPr id="3" name="rs">
            <a:extLst>
              <a:ext uri="{FF2B5EF4-FFF2-40B4-BE49-F238E27FC236}">
                <a16:creationId xmlns:a16="http://schemas.microsoft.com/office/drawing/2014/main" id="{7DB3EBAA-5818-4EB1-B5CF-4858E2D3799B}"/>
              </a:ext>
            </a:extLst>
          </p:cNvPr>
          <p:cNvSpPr>
            <a:spLocks noGrp="1"/>
          </p:cNvSpPr>
          <p:nvPr/>
        </p:nvSpPr>
        <p:spPr>
          <a:xfrm>
            <a:off x="548640" y="1371600"/>
            <a:ext cx="5486400" cy="3749040"/>
          </a:xfrm>
          <a:prstGeom prst="roundRect">
            <a:avLst>
              <a:gd name="adj" fmla="val 2927"/>
            </a:avLst>
          </a:prstGeom>
          <a:solidFill>
            <a:srgbClr val="3A3A3A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03EE5E8-10F4-4E5D-9955-8D6D97A05E44}"/>
              </a:ext>
            </a:extLst>
          </p:cNvPr>
          <p:cNvSpPr>
            <a:spLocks noGrp="1"/>
          </p:cNvSpPr>
          <p:nvPr/>
        </p:nvSpPr>
        <p:spPr>
          <a:xfrm>
            <a:off x="822960" y="1600200"/>
            <a:ext cx="4937760" cy="33832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500">
                <a:solidFill>
                  <a:srgbClr val="FFFFFF"/>
                </a:solidFill>
                <a:latin typeface="Arial"/>
                <a:ea typeface="Arial"/>
                <a:cs typeface="Arial"/>
              </a:rPr>
              <a:t>Ứng dụng đặt sân chạy trên di động, giao diện thân thiện</a:t>
            </a:r>
            <a:endParaRPr sz="140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500">
                <a:solidFill>
                  <a:srgbClr val="FFFFFF"/>
                </a:solidFill>
                <a:latin typeface="Arial"/>
                <a:ea typeface="Arial"/>
                <a:cs typeface="Arial"/>
              </a:rPr>
              <a:t>Tìm kiếm, chọn ngày giờ, đặt sân; hạn chế trùng lịch</a:t>
            </a:r>
            <a:endParaRPr sz="140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500">
                <a:solidFill>
                  <a:srgbClr val="FFFFFF"/>
                </a:solidFill>
                <a:latin typeface="Arial"/>
                <a:ea typeface="Arial"/>
                <a:cs typeface="Arial"/>
              </a:rPr>
              <a:t>Chủ sân quản lý sân, khung giờ, lịch đặt, doanh thu</a:t>
            </a:r>
            <a:endParaRPr sz="140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500">
                <a:solidFill>
                  <a:srgbClr val="FFFFFF"/>
                </a:solidFill>
                <a:latin typeface="Arial"/>
                <a:ea typeface="Arial"/>
                <a:cs typeface="Arial"/>
              </a:rPr>
              <a:t>Quản trị viên quản lý toàn hệ thống</a:t>
            </a:r>
            <a:endParaRPr sz="140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500">
                <a:solidFill>
                  <a:srgbClr val="FFFFFF"/>
                </a:solidFill>
                <a:latin typeface="Arial"/>
                <a:ea typeface="Arial"/>
                <a:cs typeface="Arial"/>
              </a:rPr>
              <a:t>Dữ liệu lưu cục bộ; backend đồng bộ là bước tiếp theo</a:t>
            </a:r>
            <a:endParaRPr sz="1400"/>
          </a:p>
        </p:txBody>
      </p:sp>
      <p:sp>
        <p:nvSpPr>
          <p:cNvPr id="5" name="fu">
            <a:extLst>
              <a:ext uri="{FF2B5EF4-FFF2-40B4-BE49-F238E27FC236}">
                <a16:creationId xmlns:a16="http://schemas.microsoft.com/office/drawing/2014/main" id="{1FA30156-0700-4F91-A12E-FB18FE948BC9}"/>
              </a:ext>
            </a:extLst>
          </p:cNvPr>
          <p:cNvSpPr>
            <a:spLocks noGrp="1"/>
          </p:cNvSpPr>
          <p:nvPr/>
        </p:nvSpPr>
        <p:spPr>
          <a:xfrm>
            <a:off x="6309360" y="1371600"/>
            <a:ext cx="5303520" cy="3749040"/>
          </a:xfrm>
          <a:prstGeom prst="roundRect">
            <a:avLst>
              <a:gd name="adj" fmla="val 2927"/>
            </a:avLst>
          </a:prstGeom>
          <a:solidFill>
            <a:srgbClr val="F2B632"/>
          </a:solidFill>
          <a:ln w="12700">
            <a:solidFill>
              <a:srgbClr val="F2B632"/>
            </a:solidFill>
            <a:prstDash val="solid"/>
          </a:ln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2639D3DE-C692-4B70-B77D-5F6FA4A61399}"/>
              </a:ext>
            </a:extLst>
          </p:cNvPr>
          <p:cNvSpPr>
            <a:spLocks noGrp="1"/>
          </p:cNvSpPr>
          <p:nvPr/>
        </p:nvSpPr>
        <p:spPr>
          <a:xfrm>
            <a:off x="6583680" y="1554480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2000" b="1">
                <a:solidFill>
                  <a:srgbClr val="2B2B2B"/>
                </a:solidFill>
                <a:latin typeface="Arial"/>
                <a:ea typeface="Arial"/>
                <a:cs typeface="Arial"/>
              </a:rPr>
              <a:t>Hướng mở rộng</a:t>
            </a:r>
            <a:endParaRPr sz="200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8CB7EA0C-5D14-4074-A741-BC0E90C55B61}"/>
              </a:ext>
            </a:extLst>
          </p:cNvPr>
          <p:cNvSpPr>
            <a:spLocks noGrp="1"/>
          </p:cNvSpPr>
          <p:nvPr/>
        </p:nvSpPr>
        <p:spPr>
          <a:xfrm>
            <a:off x="6583680" y="2194560"/>
            <a:ext cx="4754880" cy="2743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500">
                <a:solidFill>
                  <a:srgbClr val="2B2B2B"/>
                </a:solidFill>
                <a:latin typeface="Arial"/>
                <a:ea typeface="Arial"/>
                <a:cs typeface="Arial"/>
              </a:rPr>
              <a:t>Tích hợp thanh toán VNPay, MoMo</a:t>
            </a:r>
            <a:endParaRPr sz="140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500">
                <a:solidFill>
                  <a:srgbClr val="2B2B2B"/>
                </a:solidFill>
                <a:latin typeface="Arial"/>
                <a:ea typeface="Arial"/>
                <a:cs typeface="Arial"/>
              </a:rPr>
              <a:t>Bản đồ, tìm đội, đặt sân theo nhóm</a:t>
            </a:r>
            <a:endParaRPr sz="140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500">
                <a:solidFill>
                  <a:srgbClr val="2B2B2B"/>
                </a:solidFill>
                <a:latin typeface="Arial"/>
                <a:ea typeface="Arial"/>
                <a:cs typeface="Arial"/>
              </a:rPr>
              <a:t>Gợi ý sân theo lịch sử và vị trí</a:t>
            </a:r>
            <a:endParaRPr sz="140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500">
                <a:solidFill>
                  <a:srgbClr val="2B2B2B"/>
                </a:solidFill>
                <a:latin typeface="Arial"/>
                <a:ea typeface="Arial"/>
                <a:cs typeface="Arial"/>
              </a:rPr>
              <a:t>Dịch vụ trọng tài, bán áo, nước, tất, giày</a:t>
            </a:r>
            <a:endParaRPr sz="140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6B923CC3-D0C3-4E03-9082-32A2A83A99E8}"/>
              </a:ext>
            </a:extLst>
          </p:cNvPr>
          <p:cNvSpPr>
            <a:spLocks noGrp="1"/>
          </p:cNvSpPr>
          <p:nvPr/>
        </p:nvSpPr>
        <p:spPr>
          <a:xfrm>
            <a:off x="548640" y="5486400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3000" b="1">
                <a:solidFill>
                  <a:srgbClr val="F2B632"/>
                </a:solidFill>
                <a:latin typeface="Arial"/>
                <a:ea typeface="Arial"/>
                <a:cs typeface="Arial"/>
              </a:rPr>
              <a:t>CẢM ƠN THẦY CÔ VÀ CÁC BẠN ĐÃ LẮNG NGHE!</a:t>
            </a:r>
            <a:endParaRPr sz="3000"/>
          </a:p>
        </p:txBody>
      </p:sp>
    </p:spTree>
    <p:extLst>
      <p:ext uri="{BB962C8B-B14F-4D97-AF65-F5344CB8AC3E}">
        <p14:creationId xmlns:p14="http://schemas.microsoft.com/office/powerpoint/2010/main" val="13597200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3532</Words>
  <Application>Microsoft Office PowerPoint</Application>
  <DocSecurity>0</DocSecurity>
  <PresentationFormat>Widescreen</PresentationFormat>
  <Paragraphs>457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Lê Minh Phát</cp:lastModifiedBy>
  <cp:revision>1</cp:revision>
  <dcterms:created xsi:type="dcterms:W3CDTF">2026-10-10T02:48:00Z</dcterms:created>
  <dcterms:modified xsi:type="dcterms:W3CDTF">2026-10-10T03:46:51Z</dcterms:modified>
</cp:coreProperties>
</file>